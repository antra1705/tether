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e5e6304-477a-6286-7c7b-ebb2e9f02188}">
          <p14:sldIdLst>
            <p14:sldId id="256"/>
            <p14:sldId id="257"/>
            <p14:sldId id="258"/>
            <p14:sldId id="259"/>
          </p14:sldIdLst>
        </p14:section>
        <p14:section name="Final system" id="{b6474488-1259-b4d8-bc44-88dfcd239913}">
          <p14:sldIdLst>
            <p14:sldId id="260"/>
          </p14:sldIdLst>
        </p14:section>
        <p14:section name="Milestone 7" id="{46b12a6d-1648-14df-2693-93e9f7ce667a}">
          <p14:sldIdLst>
            <p14:sldId id="261"/>
            <p14:sldId id="262"/>
            <p14:sldId id="263"/>
            <p14:sldId id="264"/>
          </p14:sldIdLst>
        </p14:section>
        <p14:section name="Milestone 8" id="{26600b50-5562-78fc-c705-777134b9ae6c}">
          <p14:sldIdLst>
            <p14:sldId id="265"/>
            <p14:sldId id="266"/>
          </p14:sldIdLst>
        </p14:section>
        <p14:section name="Results" id="{9f5e8bd6-f3bc-d33d-6385-8d338cdab3d8}">
          <p14:sldIdLst>
            <p14:sldId id="267"/>
            <p14:sldId id="268"/>
            <p14:sldId id="269"/>
            <p14:sldId id="270"/>
          </p14:sldIdLst>
        </p14:section>
        <p14:section name="Close" id="{5eca7145-51a4-0fdd-532e-51cc3703630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ACB2"/>
                </a:solidFill>
                <a:latin typeface="+mn-lt"/>
              </a:defRPr>
            </a:pPr>
            <a:r>
              <a:rPr sz="1200" b="0" i="0" u="none" strike="noStrike">
                <a:solidFill>
                  <a:srgbClr val="A9ACB2"/>
                </a:solidFill>
                <a:latin typeface="+mn-lt"/>
              </a:rPr>
              <a:t>Source statements that keep a mapping (%)</a:t>
            </a:r>
          </a:p>
        </c:rich>
      </c:tx>
      <c:layout/>
      <c:overlay val="0"/>
    </c:title>
    <c:autoTitleDeleted val="0"/>
    <c:plotArea>
      <c:layout/>
      <c:barChart>
        <c:barDir val="col"/>
        <c:grouping val="clustered"/>
        <c:varyColors val="0"/>
        <c:ser>
          <c:idx val="0"/>
          <c:order val="0"/>
          <c:tx>
            <c:strRef>
              <c:f>Sheet1!$B$1</c:f>
              <c:strCache>
                <c:ptCount val="1"/>
                <c:pt idx="0">
                  <c:v>-O0</c:v>
                </c:pt>
              </c:strCache>
            </c:strRef>
          </c:tx>
          <c:spPr>
            <a:solidFill>
              <a:srgbClr val="B6B8BC"/>
            </a:solidFill>
            <a:effectLst/>
          </c:spPr>
          <c:invertIfNegative val="0"/>
          <c:dLbls>
            <c:numFmt formatCode="#,##0" sourceLinked="0"/>
            <c:txPr>
              <a:bodyPr/>
              <a:lstStyle/>
              <a:p>
                <a:pPr>
                  <a:defRPr b="0" i="0" strike="noStrike" sz="1000" u="none">
                    <a:solidFill>
                      <a:srgbClr val="E4E4E2"/>
                    </a:solidFill>
                    <a:latin typeface="+mn-lt"/>
                  </a:defRPr>
                </a:pPr>
              </a:p>
            </c:txPr>
            <c:showLegendKey val="0"/>
            <c:showVal val="1"/>
            <c:showCatName val="0"/>
            <c:showSerName val="0"/>
            <c:showPercent val="0"/>
            <c:showBubbleSize val="0"/>
            <c:showLeaderLines val="0"/>
          </c:dLbls>
          <c:cat>
            <c:multiLvlStrRef>
              <c:f>Sheet1!$A$2:$A$6</c:f>
              <c:multiLvlStrCache>
                <c:ptCount val="5"/>
                <c:lvl>
                  <c:pt idx="0">
                    <c:v>fib</c:v>
                  </c:pt>
                  <c:pt idx="1">
                    <c:v>primes</c:v>
                  </c:pt>
                  <c:pt idx="2">
                    <c:v>collatz</c:v>
                  </c:pt>
                  <c:pt idx="3">
                    <c:v>fizzbuzz</c:v>
                  </c:pt>
                  <c:pt idx="4">
                    <c:v>optimisable</c:v>
                  </c:pt>
                </c:lvl>
              </c:multiLvlStrCache>
            </c:multiLvlStrRef>
          </c:cat>
          <c:val>
            <c:numRef>
              <c:f>Sheet1!$B$2:$B$6</c:f>
              <c:numCache>
                <c:formatCode>General</c:formatCode>
                <c:ptCount val="5"/>
                <c:pt idx="0">
                  <c:v>100</c:v>
                </c:pt>
                <c:pt idx="1">
                  <c:v>100</c:v>
                </c:pt>
                <c:pt idx="2">
                  <c:v>100</c:v>
                </c:pt>
                <c:pt idx="3">
                  <c:v>100</c:v>
                </c:pt>
                <c:pt idx="4">
                  <c:v>100</c:v>
                </c:pt>
              </c:numCache>
            </c:numRef>
          </c:val>
        </c:ser>
        <c:ser>
          <c:idx val="1"/>
          <c:order val="1"/>
          <c:tx>
            <c:strRef>
              <c:f>Sheet1!$C$1</c:f>
              <c:strCache>
                <c:ptCount val="1"/>
                <c:pt idx="0">
                  <c:v>-O1</c:v>
                </c:pt>
              </c:strCache>
            </c:strRef>
          </c:tx>
          <c:spPr>
            <a:solidFill>
              <a:srgbClr val="F0B54A"/>
            </a:solidFill>
            <a:effectLst/>
          </c:spPr>
          <c:invertIfNegative val="0"/>
          <c:dLbls>
            <c:numFmt formatCode="#,##0" sourceLinked="0"/>
            <c:txPr>
              <a:bodyPr/>
              <a:lstStyle/>
              <a:p>
                <a:pPr>
                  <a:defRPr b="0" i="0" strike="noStrike" sz="1000" u="none">
                    <a:solidFill>
                      <a:srgbClr val="E4E4E2"/>
                    </a:solidFill>
                    <a:latin typeface="+mn-lt"/>
                  </a:defRPr>
                </a:pPr>
              </a:p>
            </c:txPr>
            <c:showLegendKey val="0"/>
            <c:showVal val="1"/>
            <c:showCatName val="0"/>
            <c:showSerName val="0"/>
            <c:showPercent val="0"/>
            <c:showBubbleSize val="0"/>
            <c:showLeaderLines val="0"/>
          </c:dLbls>
          <c:cat>
            <c:multiLvlStrRef>
              <c:f>Sheet1!$A$2:$A$6</c:f>
              <c:multiLvlStrCache>
                <c:ptCount val="5"/>
                <c:lvl>
                  <c:pt idx="0">
                    <c:v>fib</c:v>
                  </c:pt>
                  <c:pt idx="1">
                    <c:v>primes</c:v>
                  </c:pt>
                  <c:pt idx="2">
                    <c:v>collatz</c:v>
                  </c:pt>
                  <c:pt idx="3">
                    <c:v>fizzbuzz</c:v>
                  </c:pt>
                  <c:pt idx="4">
                    <c:v>optimisable</c:v>
                  </c:pt>
                </c:lvl>
              </c:multiLvlStrCache>
            </c:multiLvlStrRef>
          </c:cat>
          <c:val>
            <c:numRef>
              <c:f>Sheet1!$C$2:$C$6</c:f>
              <c:numCache>
                <c:formatCode>General</c:formatCode>
                <c:ptCount val="5"/>
                <c:pt idx="0">
                  <c:v>100</c:v>
                </c:pt>
                <c:pt idx="1">
                  <c:v>100</c:v>
                </c:pt>
                <c:pt idx="2">
                  <c:v>100</c:v>
                </c:pt>
                <c:pt idx="3">
                  <c:v>100</c:v>
                </c:pt>
                <c:pt idx="4">
                  <c:v>50</c:v>
                </c:pt>
              </c:numCache>
            </c:numRef>
          </c:val>
        </c:ser>
        <c:dLbls>
          <c:numFmt formatCode="#,##0" sourceLinked="0"/>
          <c:txPr>
            <a:bodyPr/>
            <a:lstStyle/>
            <a:p>
              <a:pPr>
                <a:defRPr b="0" i="0" strike="noStrike" sz="1000" u="none">
                  <a:solidFill>
                    <a:srgbClr val="E4E4E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D44"/>
            </a:solidFill>
            <a:prstDash val="solid"/>
            <a:round/>
          </a:ln>
        </c:spPr>
        <c:txPr>
          <a:bodyPr/>
          <a:lstStyle/>
          <a:p>
            <a:pPr>
              <a:defRPr sz="1100" b="0" i="0" u="none" strike="noStrike">
                <a:solidFill>
                  <a:srgbClr val="A9ACB2"/>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3A3D44"/>
            </a:solidFill>
            <a:prstDash val="solid"/>
            <a:round/>
          </a:ln>
        </c:spPr>
        <c:txPr>
          <a:bodyPr/>
          <a:lstStyle/>
          <a:p>
            <a:pPr>
              <a:defRPr sz="1200" b="0" i="0" u="none" strike="noStrike">
                <a:solidFill>
                  <a:srgbClr val="A9ACB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ACB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ACB2"/>
                </a:solidFill>
                <a:latin typeface="+mn-lt"/>
              </a:defRPr>
            </a:pPr>
            <a:r>
              <a:rPr sz="1200" b="0" i="0" u="none" strike="noStrike">
                <a:solidFill>
                  <a:srgbClr val="A9ACB2"/>
                </a:solidFill>
                <a:latin typeface="+mn-lt"/>
              </a:rPr>
              <a:t>Tests per file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B6B8BC"/>
            </a:solidFill>
            <a:effectLst/>
          </c:spPr>
          <c:invertIfNegative val="0"/>
          <c:dLbls>
            <c:numFmt formatCode="#,##0" sourceLinked="0"/>
            <c:txPr>
              <a:bodyPr/>
              <a:lstStyle/>
              <a:p>
                <a:pPr>
                  <a:defRPr b="0" i="0" strike="noStrike" sz="1000" u="none">
                    <a:solidFill>
                      <a:srgbClr val="E4E4E2"/>
                    </a:solidFill>
                    <a:latin typeface="+mn-lt"/>
                  </a:defRPr>
                </a:pPr>
              </a:p>
            </c:txPr>
            <c:showLegendKey val="0"/>
            <c:showVal val="1"/>
            <c:showCatName val="0"/>
            <c:showSerName val="0"/>
            <c:showPercent val="0"/>
            <c:showBubbleSize val="0"/>
            <c:showLeaderLines val="0"/>
          </c:dLbls>
          <c:cat>
            <c:multiLvlStrRef>
              <c:f>Sheet1!$A$2:$A$13</c:f>
              <c:multiLvlStrCache>
                <c:ptCount val="12"/>
                <c:lvl>
                  <c:pt idx="0">
                    <c:v>CLI (golden files)</c:v>
                  </c:pt>
                  <c:pt idx="1">
                    <c:v>Source map</c:v>
                  </c:pt>
                  <c:pt idx="2">
                    <c:v>Checker</c:v>
                  </c:pt>
                  <c:pt idx="3">
                    <c:v>Parser</c:v>
                  </c:pt>
                  <c:pt idx="4">
                    <c:v>Optimiser</c:v>
                  </c:pt>
                  <c:pt idx="5">
                    <c:v>Lexer</c:v>
                  </c:pt>
                  <c:pt idx="6">
                    <c:v>Emitter</c:v>
                  </c:pt>
                  <c:pt idx="7">
                    <c:v>Lowering</c:v>
                  </c:pt>
                  <c:pt idx="8">
                    <c:v>Span</c:v>
                  </c:pt>
                  <c:pt idx="9">
                    <c:v>Diagnostics</c:v>
                  </c:pt>
                  <c:pt idx="10">
                    <c:v>VLQ</c:v>
                  </c:pt>
                  <c:pt idx="11">
                    <c:v>Playground</c:v>
                  </c:pt>
                </c:lvl>
              </c:multiLvlStrCache>
            </c:multiLvlStrRef>
          </c:cat>
          <c:val>
            <c:numRef>
              <c:f>Sheet1!$B$2:$B$13</c:f>
              <c:numCache>
                <c:formatCode>General</c:formatCode>
                <c:ptCount val="12"/>
                <c:pt idx="0">
                  <c:v>44</c:v>
                </c:pt>
                <c:pt idx="1">
                  <c:v>20</c:v>
                </c:pt>
                <c:pt idx="2">
                  <c:v>19</c:v>
                </c:pt>
                <c:pt idx="3">
                  <c:v>18</c:v>
                </c:pt>
                <c:pt idx="4">
                  <c:v>14</c:v>
                </c:pt>
                <c:pt idx="5">
                  <c:v>13</c:v>
                </c:pt>
                <c:pt idx="6">
                  <c:v>12</c:v>
                </c:pt>
                <c:pt idx="7">
                  <c:v>9</c:v>
                </c:pt>
                <c:pt idx="8">
                  <c:v>6</c:v>
                </c:pt>
                <c:pt idx="9">
                  <c:v>6</c:v>
                </c:pt>
                <c:pt idx="10">
                  <c:v>6</c:v>
                </c:pt>
                <c:pt idx="11">
                  <c:v>2</c:v>
                </c:pt>
              </c:numCache>
            </c:numRef>
          </c:val>
        </c:ser>
        <c:dLbls>
          <c:numFmt formatCode="#,##0" sourceLinked="0"/>
          <c:txPr>
            <a:bodyPr/>
            <a:lstStyle/>
            <a:p>
              <a:pPr>
                <a:defRPr b="0" i="0" strike="noStrike" sz="1000" u="none">
                  <a:solidFill>
                    <a:srgbClr val="E4E4E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A9ACB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3A3D44"/>
            </a:solidFill>
            <a:prstDash val="solid"/>
            <a:round/>
          </a:ln>
        </c:spPr>
        <c:txPr>
          <a:bodyPr/>
          <a:lstStyle/>
          <a:p>
            <a:pPr>
              <a:defRPr sz="1200" b="0" i="0" u="none" strike="noStrike">
                <a:solidFill>
                  <a:srgbClr val="A9ACB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final review of Tether. All eight milestones are complete. The line on this slide is the headline result: I set a breakpoint on this line of my Tether source in Chrome DevTools, and Chrome stopped there, even though Chrome knows nothing about my language. Everything it needs comes from the source map Tether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slide: compiled code is normally debugged as generated code. Tether compiles a small typed language to JavaScript and writes a source map, carrying exact positions through every phase. The result is that breakpoints and stack traces in Chrome work on the original source. The novelty, as I said in Review 1, is not the source map format itself, but treating positions as something verified and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milestones are complete: every functional and non-functional requirement in my PRD, and all six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acceptance criteria from the PRD, each with its result and where the evidence is. AC-2 and AC-5, the browser criteria, and AC-6, the fidelity measurement, are new since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pipeline. The optimiser, drawn dashed, runs only with -O1. The whole compiler is about two thousand lines with no dependencies, and a full compile of a benchmark takes under a tenth of a millisecond.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AC-2 honestly, the breakpoints are set the way a person sets them: through the DevTools user interface on the .tth file. A script runs two headless Chrome instances. The first runs the compiled program. The second shows Chrome’s own DevTools attached to the first, and the script types into it: open the file, go to the line, toggle a breakpoint. Then it reloads and records where Chrome stopped, and maps that position back with Node’s decoder. Each check gets a fresh tab, so no breakpoint leaks from one check into the next; that was a real bug in my first version of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DevTools screenshot from that run. Chrome is paused on line 14 of fib.tth, the breakpoint is listed under fib.tth in the Breakpoints pane, the call stack shows fibIter at fib.tth line 14, and Scope shows the Tether variables a, b and n with their values. All 20 breakpoints behaved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twenty statements cover functions, loop bodies, both branches of an if, and top-level code, across all four benchmarks. Every one passed. One detail: V8 sometimes moves a breakpoint slightly, for example to the start of a + b, but that position still maps inside the same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AC-5, a program that recurses forever runs in Chrome. The DevTools console shows the uncaught RangeError with every frame linked to stack-overflow.tth, line 6 column 10, the recursive call. The innermost frame is line 5, because V8 throws the overflow as the function is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8 adds -O1. On the left is the unoptimised output of a test program written to exercise the optimiser; on the right, -O1. Constant expressions are folded, like 24 times 60 times 60 into 86400, and code that can never run is removed. The program prints exactly the same output at both levels, which the tests check for every program. Folding is skipped where it could change the result, such as division by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AC-6 asks for the mapping retention at -O0 and -O1. I want to be straightforward about the result: the four benchmarks lose nothing, because they contain no constant expressions or dead code, so -O1 produces identical JavaScript. To show the measurement actually works, the optimisation test program drops from 14 of 14 statements mapped to 7 of 14. Most of what is removed could never run, so no reachable breakpoint is lost there; the one visible cost is that a breakpoint on an if whose condition was folded no longer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suite has 170 tests, all passing. The evidence comes in four kinds: unit tests per phase, golden files compared byte for byte, Node’s independent source-map decoder, and the real browser check, which is a separate script because it needs 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runs the real compiler in the browser. With the -O1 switch on, the phase strip shows 8 expressions folded and 7 statements removed for the optimisation test program, and the JavaScript shrinks from 21 lines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honest limitations. Mappings are statement and identifier level, not every sub-expression. I verified on Chrome and a current Node, not Firefox or Node 18 specifically. The benchmarks give zero fidelity loss under -O1 simply because there is nothing to optimise in them. And the language is deliberately small. The future work follows from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this project shows. First, positions must be designed in from the very first token; they cannot be added at the end. Second, a claim that a source map is correct needs independent evidence, which here is Node’s decoder and Chrome’s own DevTools. Third, optimisation and debuggability really do trade off, and the trade-off can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following REVIEW-DEMO.md: compiling and running, the fidelity report, a breakpoint in Chrome DevTools, and the playground with -O1. If the live browser step fails for any reason, the verification report has the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from the literature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C0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rtlCol="0"/>
          <a:lstStyle>
            <a:lvl1pPr indent="0" marL="0">
              <a:buNone/>
              <a:defRPr lang="en-US" sz="1000" dirty="0">
                <a:solidFill>
                  <a:schemeClr val="accent5"/>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rtlCol="0"/>
          <a:lstStyle>
            <a:lvl1pPr algn="l" indent="0" marL="0">
              <a:buNone/>
              <a:defRPr lang="en-US" sz="2000" dirty="0">
                <a:solidFill>
                  <a:srgbClr val="B6B8B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rtlCol="0"/>
          <a:lstStyle>
            <a:lvl1pPr indent="0" marL="0">
              <a:buNone/>
              <a:defRPr lang="en-US" sz="1000" dirty="0">
                <a:solidFill>
                  <a:schemeClr val="accent5"/>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compiler-design / project-review-3</a:t>
            </a: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lIns="0" tIns="0" rIns="0" bIns="0" rtlCol="0" anchor="t"/>
          <a:lstStyle/>
          <a:p>
            <a:pPr algn="l" indent="0" marL="0">
              <a:buNone/>
            </a:pPr>
            <a:r>
              <a:rPr lang="en-US" sz="6000" b="1" dirty="0">
                <a:solidFill>
                  <a:schemeClr val="tx1"/>
                </a:solidFill>
              </a:rPr>
              <a:t>Tether</a:t>
            </a: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lIns="0" tIns="0" rIns="0" bIns="0" rtlCol="0" anchor="t"/>
          <a:lstStyle/>
          <a:p>
            <a:pPr algn="l" indent="0" marL="0">
              <a:buNone/>
            </a:pPr>
            <a:r>
              <a:rPr lang="en-US" sz="2000" dirty="0">
                <a:solidFill>
                  <a:srgbClr val="B6B8BC"/>
                </a:solidFill>
              </a:rPr>
              <a:t>Review 3: final implementation (100%)</a:t>
            </a:r>
            <a:endParaRPr lang="en-US" sz="2000" dirty="0"/>
          </a:p>
        </p:txBody>
      </p:sp>
      <p:sp>
        <p:nvSpPr>
          <p:cNvPr id="5" name="span"/>
          <p:cNvSpPr/>
          <p:nvPr/>
        </p:nvSpPr>
        <p:spPr>
          <a:xfrm>
            <a:off x="534924" y="3044952"/>
            <a:ext cx="2639822" cy="389128"/>
          </a:xfrm>
          <a:prstGeom prst="rect">
            <a:avLst/>
          </a:prstGeom>
          <a:solidFill>
            <a:schemeClr val="accent1"/>
          </a:solidFill>
          <a:ln/>
        </p:spPr>
      </p:sp>
      <p:sp>
        <p:nvSpPr>
          <p:cNvPr id="6" name="Text 4"/>
          <p:cNvSpPr txBox="1"/>
          <p:nvPr/>
        </p:nvSpPr>
        <p:spPr>
          <a:xfrm>
            <a:off x="548640" y="3063240"/>
            <a:ext cx="8046720" cy="416560"/>
          </a:xfrm>
          <a:prstGeom prst="rect">
            <a:avLst/>
          </a:prstGeom>
          <a:noFill/>
          <a:ln/>
        </p:spPr>
        <p:txBody>
          <a:bodyPr wrap="square" lIns="0" tIns="0" rIns="0" bIns="0" rtlCol="0" anchor="t"/>
          <a:lstStyle/>
          <a:p>
            <a:pPr indent="0" marL="0">
              <a:buNone/>
            </a:pPr>
            <a:r>
              <a:rPr lang="en-US" sz="2200" dirty="0">
                <a:solidFill>
                  <a:srgbClr val="1A1305"/>
                </a:solidFill>
                <a:latin typeface="Consolas" pitchFamily="34" charset="0"/>
                <a:ea typeface="Consolas" pitchFamily="34" charset="-122"/>
                <a:cs typeface="Consolas" pitchFamily="34" charset="-120"/>
              </a:rPr>
              <a:t>let next = a + b;</a:t>
            </a:r>
            <a:endParaRPr lang="en-US" sz="2200" dirty="0"/>
          </a:p>
        </p:txBody>
      </p:sp>
      <p:sp>
        <p:nvSpPr>
          <p:cNvPr id="7" name="tick"/>
          <p:cNvSpPr/>
          <p:nvPr/>
        </p:nvSpPr>
        <p:spPr>
          <a:xfrm>
            <a:off x="557784" y="2788920"/>
            <a:ext cx="0" cy="237744"/>
          </a:xfrm>
          <a:prstGeom prst="line">
            <a:avLst/>
          </a:prstGeom>
          <a:noFill/>
          <a:ln w="12700">
            <a:solidFill>
              <a:srgbClr val="F0B54A"/>
            </a:solidFill>
            <a:prstDash val="solid"/>
          </a:ln>
        </p:spPr>
      </p:sp>
      <p:sp>
        <p:nvSpPr>
          <p:cNvPr id="8" name="Text 6"/>
          <p:cNvSpPr txBox="1"/>
          <p:nvPr/>
        </p:nvSpPr>
        <p:spPr>
          <a:xfrm>
            <a:off x="603504" y="2697480"/>
            <a:ext cx="6400800" cy="18288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Chrome DevTools paused here · fib.tth:14</a:t>
            </a:r>
            <a:endParaRPr lang="en-US" sz="1100" dirty="0"/>
          </a:p>
        </p:txBody>
      </p:sp>
      <p:sp>
        <p:nvSpPr>
          <p:cNvPr id="9" name="Text 7"/>
          <p:cNvSpPr txBox="1"/>
          <p:nvPr/>
        </p:nvSpPr>
        <p:spPr>
          <a:xfrm>
            <a:off x="548640" y="3520440"/>
            <a:ext cx="7315200" cy="274320"/>
          </a:xfrm>
          <a:prstGeom prst="rect">
            <a:avLst/>
          </a:prstGeom>
          <a:noFill/>
          <a:ln/>
        </p:spPr>
        <p:txBody>
          <a:bodyPr wrap="square" lIns="0" tIns="0" rIns="0" bIns="0" rtlCol="0" anchor="t"/>
          <a:lstStyle/>
          <a:p>
            <a:pPr indent="0" marL="0">
              <a:buNone/>
            </a:pPr>
            <a:r>
              <a:rPr lang="en-US" sz="1300" i="1" dirty="0">
                <a:solidFill>
                  <a:srgbClr val="8A8E96"/>
                </a:solidFill>
              </a:rPr>
              <a:t>a breakpoint on the original source, in a debugger that knows nothing about Tether</a:t>
            </a:r>
            <a:endParaRPr lang="en-US" sz="1300" dirty="0"/>
          </a:p>
        </p:txBody>
      </p:sp>
      <p:sp>
        <p:nvSpPr>
          <p:cNvPr id="10" name="Text 8"/>
          <p:cNvSpPr txBox="1"/>
          <p:nvPr/>
        </p:nvSpPr>
        <p:spPr>
          <a:xfrm>
            <a:off x="548640" y="4160520"/>
            <a:ext cx="6400800" cy="548640"/>
          </a:xfrm>
          <a:prstGeom prst="rect">
            <a:avLst/>
          </a:prstGeom>
          <a:noFill/>
          <a:ln/>
        </p:spPr>
        <p:txBody>
          <a:bodyPr wrap="square" lIns="0" tIns="0" rIns="0" bIns="0" rtlCol="0" anchor="t"/>
          <a:lstStyle/>
          <a:p>
            <a:pPr indent="0" marL="0">
              <a:buNone/>
            </a:pPr>
            <a:r>
              <a:rPr lang="en-US" sz="1300" b="1" dirty="0">
                <a:solidFill>
                  <a:srgbClr val="E4E4E2"/>
                </a:solidFill>
              </a:rPr>
              <a:t>Antra</a:t>
            </a:r>
            <a:endParaRPr lang="en-US" sz="1300" dirty="0"/>
          </a:p>
          <a:p>
            <a:pPr indent="0" marL="0">
              <a:buNone/>
            </a:pPr>
            <a:r>
              <a:rPr lang="en-US" sz="1300" dirty="0">
                <a:solidFill>
                  <a:srgbClr val="9A9EA6"/>
                </a:solidFill>
              </a:rPr>
              <a:t>24BDS0066  ·  Compiler Design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summary</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project in one slide</a:t>
            </a:r>
            <a:endParaRPr lang="en-US" sz="2800" dirty="0"/>
          </a:p>
        </p:txBody>
      </p:sp>
      <p:sp>
        <p:nvSpPr>
          <p:cNvPr id="4" name="Text 2"/>
          <p:cNvSpPr txBox="1"/>
          <p:nvPr/>
        </p:nvSpPr>
        <p:spPr>
          <a:xfrm>
            <a:off x="548640" y="1371600"/>
            <a:ext cx="548640" cy="27432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01</a:t>
            </a:r>
            <a:endParaRPr lang="en-US" sz="1300" dirty="0"/>
          </a:p>
        </p:txBody>
      </p:sp>
      <p:sp>
        <p:nvSpPr>
          <p:cNvPr id="5" name="Text 3"/>
          <p:cNvSpPr txBox="1"/>
          <p:nvPr/>
        </p:nvSpPr>
        <p:spPr>
          <a:xfrm>
            <a:off x="548640" y="1691640"/>
            <a:ext cx="25146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Problem</a:t>
            </a:r>
            <a:endParaRPr lang="en-US" sz="2200" dirty="0"/>
          </a:p>
        </p:txBody>
      </p:sp>
      <p:sp>
        <p:nvSpPr>
          <p:cNvPr id="6" name="Text 4"/>
          <p:cNvSpPr txBox="1"/>
          <p:nvPr/>
        </p:nvSpPr>
        <p:spPr>
          <a:xfrm>
            <a:off x="548640" y="2240280"/>
            <a:ext cx="2514600" cy="1463040"/>
          </a:xfrm>
          <a:prstGeom prst="rect">
            <a:avLst/>
          </a:prstGeom>
          <a:noFill/>
          <a:ln/>
        </p:spPr>
        <p:txBody>
          <a:bodyPr wrap="square" lIns="0" tIns="0" rIns="0" bIns="0" rtlCol="0" anchor="t"/>
          <a:lstStyle/>
          <a:p>
            <a:pPr indent="0" marL="0">
              <a:buNone/>
            </a:pPr>
            <a:r>
              <a:rPr lang="en-US" sz="1400" dirty="0">
                <a:solidFill>
                  <a:schemeClr val="tx2"/>
                </a:solidFill>
              </a:rPr>
              <a:t>A program compiled to JavaScript is debugged as JavaScript: errors and breakpoints point at code nobody wrote.</a:t>
            </a:r>
            <a:endParaRPr lang="en-US" sz="1400" dirty="0"/>
          </a:p>
        </p:txBody>
      </p:sp>
      <p:sp>
        <p:nvSpPr>
          <p:cNvPr id="7" name="Text 5"/>
          <p:cNvSpPr txBox="1"/>
          <p:nvPr/>
        </p:nvSpPr>
        <p:spPr>
          <a:xfrm>
            <a:off x="3291840" y="1371600"/>
            <a:ext cx="548640" cy="27432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02</a:t>
            </a:r>
            <a:endParaRPr lang="en-US" sz="1300" dirty="0"/>
          </a:p>
        </p:txBody>
      </p:sp>
      <p:sp>
        <p:nvSpPr>
          <p:cNvPr id="8" name="Text 6"/>
          <p:cNvSpPr txBox="1"/>
          <p:nvPr/>
        </p:nvSpPr>
        <p:spPr>
          <a:xfrm>
            <a:off x="3291840" y="1691640"/>
            <a:ext cx="25146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Tether</a:t>
            </a:r>
            <a:endParaRPr lang="en-US" sz="2200" dirty="0"/>
          </a:p>
        </p:txBody>
      </p:sp>
      <p:sp>
        <p:nvSpPr>
          <p:cNvPr id="9" name="Text 7"/>
          <p:cNvSpPr txBox="1"/>
          <p:nvPr/>
        </p:nvSpPr>
        <p:spPr>
          <a:xfrm>
            <a:off x="3291840" y="2240280"/>
            <a:ext cx="2514600" cy="1463040"/>
          </a:xfrm>
          <a:prstGeom prst="rect">
            <a:avLst/>
          </a:prstGeom>
          <a:noFill/>
          <a:ln/>
        </p:spPr>
        <p:txBody>
          <a:bodyPr wrap="square" lIns="0" tIns="0" rIns="0" bIns="0" rtlCol="0" anchor="t"/>
          <a:lstStyle/>
          <a:p>
            <a:pPr indent="0" marL="0">
              <a:buNone/>
            </a:pPr>
            <a:r>
              <a:rPr lang="en-US" sz="1400" dirty="0">
                <a:solidFill>
                  <a:schemeClr val="tx2"/>
                </a:solidFill>
              </a:rPr>
              <a:t>A compiler for a small typed language that emits ES2015 plus a Source Map v3 file, carrying exact positions through every phase.</a:t>
            </a:r>
            <a:endParaRPr lang="en-US" sz="1400" dirty="0"/>
          </a:p>
        </p:txBody>
      </p:sp>
      <p:sp>
        <p:nvSpPr>
          <p:cNvPr id="10" name="Text 8"/>
          <p:cNvSpPr txBox="1"/>
          <p:nvPr/>
        </p:nvSpPr>
        <p:spPr>
          <a:xfrm>
            <a:off x="6035040" y="1371600"/>
            <a:ext cx="548640" cy="27432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03</a:t>
            </a:r>
            <a:endParaRPr lang="en-US" sz="1300" dirty="0"/>
          </a:p>
        </p:txBody>
      </p:sp>
      <p:sp>
        <p:nvSpPr>
          <p:cNvPr id="11" name="Text 9"/>
          <p:cNvSpPr txBox="1"/>
          <p:nvPr/>
        </p:nvSpPr>
        <p:spPr>
          <a:xfrm>
            <a:off x="6035040" y="1691640"/>
            <a:ext cx="25146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Result</a:t>
            </a:r>
            <a:endParaRPr lang="en-US" sz="2200" dirty="0"/>
          </a:p>
        </p:txBody>
      </p:sp>
      <p:sp>
        <p:nvSpPr>
          <p:cNvPr id="12" name="Text 10"/>
          <p:cNvSpPr txBox="1"/>
          <p:nvPr/>
        </p:nvSpPr>
        <p:spPr>
          <a:xfrm>
            <a:off x="6035040" y="2240280"/>
            <a:ext cx="2514600" cy="1463040"/>
          </a:xfrm>
          <a:prstGeom prst="rect">
            <a:avLst/>
          </a:prstGeom>
          <a:noFill/>
          <a:ln/>
        </p:spPr>
        <p:txBody>
          <a:bodyPr wrap="square" lIns="0" tIns="0" rIns="0" bIns="0" rtlCol="0" anchor="t"/>
          <a:lstStyle/>
          <a:p>
            <a:pPr indent="0" marL="0">
              <a:buNone/>
            </a:pPr>
            <a:r>
              <a:rPr lang="en-US" sz="1400" dirty="0">
                <a:solidFill>
                  <a:schemeClr val="tx2"/>
                </a:solidFill>
              </a:rPr>
              <a:t>20 of 20 breakpoints set on .tth lines in Chrome DevTools stop there; runtime stack traces name the .tth file and line.</a:t>
            </a:r>
            <a:endParaRPr lang="en-US" sz="1400" dirty="0"/>
          </a:p>
        </p:txBody>
      </p:sp>
      <p:sp>
        <p:nvSpPr>
          <p:cNvPr id="13" name="rule"/>
          <p:cNvSpPr/>
          <p:nvPr/>
        </p:nvSpPr>
        <p:spPr>
          <a:xfrm>
            <a:off x="548640" y="3931920"/>
            <a:ext cx="8046720" cy="0"/>
          </a:xfrm>
          <a:prstGeom prst="line">
            <a:avLst/>
          </a:prstGeom>
          <a:noFill/>
          <a:ln w="9525">
            <a:solidFill>
              <a:srgbClr val="2A2D33"/>
            </a:solidFill>
            <a:prstDash val="solid"/>
          </a:ln>
        </p:spPr>
      </p:sp>
      <p:sp>
        <p:nvSpPr>
          <p:cNvPr id="14" name="Text 12"/>
          <p:cNvSpPr txBox="1"/>
          <p:nvPr/>
        </p:nvSpPr>
        <p:spPr>
          <a:xfrm>
            <a:off x="548640" y="4069080"/>
            <a:ext cx="8046720" cy="36576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Source maps are not new. Treating positions as a verified, measured artifact through every phase is.</a:t>
            </a:r>
            <a:endParaRPr lang="en-US" sz="15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progress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All eight milestones complete</a:t>
            </a:r>
            <a:endParaRPr lang="en-US" sz="2800" dirty="0"/>
          </a:p>
        </p:txBody>
      </p:sp>
      <p:sp>
        <p:nvSpPr>
          <p:cNvPr id="4" name="Text 2"/>
          <p:cNvSpPr txBox="1"/>
          <p:nvPr/>
        </p:nvSpPr>
        <p:spPr>
          <a:xfrm>
            <a:off x="548640" y="1188720"/>
            <a:ext cx="3291840" cy="1188720"/>
          </a:xfrm>
          <a:prstGeom prst="rect">
            <a:avLst/>
          </a:prstGeom>
          <a:noFill/>
          <a:ln/>
        </p:spPr>
        <p:txBody>
          <a:bodyPr wrap="square" lIns="0" tIns="0" rIns="0" bIns="0" rtlCol="0" anchor="t"/>
          <a:lstStyle/>
          <a:p>
            <a:pPr indent="0" marL="0">
              <a:buNone/>
            </a:pPr>
            <a:r>
              <a:rPr lang="en-US" sz="8000" b="1" dirty="0">
                <a:solidFill>
                  <a:schemeClr val="tx1"/>
                </a:solidFill>
                <a:latin typeface="Cambria" pitchFamily="34" charset="0"/>
                <a:ea typeface="Cambria" pitchFamily="34" charset="-122"/>
                <a:cs typeface="Cambria" pitchFamily="34" charset="-120"/>
              </a:rPr>
              <a:t>100%</a:t>
            </a:r>
            <a:endParaRPr lang="en-US" sz="8000" dirty="0"/>
          </a:p>
        </p:txBody>
      </p:sp>
      <p:sp>
        <p:nvSpPr>
          <p:cNvPr id="5" name="Text 3"/>
          <p:cNvSpPr txBox="1"/>
          <p:nvPr/>
        </p:nvSpPr>
        <p:spPr>
          <a:xfrm>
            <a:off x="548640" y="2423160"/>
            <a:ext cx="2926080" cy="274320"/>
          </a:xfrm>
          <a:prstGeom prst="rect">
            <a:avLst/>
          </a:prstGeom>
          <a:noFill/>
          <a:ln/>
        </p:spPr>
        <p:txBody>
          <a:bodyPr wrap="square" lIns="0" tIns="0" rIns="0" bIns="0" rtlCol="0" anchor="t"/>
          <a:lstStyle/>
          <a:p>
            <a:pPr indent="0" marL="0">
              <a:buNone/>
            </a:pPr>
            <a:r>
              <a:rPr lang="en-US" sz="1300" dirty="0">
                <a:solidFill>
                  <a:schemeClr val="tx2"/>
                </a:solidFill>
              </a:rPr>
              <a:t>of the plan in the PRD</a:t>
            </a:r>
            <a:endParaRPr lang="en-US" sz="1300" dirty="0"/>
          </a:p>
        </p:txBody>
      </p:sp>
      <p:sp>
        <p:nvSpPr>
          <p:cNvPr id="6" name="Text 4"/>
          <p:cNvSpPr txBox="1"/>
          <p:nvPr/>
        </p:nvSpPr>
        <p:spPr>
          <a:xfrm>
            <a:off x="4023360" y="1325880"/>
            <a:ext cx="1463040" cy="5943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31/31</a:t>
            </a:r>
            <a:endParaRPr lang="en-US" sz="3000" dirty="0"/>
          </a:p>
        </p:txBody>
      </p:sp>
      <p:sp>
        <p:nvSpPr>
          <p:cNvPr id="7" name="Text 5"/>
          <p:cNvSpPr txBox="1"/>
          <p:nvPr/>
        </p:nvSpPr>
        <p:spPr>
          <a:xfrm>
            <a:off x="4023360" y="1920240"/>
            <a:ext cx="1417320" cy="457200"/>
          </a:xfrm>
          <a:prstGeom prst="rect">
            <a:avLst/>
          </a:prstGeom>
          <a:noFill/>
          <a:ln/>
        </p:spPr>
        <p:txBody>
          <a:bodyPr wrap="square" lIns="0" tIns="0" rIns="0" bIns="0" rtlCol="0" anchor="t"/>
          <a:lstStyle/>
          <a:p>
            <a:pPr indent="0" marL="0">
              <a:buNone/>
            </a:pPr>
            <a:r>
              <a:rPr lang="en-US" sz="1200" dirty="0">
                <a:solidFill>
                  <a:schemeClr val="tx2"/>
                </a:solidFill>
              </a:rPr>
              <a:t>functional requirements</a:t>
            </a:r>
            <a:endParaRPr lang="en-US" sz="1200" dirty="0"/>
          </a:p>
        </p:txBody>
      </p:sp>
      <p:sp>
        <p:nvSpPr>
          <p:cNvPr id="8" name="Text 6"/>
          <p:cNvSpPr txBox="1"/>
          <p:nvPr/>
        </p:nvSpPr>
        <p:spPr>
          <a:xfrm>
            <a:off x="5577840" y="1325880"/>
            <a:ext cx="1463040" cy="5943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6/6</a:t>
            </a:r>
            <a:endParaRPr lang="en-US" sz="3000" dirty="0"/>
          </a:p>
        </p:txBody>
      </p:sp>
      <p:sp>
        <p:nvSpPr>
          <p:cNvPr id="9" name="Text 7"/>
          <p:cNvSpPr txBox="1"/>
          <p:nvPr/>
        </p:nvSpPr>
        <p:spPr>
          <a:xfrm>
            <a:off x="5577840" y="1920240"/>
            <a:ext cx="1417320" cy="457200"/>
          </a:xfrm>
          <a:prstGeom prst="rect">
            <a:avLst/>
          </a:prstGeom>
          <a:noFill/>
          <a:ln/>
        </p:spPr>
        <p:txBody>
          <a:bodyPr wrap="square" lIns="0" tIns="0" rIns="0" bIns="0" rtlCol="0" anchor="t"/>
          <a:lstStyle/>
          <a:p>
            <a:pPr indent="0" marL="0">
              <a:buNone/>
            </a:pPr>
            <a:r>
              <a:rPr lang="en-US" sz="1200" dirty="0">
                <a:solidFill>
                  <a:schemeClr val="tx2"/>
                </a:solidFill>
              </a:rPr>
              <a:t>non-functional requirements</a:t>
            </a:r>
            <a:endParaRPr lang="en-US" sz="1200" dirty="0"/>
          </a:p>
        </p:txBody>
      </p:sp>
      <p:sp>
        <p:nvSpPr>
          <p:cNvPr id="10" name="Text 8"/>
          <p:cNvSpPr txBox="1"/>
          <p:nvPr/>
        </p:nvSpPr>
        <p:spPr>
          <a:xfrm>
            <a:off x="7132320" y="1325880"/>
            <a:ext cx="1463040" cy="5943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6/6</a:t>
            </a:r>
            <a:endParaRPr lang="en-US" sz="3000" dirty="0"/>
          </a:p>
        </p:txBody>
      </p:sp>
      <p:sp>
        <p:nvSpPr>
          <p:cNvPr id="11" name="Text 9"/>
          <p:cNvSpPr txBox="1"/>
          <p:nvPr/>
        </p:nvSpPr>
        <p:spPr>
          <a:xfrm>
            <a:off x="7132320" y="1920240"/>
            <a:ext cx="1417320" cy="457200"/>
          </a:xfrm>
          <a:prstGeom prst="rect">
            <a:avLst/>
          </a:prstGeom>
          <a:noFill/>
          <a:ln/>
        </p:spPr>
        <p:txBody>
          <a:bodyPr wrap="square" lIns="0" tIns="0" rIns="0" bIns="0" rtlCol="0" anchor="t"/>
          <a:lstStyle/>
          <a:p>
            <a:pPr indent="0" marL="0">
              <a:buNone/>
            </a:pPr>
            <a:r>
              <a:rPr lang="en-US" sz="1200" dirty="0">
                <a:solidFill>
                  <a:schemeClr val="tx2"/>
                </a:solidFill>
              </a:rPr>
              <a:t>acceptance criteria</a:t>
            </a:r>
            <a:endParaRPr lang="en-US" sz="1200" dirty="0"/>
          </a:p>
        </p:txBody>
      </p:sp>
      <p:sp>
        <p:nvSpPr>
          <p:cNvPr id="12" name="milestone"/>
          <p:cNvSpPr/>
          <p:nvPr/>
        </p:nvSpPr>
        <p:spPr>
          <a:xfrm>
            <a:off x="566928" y="3291840"/>
            <a:ext cx="969264" cy="329184"/>
          </a:xfrm>
          <a:prstGeom prst="rect">
            <a:avLst/>
          </a:prstGeom>
          <a:solidFill>
            <a:srgbClr val="1E2025"/>
          </a:solidFill>
          <a:ln w="9525">
            <a:solidFill>
              <a:srgbClr val="4A4E55"/>
            </a:solidFill>
            <a:prstDash val="solid"/>
          </a:ln>
        </p:spPr>
      </p:sp>
      <p:sp>
        <p:nvSpPr>
          <p:cNvPr id="13" name="Text 11"/>
          <p:cNvSpPr txBox="1"/>
          <p:nvPr/>
        </p:nvSpPr>
        <p:spPr>
          <a:xfrm>
            <a:off x="56692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M1</a:t>
            </a:r>
            <a:endParaRPr lang="en-US" sz="1100" dirty="0"/>
          </a:p>
        </p:txBody>
      </p:sp>
      <p:sp>
        <p:nvSpPr>
          <p:cNvPr id="14" name="Text 12"/>
          <p:cNvSpPr txBox="1"/>
          <p:nvPr/>
        </p:nvSpPr>
        <p:spPr>
          <a:xfrm>
            <a:off x="54864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Grammar, lexer</a:t>
            </a:r>
            <a:endParaRPr lang="en-US" sz="1100" dirty="0"/>
          </a:p>
        </p:txBody>
      </p:sp>
      <p:sp>
        <p:nvSpPr>
          <p:cNvPr id="15" name="milestone"/>
          <p:cNvSpPr/>
          <p:nvPr/>
        </p:nvSpPr>
        <p:spPr>
          <a:xfrm>
            <a:off x="1572768" y="3291840"/>
            <a:ext cx="969264" cy="329184"/>
          </a:xfrm>
          <a:prstGeom prst="rect">
            <a:avLst/>
          </a:prstGeom>
          <a:solidFill>
            <a:srgbClr val="1E2025"/>
          </a:solidFill>
          <a:ln w="9525">
            <a:solidFill>
              <a:srgbClr val="4A4E55"/>
            </a:solidFill>
            <a:prstDash val="solid"/>
          </a:ln>
        </p:spPr>
      </p:sp>
      <p:sp>
        <p:nvSpPr>
          <p:cNvPr id="16" name="Text 14"/>
          <p:cNvSpPr txBox="1"/>
          <p:nvPr/>
        </p:nvSpPr>
        <p:spPr>
          <a:xfrm>
            <a:off x="157276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M2</a:t>
            </a:r>
            <a:endParaRPr lang="en-US" sz="1100" dirty="0"/>
          </a:p>
        </p:txBody>
      </p:sp>
      <p:sp>
        <p:nvSpPr>
          <p:cNvPr id="17" name="Text 15"/>
          <p:cNvSpPr txBox="1"/>
          <p:nvPr/>
        </p:nvSpPr>
        <p:spPr>
          <a:xfrm>
            <a:off x="155448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Parser, AST</a:t>
            </a:r>
            <a:endParaRPr lang="en-US" sz="1100" dirty="0"/>
          </a:p>
        </p:txBody>
      </p:sp>
      <p:sp>
        <p:nvSpPr>
          <p:cNvPr id="18" name="milestone"/>
          <p:cNvSpPr/>
          <p:nvPr/>
        </p:nvSpPr>
        <p:spPr>
          <a:xfrm>
            <a:off x="2578608" y="3291840"/>
            <a:ext cx="969264" cy="329184"/>
          </a:xfrm>
          <a:prstGeom prst="rect">
            <a:avLst/>
          </a:prstGeom>
          <a:solidFill>
            <a:srgbClr val="1E2025"/>
          </a:solidFill>
          <a:ln w="9525">
            <a:solidFill>
              <a:srgbClr val="4A4E55"/>
            </a:solidFill>
            <a:prstDash val="solid"/>
          </a:ln>
        </p:spPr>
      </p:sp>
      <p:sp>
        <p:nvSpPr>
          <p:cNvPr id="19" name="Text 17"/>
          <p:cNvSpPr txBox="1"/>
          <p:nvPr/>
        </p:nvSpPr>
        <p:spPr>
          <a:xfrm>
            <a:off x="257860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M3</a:t>
            </a:r>
            <a:endParaRPr lang="en-US" sz="1100" dirty="0"/>
          </a:p>
        </p:txBody>
      </p:sp>
      <p:sp>
        <p:nvSpPr>
          <p:cNvPr id="20" name="Text 18"/>
          <p:cNvSpPr txBox="1"/>
          <p:nvPr/>
        </p:nvSpPr>
        <p:spPr>
          <a:xfrm>
            <a:off x="256032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Type checker</a:t>
            </a:r>
            <a:endParaRPr lang="en-US" sz="1100" dirty="0"/>
          </a:p>
        </p:txBody>
      </p:sp>
      <p:sp>
        <p:nvSpPr>
          <p:cNvPr id="21" name="milestone"/>
          <p:cNvSpPr/>
          <p:nvPr/>
        </p:nvSpPr>
        <p:spPr>
          <a:xfrm>
            <a:off x="3584448" y="3291840"/>
            <a:ext cx="969264" cy="329184"/>
          </a:xfrm>
          <a:prstGeom prst="rect">
            <a:avLst/>
          </a:prstGeom>
          <a:solidFill>
            <a:srgbClr val="1E2025"/>
          </a:solidFill>
          <a:ln w="9525">
            <a:solidFill>
              <a:srgbClr val="4A4E55"/>
            </a:solidFill>
            <a:prstDash val="solid"/>
          </a:ln>
        </p:spPr>
      </p:sp>
      <p:sp>
        <p:nvSpPr>
          <p:cNvPr id="22" name="Text 20"/>
          <p:cNvSpPr txBox="1"/>
          <p:nvPr/>
        </p:nvSpPr>
        <p:spPr>
          <a:xfrm>
            <a:off x="358444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M4</a:t>
            </a:r>
            <a:endParaRPr lang="en-US" sz="1100" dirty="0"/>
          </a:p>
        </p:txBody>
      </p:sp>
      <p:sp>
        <p:nvSpPr>
          <p:cNvPr id="23" name="Text 21"/>
          <p:cNvSpPr txBox="1"/>
          <p:nvPr/>
        </p:nvSpPr>
        <p:spPr>
          <a:xfrm>
            <a:off x="356616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Lowering, JS</a:t>
            </a:r>
            <a:endParaRPr lang="en-US" sz="1100" dirty="0"/>
          </a:p>
        </p:txBody>
      </p:sp>
      <p:sp>
        <p:nvSpPr>
          <p:cNvPr id="24" name="milestone"/>
          <p:cNvSpPr/>
          <p:nvPr/>
        </p:nvSpPr>
        <p:spPr>
          <a:xfrm>
            <a:off x="4590288" y="3291840"/>
            <a:ext cx="969264" cy="329184"/>
          </a:xfrm>
          <a:prstGeom prst="rect">
            <a:avLst/>
          </a:prstGeom>
          <a:solidFill>
            <a:srgbClr val="1E2025"/>
          </a:solidFill>
          <a:ln w="9525">
            <a:solidFill>
              <a:srgbClr val="4A4E55"/>
            </a:solidFill>
            <a:prstDash val="solid"/>
          </a:ln>
        </p:spPr>
      </p:sp>
      <p:sp>
        <p:nvSpPr>
          <p:cNvPr id="25" name="Text 23"/>
          <p:cNvSpPr txBox="1"/>
          <p:nvPr/>
        </p:nvSpPr>
        <p:spPr>
          <a:xfrm>
            <a:off x="459028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M5</a:t>
            </a:r>
            <a:endParaRPr lang="en-US" sz="1100" dirty="0"/>
          </a:p>
        </p:txBody>
      </p:sp>
      <p:sp>
        <p:nvSpPr>
          <p:cNvPr id="26" name="Text 24"/>
          <p:cNvSpPr txBox="1"/>
          <p:nvPr/>
        </p:nvSpPr>
        <p:spPr>
          <a:xfrm>
            <a:off x="457200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VLQ encoder</a:t>
            </a:r>
            <a:endParaRPr lang="en-US" sz="1100" dirty="0"/>
          </a:p>
        </p:txBody>
      </p:sp>
      <p:sp>
        <p:nvSpPr>
          <p:cNvPr id="27" name="milestone"/>
          <p:cNvSpPr/>
          <p:nvPr/>
        </p:nvSpPr>
        <p:spPr>
          <a:xfrm>
            <a:off x="5596128" y="3291840"/>
            <a:ext cx="969264" cy="329184"/>
          </a:xfrm>
          <a:prstGeom prst="rect">
            <a:avLst/>
          </a:prstGeom>
          <a:solidFill>
            <a:srgbClr val="1E2025"/>
          </a:solidFill>
          <a:ln w="9525">
            <a:solidFill>
              <a:srgbClr val="4A4E55"/>
            </a:solidFill>
            <a:prstDash val="solid"/>
          </a:ln>
        </p:spPr>
      </p:sp>
      <p:sp>
        <p:nvSpPr>
          <p:cNvPr id="28" name="Text 26"/>
          <p:cNvSpPr txBox="1"/>
          <p:nvPr/>
        </p:nvSpPr>
        <p:spPr>
          <a:xfrm>
            <a:off x="559612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M6</a:t>
            </a:r>
            <a:endParaRPr lang="en-US" sz="1100" dirty="0"/>
          </a:p>
        </p:txBody>
      </p:sp>
      <p:sp>
        <p:nvSpPr>
          <p:cNvPr id="29" name="Text 27"/>
          <p:cNvSpPr txBox="1"/>
          <p:nvPr/>
        </p:nvSpPr>
        <p:spPr>
          <a:xfrm>
            <a:off x="557784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Source map</a:t>
            </a:r>
            <a:endParaRPr lang="en-US" sz="1100" dirty="0"/>
          </a:p>
        </p:txBody>
      </p:sp>
      <p:sp>
        <p:nvSpPr>
          <p:cNvPr id="30" name="milestone"/>
          <p:cNvSpPr/>
          <p:nvPr/>
        </p:nvSpPr>
        <p:spPr>
          <a:xfrm>
            <a:off x="6601968" y="3291840"/>
            <a:ext cx="969264" cy="329184"/>
          </a:xfrm>
          <a:prstGeom prst="rect">
            <a:avLst/>
          </a:prstGeom>
          <a:solidFill>
            <a:srgbClr val="1E2025"/>
          </a:solidFill>
          <a:ln w="9525">
            <a:solidFill>
              <a:srgbClr val="4A4E55"/>
            </a:solidFill>
            <a:prstDash val="solid"/>
          </a:ln>
        </p:spPr>
      </p:sp>
      <p:sp>
        <p:nvSpPr>
          <p:cNvPr id="31" name="Text 29"/>
          <p:cNvSpPr txBox="1"/>
          <p:nvPr/>
        </p:nvSpPr>
        <p:spPr>
          <a:xfrm>
            <a:off x="660196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M7</a:t>
            </a:r>
            <a:endParaRPr lang="en-US" sz="1100" dirty="0"/>
          </a:p>
        </p:txBody>
      </p:sp>
      <p:sp>
        <p:nvSpPr>
          <p:cNvPr id="32" name="Text 30"/>
          <p:cNvSpPr txBox="1"/>
          <p:nvPr/>
        </p:nvSpPr>
        <p:spPr>
          <a:xfrm>
            <a:off x="658368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Browser proof</a:t>
            </a:r>
            <a:endParaRPr lang="en-US" sz="1100" dirty="0"/>
          </a:p>
        </p:txBody>
      </p:sp>
      <p:sp>
        <p:nvSpPr>
          <p:cNvPr id="33" name="milestone"/>
          <p:cNvSpPr/>
          <p:nvPr/>
        </p:nvSpPr>
        <p:spPr>
          <a:xfrm>
            <a:off x="7607808" y="3291840"/>
            <a:ext cx="969264" cy="329184"/>
          </a:xfrm>
          <a:prstGeom prst="rect">
            <a:avLst/>
          </a:prstGeom>
          <a:solidFill>
            <a:srgbClr val="1E2025"/>
          </a:solidFill>
          <a:ln w="9525">
            <a:solidFill>
              <a:srgbClr val="4A4E55"/>
            </a:solidFill>
            <a:prstDash val="solid"/>
          </a:ln>
        </p:spPr>
      </p:sp>
      <p:sp>
        <p:nvSpPr>
          <p:cNvPr id="34" name="Text 32"/>
          <p:cNvSpPr txBox="1"/>
          <p:nvPr/>
        </p:nvSpPr>
        <p:spPr>
          <a:xfrm>
            <a:off x="7607808" y="329184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M8</a:t>
            </a:r>
            <a:endParaRPr lang="en-US" sz="1100" dirty="0"/>
          </a:p>
        </p:txBody>
      </p:sp>
      <p:sp>
        <p:nvSpPr>
          <p:cNvPr id="35" name="Text 33"/>
          <p:cNvSpPr txBox="1"/>
          <p:nvPr/>
        </p:nvSpPr>
        <p:spPr>
          <a:xfrm>
            <a:off x="7589520" y="370332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-O1, report</a:t>
            </a:r>
            <a:endParaRPr lang="en-US" sz="11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acceptance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Acceptance criteria</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640080"/>
                <a:gridCol w="3474720"/>
                <a:gridCol w="1828800"/>
                <a:gridCol w="2103120"/>
              </a:tblGrid>
              <a:tr h="438912">
                <a:tc>
                  <a:txBody>
                    <a:bodyPr/>
                    <a:lstStyle/>
                    <a:p>
                      <a:pPr indent="0" marL="0">
                        <a:buNone/>
                      </a:pP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Criterion</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Result</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Evidence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438912">
                <a:tc>
                  <a:txBody>
                    <a:bodyPr/>
                    <a:lstStyle/>
                    <a:p>
                      <a:pPr indent="0" marL="0">
                        <a:buNone/>
                      </a:pPr>
                      <a:r>
                        <a:rPr lang="en-US" sz="1250" dirty="0">
                          <a:solidFill>
                            <a:srgbClr val="E4E4E2"/>
                          </a:solidFill>
                          <a:latin typeface="Consolas" pitchFamily="34" charset="0"/>
                          <a:ea typeface="Consolas" pitchFamily="34" charset="-122"/>
                          <a:cs typeface="Consolas" pitchFamily="34" charset="-120"/>
                        </a:rPr>
                        <a:t>AC-1</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Benchmarks print exactly their expected output</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4 of 4</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test/cli.test.js</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38912">
                <a:tc>
                  <a:txBody>
                    <a:bodyPr/>
                    <a:lstStyle/>
                    <a:p>
                      <a:pPr indent="0" marL="0">
                        <a:buNone/>
                      </a:pPr>
                      <a:r>
                        <a:rPr lang="en-US" sz="1250" dirty="0">
                          <a:solidFill>
                            <a:srgbClr val="E4E4E2"/>
                          </a:solidFill>
                          <a:latin typeface="Consolas" pitchFamily="34" charset="0"/>
                          <a:ea typeface="Consolas" pitchFamily="34" charset="-122"/>
                          <a:cs typeface="Consolas" pitchFamily="34" charset="-120"/>
                        </a:rPr>
                        <a:t>AC-2</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Breakpoints on ≥ 10 .tth statements halt there in Chrome DevTools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20 of 20</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docs/browser-verification.md</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38912">
                <a:tc>
                  <a:txBody>
                    <a:bodyPr/>
                    <a:lstStyle/>
                    <a:p>
                      <a:pPr indent="0" marL="0">
                        <a:buNone/>
                      </a:pPr>
                      <a:r>
                        <a:rPr lang="en-US" sz="1250" dirty="0">
                          <a:solidFill>
                            <a:srgbClr val="E4E4E2"/>
                          </a:solidFill>
                          <a:latin typeface="Consolas" pitchFamily="34" charset="0"/>
                          <a:ea typeface="Consolas" pitchFamily="34" charset="-122"/>
                          <a:cs typeface="Consolas" pitchFamily="34" charset="-120"/>
                        </a:rPr>
                        <a:t>AC-3</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Mapping table round-trips through an independent decoder</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100%</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test/sourcemap.test.js</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38912">
                <a:tc>
                  <a:txBody>
                    <a:bodyPr/>
                    <a:lstStyle/>
                    <a:p>
                      <a:pPr indent="0" marL="0">
                        <a:buNone/>
                      </a:pPr>
                      <a:r>
                        <a:rPr lang="en-US" sz="1250" dirty="0">
                          <a:solidFill>
                            <a:srgbClr val="E4E4E2"/>
                          </a:solidFill>
                          <a:latin typeface="Consolas" pitchFamily="34" charset="0"/>
                          <a:ea typeface="Consolas" pitchFamily="34" charset="-122"/>
                          <a:cs typeface="Consolas" pitchFamily="34" charset="-120"/>
                        </a:rPr>
                        <a:t>AC-4</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Five semantic errors reported in one run, with carets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8 of 8</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semantic-errors.tth</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38912">
                <a:tc>
                  <a:txBody>
                    <a:bodyPr/>
                    <a:lstStyle/>
                    <a:p>
                      <a:pPr indent="0" marL="0">
                        <a:buNone/>
                      </a:pPr>
                      <a:r>
                        <a:rPr lang="en-US" sz="1250" dirty="0">
                          <a:solidFill>
                            <a:srgbClr val="E4E4E2"/>
                          </a:solidFill>
                          <a:latin typeface="Consolas" pitchFamily="34" charset="0"/>
                          <a:ea typeface="Consolas" pitchFamily="34" charset="-122"/>
                          <a:cs typeface="Consolas" pitchFamily="34" charset="-120"/>
                        </a:rPr>
                        <a:t>AC-5</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Browser stack trace names the original file and line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stack-overflow.tth:6</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rPr>
                        <a:t>screenshot, DevTools console</a:t>
                      </a:r>
                      <a:endParaRPr lang="en-US" sz="11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38912">
                <a:tc>
                  <a:txBody>
                    <a:bodyPr/>
                    <a:lstStyle/>
                    <a:p>
                      <a:pPr indent="0" marL="0">
                        <a:buNone/>
                      </a:pPr>
                      <a:r>
                        <a:rPr lang="en-US" sz="1250" dirty="0">
                          <a:solidFill>
                            <a:srgbClr val="E4E4E2"/>
                          </a:solidFill>
                          <a:latin typeface="Consolas" pitchFamily="34" charset="0"/>
                          <a:ea typeface="Consolas" pitchFamily="34" charset="-122"/>
                          <a:cs typeface="Consolas" pitchFamily="34" charset="-120"/>
                        </a:rPr>
                        <a:t>AC-6</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Mapping retention recorded at -O0 and -O1</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5 programs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docs/fidelity.md</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architecture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Final architecture</a:t>
            </a:r>
            <a:endParaRPr lang="en-US" sz="2800" dirty="0"/>
          </a:p>
        </p:txBody>
      </p:sp>
      <p:sp>
        <p:nvSpPr>
          <p:cNvPr id="4" name="Text 2"/>
          <p:cNvSpPr txBox="1"/>
          <p:nvPr/>
        </p:nvSpPr>
        <p:spPr>
          <a:xfrm>
            <a:off x="548640" y="1371600"/>
            <a:ext cx="1828800" cy="2286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program.tth</a:t>
            </a:r>
            <a:endParaRPr lang="en-US" sz="1200" dirty="0"/>
          </a:p>
        </p:txBody>
      </p:sp>
      <p:sp>
        <p:nvSpPr>
          <p:cNvPr id="5" name="Text 3"/>
          <p:cNvSpPr txBox="1"/>
          <p:nvPr/>
        </p:nvSpPr>
        <p:spPr>
          <a:xfrm>
            <a:off x="4937760" y="1371600"/>
            <a:ext cx="3657600" cy="228600"/>
          </a:xfrm>
          <a:prstGeom prst="rect">
            <a:avLst/>
          </a:prstGeom>
          <a:noFill/>
          <a:ln/>
        </p:spPr>
        <p:txBody>
          <a:bodyPr wrap="square" lIns="0" tIns="0" rIns="0" bIns="0" rtlCol="0" anchor="t"/>
          <a:lstStyle/>
          <a:p>
            <a:pPr algn="r" indent="0" marL="0">
              <a:buNone/>
            </a:pPr>
            <a:r>
              <a:rPr lang="en-US" sz="1200" dirty="0">
                <a:solidFill>
                  <a:schemeClr val="tx2"/>
                </a:solidFill>
                <a:latin typeface="Consolas" pitchFamily="34" charset="0"/>
                <a:ea typeface="Consolas" pitchFamily="34" charset="-122"/>
                <a:cs typeface="Consolas" pitchFamily="34" charset="-120"/>
              </a:rPr>
              <a:t>program.js + program.js.map</a:t>
            </a:r>
            <a:endParaRPr lang="en-US" sz="1200" dirty="0"/>
          </a:p>
        </p:txBody>
      </p:sp>
      <p:sp>
        <p:nvSpPr>
          <p:cNvPr id="6" name="stage"/>
          <p:cNvSpPr/>
          <p:nvPr/>
        </p:nvSpPr>
        <p:spPr>
          <a:xfrm>
            <a:off x="548640" y="1737360"/>
            <a:ext cx="1008453" cy="868680"/>
          </a:xfrm>
          <a:prstGeom prst="rect">
            <a:avLst/>
          </a:prstGeom>
          <a:solidFill>
            <a:srgbClr val="1E2025"/>
          </a:solidFill>
          <a:ln w="12700">
            <a:solidFill>
              <a:srgbClr val="4A4E55"/>
            </a:solidFill>
            <a:prstDash val="solid"/>
          </a:ln>
        </p:spPr>
      </p:sp>
      <p:sp>
        <p:nvSpPr>
          <p:cNvPr id="7" name="Text 5"/>
          <p:cNvSpPr txBox="1"/>
          <p:nvPr/>
        </p:nvSpPr>
        <p:spPr>
          <a:xfrm>
            <a:off x="548640"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Lexer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M1</a:t>
            </a:r>
            <a:endParaRPr lang="en-US" sz="1300" dirty="0"/>
          </a:p>
        </p:txBody>
      </p:sp>
      <p:sp>
        <p:nvSpPr>
          <p:cNvPr id="8" name="flow"/>
          <p:cNvSpPr/>
          <p:nvPr/>
        </p:nvSpPr>
        <p:spPr>
          <a:xfrm>
            <a:off x="1575381" y="2171700"/>
            <a:ext cx="128016" cy="0"/>
          </a:xfrm>
          <a:prstGeom prst="line">
            <a:avLst/>
          </a:prstGeom>
          <a:noFill/>
          <a:ln w="12700">
            <a:solidFill>
              <a:srgbClr val="5A5E66"/>
            </a:solidFill>
            <a:prstDash val="solid"/>
            <a:tailEnd type="triangle"/>
          </a:ln>
        </p:spPr>
      </p:sp>
      <p:sp>
        <p:nvSpPr>
          <p:cNvPr id="9" name="stage"/>
          <p:cNvSpPr/>
          <p:nvPr/>
        </p:nvSpPr>
        <p:spPr>
          <a:xfrm>
            <a:off x="1721685" y="1737360"/>
            <a:ext cx="1008453" cy="868680"/>
          </a:xfrm>
          <a:prstGeom prst="rect">
            <a:avLst/>
          </a:prstGeom>
          <a:solidFill>
            <a:srgbClr val="1E2025"/>
          </a:solidFill>
          <a:ln w="12700">
            <a:solidFill>
              <a:srgbClr val="4A4E55"/>
            </a:solidFill>
            <a:prstDash val="solid"/>
          </a:ln>
        </p:spPr>
      </p:sp>
      <p:sp>
        <p:nvSpPr>
          <p:cNvPr id="10" name="Text 8"/>
          <p:cNvSpPr txBox="1"/>
          <p:nvPr/>
        </p:nvSpPr>
        <p:spPr>
          <a:xfrm>
            <a:off x="1721685"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Parser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M2</a:t>
            </a:r>
            <a:endParaRPr lang="en-US" sz="1300" dirty="0"/>
          </a:p>
        </p:txBody>
      </p:sp>
      <p:sp>
        <p:nvSpPr>
          <p:cNvPr id="11" name="flow"/>
          <p:cNvSpPr/>
          <p:nvPr/>
        </p:nvSpPr>
        <p:spPr>
          <a:xfrm>
            <a:off x="2748425" y="2171700"/>
            <a:ext cx="128016" cy="0"/>
          </a:xfrm>
          <a:prstGeom prst="line">
            <a:avLst/>
          </a:prstGeom>
          <a:noFill/>
          <a:ln w="12700">
            <a:solidFill>
              <a:srgbClr val="5A5E66"/>
            </a:solidFill>
            <a:prstDash val="solid"/>
            <a:tailEnd type="triangle"/>
          </a:ln>
        </p:spPr>
      </p:sp>
      <p:sp>
        <p:nvSpPr>
          <p:cNvPr id="12" name="stage"/>
          <p:cNvSpPr/>
          <p:nvPr/>
        </p:nvSpPr>
        <p:spPr>
          <a:xfrm>
            <a:off x="2894729" y="1737360"/>
            <a:ext cx="1008453" cy="868680"/>
          </a:xfrm>
          <a:prstGeom prst="rect">
            <a:avLst/>
          </a:prstGeom>
          <a:solidFill>
            <a:srgbClr val="1E2025"/>
          </a:solidFill>
          <a:ln w="12700">
            <a:solidFill>
              <a:srgbClr val="4A4E55"/>
            </a:solidFill>
            <a:prstDash val="solid"/>
          </a:ln>
        </p:spPr>
      </p:sp>
      <p:sp>
        <p:nvSpPr>
          <p:cNvPr id="13" name="Text 11"/>
          <p:cNvSpPr txBox="1"/>
          <p:nvPr/>
        </p:nvSpPr>
        <p:spPr>
          <a:xfrm>
            <a:off x="2894729"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Checker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M3</a:t>
            </a:r>
            <a:endParaRPr lang="en-US" sz="1300" dirty="0"/>
          </a:p>
        </p:txBody>
      </p:sp>
      <p:sp>
        <p:nvSpPr>
          <p:cNvPr id="14" name="flow"/>
          <p:cNvSpPr/>
          <p:nvPr/>
        </p:nvSpPr>
        <p:spPr>
          <a:xfrm>
            <a:off x="3921470" y="2171700"/>
            <a:ext cx="128016" cy="0"/>
          </a:xfrm>
          <a:prstGeom prst="line">
            <a:avLst/>
          </a:prstGeom>
          <a:noFill/>
          <a:ln w="12700">
            <a:solidFill>
              <a:srgbClr val="5A5E66"/>
            </a:solidFill>
            <a:prstDash val="solid"/>
            <a:tailEnd type="triangle"/>
          </a:ln>
        </p:spPr>
      </p:sp>
      <p:sp>
        <p:nvSpPr>
          <p:cNvPr id="15" name="stage"/>
          <p:cNvSpPr/>
          <p:nvPr/>
        </p:nvSpPr>
        <p:spPr>
          <a:xfrm>
            <a:off x="4067774" y="1737360"/>
            <a:ext cx="1008453" cy="868680"/>
          </a:xfrm>
          <a:prstGeom prst="rect">
            <a:avLst/>
          </a:prstGeom>
          <a:solidFill>
            <a:srgbClr val="1E2025"/>
          </a:solidFill>
          <a:ln w="12700">
            <a:solidFill>
              <a:srgbClr val="4A4E55"/>
            </a:solidFill>
            <a:prstDash val="solid"/>
          </a:ln>
        </p:spPr>
      </p:sp>
      <p:sp>
        <p:nvSpPr>
          <p:cNvPr id="16" name="Text 14"/>
          <p:cNvSpPr txBox="1"/>
          <p:nvPr/>
        </p:nvSpPr>
        <p:spPr>
          <a:xfrm>
            <a:off x="4067774"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Lowering</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M4</a:t>
            </a:r>
            <a:endParaRPr lang="en-US" sz="1300" dirty="0"/>
          </a:p>
        </p:txBody>
      </p:sp>
      <p:sp>
        <p:nvSpPr>
          <p:cNvPr id="17" name="flow"/>
          <p:cNvSpPr/>
          <p:nvPr/>
        </p:nvSpPr>
        <p:spPr>
          <a:xfrm>
            <a:off x="5094514" y="2171700"/>
            <a:ext cx="128016" cy="0"/>
          </a:xfrm>
          <a:prstGeom prst="line">
            <a:avLst/>
          </a:prstGeom>
          <a:noFill/>
          <a:ln w="12700">
            <a:solidFill>
              <a:srgbClr val="5A5E66"/>
            </a:solidFill>
            <a:prstDash val="solid"/>
            <a:tailEnd type="triangle"/>
          </a:ln>
        </p:spPr>
      </p:sp>
      <p:sp>
        <p:nvSpPr>
          <p:cNvPr id="18" name="stage"/>
          <p:cNvSpPr/>
          <p:nvPr/>
        </p:nvSpPr>
        <p:spPr>
          <a:xfrm>
            <a:off x="5240818" y="1737360"/>
            <a:ext cx="1008453" cy="868680"/>
          </a:xfrm>
          <a:prstGeom prst="rect">
            <a:avLst/>
          </a:prstGeom>
          <a:solidFill>
            <a:srgbClr val="0F1012"/>
          </a:solidFill>
          <a:ln w="12700">
            <a:solidFill>
              <a:srgbClr val="4A4E55"/>
            </a:solidFill>
            <a:prstDash val="dash"/>
          </a:ln>
        </p:spPr>
      </p:sp>
      <p:sp>
        <p:nvSpPr>
          <p:cNvPr id="19" name="Text 17"/>
          <p:cNvSpPr txBox="1"/>
          <p:nvPr/>
        </p:nvSpPr>
        <p:spPr>
          <a:xfrm>
            <a:off x="5240818"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Optimise</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-O1 · M8</a:t>
            </a:r>
            <a:endParaRPr lang="en-US" sz="1300" dirty="0"/>
          </a:p>
        </p:txBody>
      </p:sp>
      <p:sp>
        <p:nvSpPr>
          <p:cNvPr id="20" name="flow"/>
          <p:cNvSpPr/>
          <p:nvPr/>
        </p:nvSpPr>
        <p:spPr>
          <a:xfrm>
            <a:off x="6267559" y="2171700"/>
            <a:ext cx="128016" cy="0"/>
          </a:xfrm>
          <a:prstGeom prst="line">
            <a:avLst/>
          </a:prstGeom>
          <a:noFill/>
          <a:ln w="12700">
            <a:solidFill>
              <a:srgbClr val="5A5E66"/>
            </a:solidFill>
            <a:prstDash val="solid"/>
            <a:tailEnd type="triangle"/>
          </a:ln>
        </p:spPr>
      </p:sp>
      <p:sp>
        <p:nvSpPr>
          <p:cNvPr id="21" name="stage"/>
          <p:cNvSpPr/>
          <p:nvPr/>
        </p:nvSpPr>
        <p:spPr>
          <a:xfrm>
            <a:off x="6413863" y="1737360"/>
            <a:ext cx="1008453" cy="868680"/>
          </a:xfrm>
          <a:prstGeom prst="rect">
            <a:avLst/>
          </a:prstGeom>
          <a:solidFill>
            <a:srgbClr val="1E2025"/>
          </a:solidFill>
          <a:ln w="12700">
            <a:solidFill>
              <a:srgbClr val="4A4E55"/>
            </a:solidFill>
            <a:prstDash val="solid"/>
          </a:ln>
        </p:spPr>
      </p:sp>
      <p:sp>
        <p:nvSpPr>
          <p:cNvPr id="22" name="Text 20"/>
          <p:cNvSpPr txBox="1"/>
          <p:nvPr/>
        </p:nvSpPr>
        <p:spPr>
          <a:xfrm>
            <a:off x="6413863"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JS emitter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M4</a:t>
            </a:r>
            <a:endParaRPr lang="en-US" sz="1300" dirty="0"/>
          </a:p>
        </p:txBody>
      </p:sp>
      <p:sp>
        <p:nvSpPr>
          <p:cNvPr id="23" name="flow"/>
          <p:cNvSpPr/>
          <p:nvPr/>
        </p:nvSpPr>
        <p:spPr>
          <a:xfrm>
            <a:off x="7440603" y="2171700"/>
            <a:ext cx="128016" cy="0"/>
          </a:xfrm>
          <a:prstGeom prst="line">
            <a:avLst/>
          </a:prstGeom>
          <a:noFill/>
          <a:ln w="12700">
            <a:solidFill>
              <a:srgbClr val="5A5E66"/>
            </a:solidFill>
            <a:prstDash val="solid"/>
            <a:tailEnd type="triangle"/>
          </a:ln>
        </p:spPr>
      </p:sp>
      <p:sp>
        <p:nvSpPr>
          <p:cNvPr id="24" name="stage"/>
          <p:cNvSpPr/>
          <p:nvPr/>
        </p:nvSpPr>
        <p:spPr>
          <a:xfrm>
            <a:off x="7586907" y="1737360"/>
            <a:ext cx="1008453" cy="868680"/>
          </a:xfrm>
          <a:prstGeom prst="rect">
            <a:avLst/>
          </a:prstGeom>
          <a:solidFill>
            <a:srgbClr val="1E2025"/>
          </a:solidFill>
          <a:ln w="12700">
            <a:solidFill>
              <a:srgbClr val="4A4E55"/>
            </a:solidFill>
            <a:prstDash val="solid"/>
          </a:ln>
        </p:spPr>
      </p:sp>
      <p:sp>
        <p:nvSpPr>
          <p:cNvPr id="25" name="Text 23"/>
          <p:cNvSpPr txBox="1"/>
          <p:nvPr/>
        </p:nvSpPr>
        <p:spPr>
          <a:xfrm>
            <a:off x="7586907" y="1737360"/>
            <a:ext cx="1008453" cy="868680"/>
          </a:xfrm>
          <a:prstGeom prst="rect">
            <a:avLst/>
          </a:prstGeom>
          <a:noFill/>
          <a:ln/>
        </p:spPr>
        <p:txBody>
          <a:bodyPr wrap="square" lIns="0" tIns="0" rIns="0" bIns="0" rtlCol="0" anchor="ctr"/>
          <a:lstStyle/>
          <a:p>
            <a:pPr algn="ctr" indent="0" marL="0">
              <a:buNone/>
            </a:pPr>
            <a:r>
              <a:rPr lang="en-US" sz="1300" b="1" dirty="0">
                <a:solidFill>
                  <a:schemeClr val="tx1"/>
                </a:solidFill>
              </a:rPr>
              <a:t>Source map</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M5–6</a:t>
            </a:r>
            <a:endParaRPr lang="en-US" sz="1300" dirty="0"/>
          </a:p>
        </p:txBody>
      </p:sp>
      <p:sp>
        <p:nvSpPr>
          <p:cNvPr id="26" name="diagnostics"/>
          <p:cNvSpPr/>
          <p:nvPr/>
        </p:nvSpPr>
        <p:spPr>
          <a:xfrm>
            <a:off x="548640" y="2834640"/>
            <a:ext cx="8046720" cy="457200"/>
          </a:xfrm>
          <a:prstGeom prst="rect">
            <a:avLst/>
          </a:prstGeom>
          <a:solidFill>
            <a:srgbClr val="0F1012"/>
          </a:solidFill>
          <a:ln w="12700">
            <a:solidFill>
              <a:srgbClr val="4A4E55"/>
            </a:solidFill>
            <a:prstDash val="solid"/>
          </a:ln>
        </p:spPr>
      </p:sp>
      <p:sp>
        <p:nvSpPr>
          <p:cNvPr id="27" name="Text 25"/>
          <p:cNvSpPr txBox="1"/>
          <p:nvPr/>
        </p:nvSpPr>
        <p:spPr>
          <a:xfrm>
            <a:off x="548640" y="2834640"/>
            <a:ext cx="804672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diagnostics.js</a:t>
            </a:r>
            <a:pPr algn="ctr" indent="0" marL="0">
              <a:buNone/>
            </a:pPr>
            <a:r>
              <a:rPr lang="en-US" sz="1300" dirty="0">
                <a:solidFill>
                  <a:schemeClr val="tx1"/>
                </a:solidFill>
              </a:rPr>
              <a:t>   errors from every phase, with carets and notes; no output after any error</a:t>
            </a:r>
            <a:endParaRPr lang="en-US" sz="1300" dirty="0"/>
          </a:p>
        </p:txBody>
      </p:sp>
      <p:sp>
        <p:nvSpPr>
          <p:cNvPr id="28" name="Text 26"/>
          <p:cNvSpPr txBox="1"/>
          <p:nvPr/>
        </p:nvSpPr>
        <p:spPr>
          <a:xfrm>
            <a:off x="548640" y="3520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2,155</a:t>
            </a:r>
            <a:endParaRPr lang="en-US" sz="3400" dirty="0"/>
          </a:p>
        </p:txBody>
      </p:sp>
      <p:sp>
        <p:nvSpPr>
          <p:cNvPr id="29" name="Text 27"/>
          <p:cNvSpPr txBox="1"/>
          <p:nvPr/>
        </p:nvSpPr>
        <p:spPr>
          <a:xfrm>
            <a:off x="548640" y="4160520"/>
            <a:ext cx="1828800" cy="411480"/>
          </a:xfrm>
          <a:prstGeom prst="rect">
            <a:avLst/>
          </a:prstGeom>
          <a:noFill/>
          <a:ln/>
        </p:spPr>
        <p:txBody>
          <a:bodyPr wrap="square" lIns="0" tIns="0" rIns="0" bIns="0" rtlCol="0" anchor="t"/>
          <a:lstStyle/>
          <a:p>
            <a:pPr indent="0" marL="0">
              <a:buNone/>
            </a:pPr>
            <a:r>
              <a:rPr lang="en-US" sz="1200" dirty="0">
                <a:solidFill>
                  <a:schemeClr val="tx2"/>
                </a:solidFill>
              </a:rPr>
              <a:t>lines of compiler source</a:t>
            </a:r>
            <a:endParaRPr lang="en-US" sz="1200" dirty="0"/>
          </a:p>
        </p:txBody>
      </p:sp>
      <p:sp>
        <p:nvSpPr>
          <p:cNvPr id="30" name="Text 28"/>
          <p:cNvSpPr txBox="1"/>
          <p:nvPr/>
        </p:nvSpPr>
        <p:spPr>
          <a:xfrm>
            <a:off x="2560320" y="3520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0</a:t>
            </a:r>
            <a:endParaRPr lang="en-US" sz="3400" dirty="0"/>
          </a:p>
        </p:txBody>
      </p:sp>
      <p:sp>
        <p:nvSpPr>
          <p:cNvPr id="31" name="Text 29"/>
          <p:cNvSpPr txBox="1"/>
          <p:nvPr/>
        </p:nvSpPr>
        <p:spPr>
          <a:xfrm>
            <a:off x="2560320" y="4160520"/>
            <a:ext cx="1828800" cy="411480"/>
          </a:xfrm>
          <a:prstGeom prst="rect">
            <a:avLst/>
          </a:prstGeom>
          <a:noFill/>
          <a:ln/>
        </p:spPr>
        <p:txBody>
          <a:bodyPr wrap="square" lIns="0" tIns="0" rIns="0" bIns="0" rtlCol="0" anchor="t"/>
          <a:lstStyle/>
          <a:p>
            <a:pPr indent="0" marL="0">
              <a:buNone/>
            </a:pPr>
            <a:r>
              <a:rPr lang="en-US" sz="1200" dirty="0">
                <a:solidFill>
                  <a:schemeClr val="tx2"/>
                </a:solidFill>
              </a:rPr>
              <a:t>dependencies</a:t>
            </a:r>
            <a:endParaRPr lang="en-US" sz="1200" dirty="0"/>
          </a:p>
        </p:txBody>
      </p:sp>
      <p:sp>
        <p:nvSpPr>
          <p:cNvPr id="32" name="Text 30"/>
          <p:cNvSpPr txBox="1"/>
          <p:nvPr/>
        </p:nvSpPr>
        <p:spPr>
          <a:xfrm>
            <a:off x="4572000" y="3520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&lt; 0.1 ms</a:t>
            </a:r>
            <a:endParaRPr lang="en-US" sz="3400" dirty="0"/>
          </a:p>
        </p:txBody>
      </p:sp>
      <p:sp>
        <p:nvSpPr>
          <p:cNvPr id="33" name="Text 31"/>
          <p:cNvSpPr txBox="1"/>
          <p:nvPr/>
        </p:nvSpPr>
        <p:spPr>
          <a:xfrm>
            <a:off x="4572000" y="4160520"/>
            <a:ext cx="1828800" cy="411480"/>
          </a:xfrm>
          <a:prstGeom prst="rect">
            <a:avLst/>
          </a:prstGeom>
          <a:noFill/>
          <a:ln/>
        </p:spPr>
        <p:txBody>
          <a:bodyPr wrap="square" lIns="0" tIns="0" rIns="0" bIns="0" rtlCol="0" anchor="t"/>
          <a:lstStyle/>
          <a:p>
            <a:pPr indent="0" marL="0">
              <a:buNone/>
            </a:pPr>
            <a:r>
              <a:rPr lang="en-US" sz="1200" dirty="0">
                <a:solidFill>
                  <a:schemeClr val="tx2"/>
                </a:solidFill>
              </a:rPr>
              <a:t>full compile per benchmark</a:t>
            </a:r>
            <a:endParaRPr lang="en-US" sz="1200" dirty="0"/>
          </a:p>
        </p:txBody>
      </p:sp>
      <p:sp>
        <p:nvSpPr>
          <p:cNvPr id="34" name="Text 32"/>
          <p:cNvSpPr txBox="1"/>
          <p:nvPr/>
        </p:nvSpPr>
        <p:spPr>
          <a:xfrm>
            <a:off x="6583680" y="3520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170</a:t>
            </a:r>
            <a:endParaRPr lang="en-US" sz="3400" dirty="0"/>
          </a:p>
        </p:txBody>
      </p:sp>
      <p:sp>
        <p:nvSpPr>
          <p:cNvPr id="35" name="Text 33"/>
          <p:cNvSpPr txBox="1"/>
          <p:nvPr/>
        </p:nvSpPr>
        <p:spPr>
          <a:xfrm>
            <a:off x="6583680" y="4160520"/>
            <a:ext cx="1828800" cy="411480"/>
          </a:xfrm>
          <a:prstGeom prst="rect">
            <a:avLst/>
          </a:prstGeom>
          <a:noFill/>
          <a:ln/>
        </p:spPr>
        <p:txBody>
          <a:bodyPr wrap="square" lIns="0" tIns="0" rIns="0" bIns="0" rtlCol="0" anchor="t"/>
          <a:lstStyle/>
          <a:p>
            <a:pPr indent="0" marL="0">
              <a:buNone/>
            </a:pPr>
            <a:r>
              <a:rPr lang="en-US" sz="1200" dirty="0">
                <a:solidFill>
                  <a:schemeClr val="tx2"/>
                </a:solidFill>
              </a:rPr>
              <a:t>tests</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07-browser · milestone 7</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Proving it in a real browser</a:t>
            </a:r>
            <a:endParaRPr lang="en-US" sz="2800" dirty="0"/>
          </a:p>
        </p:txBody>
      </p:sp>
      <p:sp>
        <p:nvSpPr>
          <p:cNvPr id="4" name="box"/>
          <p:cNvSpPr/>
          <p:nvPr/>
        </p:nvSpPr>
        <p:spPr>
          <a:xfrm>
            <a:off x="548640" y="1371600"/>
            <a:ext cx="2468880" cy="1371600"/>
          </a:xfrm>
          <a:prstGeom prst="rect">
            <a:avLst/>
          </a:prstGeom>
          <a:solidFill>
            <a:srgbClr val="0F1012"/>
          </a:solidFill>
          <a:ln w="12700">
            <a:solidFill>
              <a:srgbClr val="4A4E55"/>
            </a:solidFill>
            <a:prstDash val="solid"/>
          </a:ln>
        </p:spPr>
      </p:sp>
      <p:sp>
        <p:nvSpPr>
          <p:cNvPr id="5" name="Text 3"/>
          <p:cNvSpPr txBox="1"/>
          <p:nvPr/>
        </p:nvSpPr>
        <p:spPr>
          <a:xfrm>
            <a:off x="685800" y="1481328"/>
            <a:ext cx="2194560" cy="1152144"/>
          </a:xfrm>
          <a:prstGeom prst="rect">
            <a:avLst/>
          </a:prstGeom>
          <a:noFill/>
          <a:ln/>
        </p:spPr>
        <p:txBody>
          <a:bodyPr wrap="square" lIns="0" tIns="0" rIns="0" bIns="0" rtlCol="0" anchor="t"/>
          <a:lstStyle/>
          <a:p>
            <a:pPr indent="0" marL="0">
              <a:buNone/>
            </a:pPr>
            <a:r>
              <a:rPr lang="en-US" sz="1400" b="1" dirty="0">
                <a:solidFill>
                  <a:schemeClr val="tx1"/>
                </a:solidFill>
              </a:rPr>
              <a:t>Chrome 1: the program</a:t>
            </a:r>
            <a:endParaRPr lang="en-US" sz="1400" dirty="0"/>
          </a:p>
          <a:p>
            <a:pPr indent="0" marL="0">
              <a:buNone/>
            </a:pPr>
            <a:r>
              <a:rPr lang="en-US" sz="1200" dirty="0">
                <a:solidFill>
                  <a:schemeClr val="tx1"/>
                </a:solidFill>
              </a:rPr>
              <a:t>debug/index.html loads out/fib.js; Chrome fetches fib.js.map and shows fib.tth</a:t>
            </a:r>
            <a:endParaRPr lang="en-US" sz="1400" dirty="0"/>
          </a:p>
        </p:txBody>
      </p:sp>
      <p:sp>
        <p:nvSpPr>
          <p:cNvPr id="6" name="box"/>
          <p:cNvSpPr/>
          <p:nvPr/>
        </p:nvSpPr>
        <p:spPr>
          <a:xfrm>
            <a:off x="3337560" y="1371600"/>
            <a:ext cx="2468880" cy="1371600"/>
          </a:xfrm>
          <a:prstGeom prst="rect">
            <a:avLst/>
          </a:prstGeom>
          <a:solidFill>
            <a:srgbClr val="1E2025"/>
          </a:solidFill>
          <a:ln w="12700">
            <a:solidFill>
              <a:srgbClr val="4A4E55"/>
            </a:solidFill>
            <a:prstDash val="solid"/>
          </a:ln>
        </p:spPr>
      </p:sp>
      <p:sp>
        <p:nvSpPr>
          <p:cNvPr id="7" name="Text 5"/>
          <p:cNvSpPr txBox="1"/>
          <p:nvPr/>
        </p:nvSpPr>
        <p:spPr>
          <a:xfrm>
            <a:off x="3474720" y="1481328"/>
            <a:ext cx="2194560" cy="1152144"/>
          </a:xfrm>
          <a:prstGeom prst="rect">
            <a:avLst/>
          </a:prstGeom>
          <a:noFill/>
          <a:ln/>
        </p:spPr>
        <p:txBody>
          <a:bodyPr wrap="square" lIns="0" tIns="0" rIns="0" bIns="0" rtlCol="0" anchor="t"/>
          <a:lstStyle/>
          <a:p>
            <a:pPr indent="0" marL="0">
              <a:buNone/>
            </a:pPr>
            <a:r>
              <a:rPr lang="en-US" sz="1400" b="1" dirty="0">
                <a:solidFill>
                  <a:schemeClr val="tx1"/>
                </a:solidFill>
              </a:rPr>
              <a:t>Chrome 2: DevTools</a:t>
            </a:r>
            <a:endParaRPr lang="en-US" sz="1400" dirty="0"/>
          </a:p>
          <a:p>
            <a:pPr indent="0" marL="0">
              <a:buNone/>
            </a:pPr>
            <a:r>
              <a:rPr lang="en-US" sz="1200" dirty="0">
                <a:solidFill>
                  <a:schemeClr val="tx1"/>
                </a:solidFill>
              </a:rPr>
              <a:t>its own DevTools UI, driven by keyboard: open fib.tth, go to line, toggle breakpoint</a:t>
            </a:r>
            <a:endParaRPr lang="en-US" sz="1400" dirty="0"/>
          </a:p>
        </p:txBody>
      </p:sp>
      <p:sp>
        <p:nvSpPr>
          <p:cNvPr id="8" name="box"/>
          <p:cNvSpPr/>
          <p:nvPr/>
        </p:nvSpPr>
        <p:spPr>
          <a:xfrm>
            <a:off x="6126480" y="1371600"/>
            <a:ext cx="2468880" cy="1371600"/>
          </a:xfrm>
          <a:prstGeom prst="rect">
            <a:avLst/>
          </a:prstGeom>
          <a:solidFill>
            <a:srgbClr val="0F1012"/>
          </a:solidFill>
          <a:ln w="12700">
            <a:solidFill>
              <a:srgbClr val="4A4E55"/>
            </a:solidFill>
            <a:prstDash val="solid"/>
          </a:ln>
        </p:spPr>
      </p:sp>
      <p:sp>
        <p:nvSpPr>
          <p:cNvPr id="9" name="Text 7"/>
          <p:cNvSpPr txBox="1"/>
          <p:nvPr/>
        </p:nvSpPr>
        <p:spPr>
          <a:xfrm>
            <a:off x="6263640" y="1481328"/>
            <a:ext cx="2194560" cy="1152144"/>
          </a:xfrm>
          <a:prstGeom prst="rect">
            <a:avLst/>
          </a:prstGeom>
          <a:noFill/>
          <a:ln/>
        </p:spPr>
        <p:txBody>
          <a:bodyPr wrap="square" lIns="0" tIns="0" rIns="0" bIns="0" rtlCol="0" anchor="t"/>
          <a:lstStyle/>
          <a:p>
            <a:pPr indent="0" marL="0">
              <a:buNone/>
            </a:pPr>
            <a:r>
              <a:rPr lang="en-US" sz="1400" b="1" dirty="0">
                <a:solidFill>
                  <a:schemeClr val="tx1"/>
                </a:solidFill>
              </a:rPr>
              <a:t>Verifier (Node)</a:t>
            </a:r>
            <a:endParaRPr lang="en-US" sz="1400" dirty="0"/>
          </a:p>
          <a:p>
            <a:pPr indent="0" marL="0">
              <a:buNone/>
            </a:pPr>
            <a:r>
              <a:rPr lang="en-US" sz="1200" dirty="0">
                <a:solidFill>
                  <a:schemeClr val="tx1"/>
                </a:solidFill>
              </a:rPr>
              <a:t>reads where Chrome stopped and maps it back with an independent decoder</a:t>
            </a:r>
            <a:endParaRPr lang="en-US" sz="1400" dirty="0"/>
          </a:p>
        </p:txBody>
      </p:sp>
      <p:sp>
        <p:nvSpPr>
          <p:cNvPr id="10" name="link"/>
          <p:cNvSpPr/>
          <p:nvPr/>
        </p:nvSpPr>
        <p:spPr>
          <a:xfrm>
            <a:off x="3035808" y="2057400"/>
            <a:ext cx="283464" cy="0"/>
          </a:xfrm>
          <a:prstGeom prst="line">
            <a:avLst/>
          </a:prstGeom>
          <a:noFill/>
          <a:ln w="15240">
            <a:solidFill>
              <a:srgbClr val="5A5E66"/>
            </a:solidFill>
            <a:prstDash val="solid"/>
            <a:headEnd type="triangle"/>
            <a:tailEnd type="triangle"/>
          </a:ln>
        </p:spPr>
      </p:sp>
      <p:sp>
        <p:nvSpPr>
          <p:cNvPr id="11" name="link"/>
          <p:cNvSpPr/>
          <p:nvPr/>
        </p:nvSpPr>
        <p:spPr>
          <a:xfrm>
            <a:off x="5824728" y="2057400"/>
            <a:ext cx="283464" cy="0"/>
          </a:xfrm>
          <a:prstGeom prst="line">
            <a:avLst/>
          </a:prstGeom>
          <a:noFill/>
          <a:ln w="15240">
            <a:solidFill>
              <a:srgbClr val="5A5E66"/>
            </a:solidFill>
            <a:prstDash val="solid"/>
            <a:headEnd type="triangle"/>
            <a:tailEnd type="triangle"/>
          </a:ln>
        </p:spPr>
      </p:sp>
      <p:sp>
        <p:nvSpPr>
          <p:cNvPr id="12" name="Text 10"/>
          <p:cNvSpPr txBox="1"/>
          <p:nvPr/>
        </p:nvSpPr>
        <p:spPr>
          <a:xfrm>
            <a:off x="548640" y="3063240"/>
            <a:ext cx="8046720" cy="274320"/>
          </a:xfrm>
          <a:prstGeom prst="rect">
            <a:avLst/>
          </a:prstGeom>
          <a:noFill/>
          <a:ln/>
        </p:spPr>
        <p:txBody>
          <a:bodyPr wrap="square" lIns="0" tIns="0" rIns="0" bIns="0" rtlCol="0" anchor="t"/>
          <a:lstStyle/>
          <a:p>
            <a:pPr indent="0" marL="0">
              <a:buNone/>
            </a:pPr>
            <a:r>
              <a:rPr lang="en-US" sz="1400" b="1" dirty="0">
                <a:solidFill>
                  <a:schemeClr val="tx1"/>
                </a:solidFill>
              </a:rPr>
              <a:t>For each of 20 statements in the 4 benchmarks</a:t>
            </a:r>
            <a:endParaRPr lang="en-US" sz="1400" dirty="0"/>
          </a:p>
        </p:txBody>
      </p:sp>
      <p:sp>
        <p:nvSpPr>
          <p:cNvPr id="13" name="Text 11"/>
          <p:cNvSpPr txBox="1"/>
          <p:nvPr/>
        </p:nvSpPr>
        <p:spPr>
          <a:xfrm>
            <a:off x="548640" y="3429000"/>
            <a:ext cx="3657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14" name="Text 12"/>
          <p:cNvSpPr txBox="1"/>
          <p:nvPr/>
        </p:nvSpPr>
        <p:spPr>
          <a:xfrm>
            <a:off x="914400" y="3474720"/>
            <a:ext cx="1554480" cy="1097280"/>
          </a:xfrm>
          <a:prstGeom prst="rect">
            <a:avLst/>
          </a:prstGeom>
          <a:noFill/>
          <a:ln/>
        </p:spPr>
        <p:txBody>
          <a:bodyPr wrap="square" lIns="0" tIns="0" rIns="0" bIns="0" rtlCol="0" anchor="t"/>
          <a:lstStyle/>
          <a:p>
            <a:pPr indent="0" marL="0">
              <a:buNone/>
            </a:pPr>
            <a:r>
              <a:rPr lang="en-US" sz="1200" dirty="0">
                <a:solidFill>
                  <a:schemeClr val="tx2"/>
                </a:solidFill>
              </a:rPr>
              <a:t>A fresh tab and a fresh DevTools, so no breakpoint carries over</a:t>
            </a:r>
            <a:endParaRPr lang="en-US" sz="1200" dirty="0"/>
          </a:p>
        </p:txBody>
      </p:sp>
      <p:sp>
        <p:nvSpPr>
          <p:cNvPr id="15" name="Text 13"/>
          <p:cNvSpPr txBox="1"/>
          <p:nvPr/>
        </p:nvSpPr>
        <p:spPr>
          <a:xfrm>
            <a:off x="2560320" y="3429000"/>
            <a:ext cx="3657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2</a:t>
            </a:r>
            <a:endParaRPr lang="en-US" sz="2600" dirty="0"/>
          </a:p>
        </p:txBody>
      </p:sp>
      <p:sp>
        <p:nvSpPr>
          <p:cNvPr id="16" name="Text 14"/>
          <p:cNvSpPr txBox="1"/>
          <p:nvPr/>
        </p:nvSpPr>
        <p:spPr>
          <a:xfrm>
            <a:off x="2926080" y="3474720"/>
            <a:ext cx="1554480" cy="1097280"/>
          </a:xfrm>
          <a:prstGeom prst="rect">
            <a:avLst/>
          </a:prstGeom>
          <a:noFill/>
          <a:ln/>
        </p:spPr>
        <p:txBody>
          <a:bodyPr wrap="square" lIns="0" tIns="0" rIns="0" bIns="0" rtlCol="0" anchor="t"/>
          <a:lstStyle/>
          <a:p>
            <a:pPr indent="0" marL="0">
              <a:buNone/>
            </a:pPr>
            <a:r>
              <a:rPr lang="en-US" sz="1200" dirty="0">
                <a:solidFill>
                  <a:schemeClr val="tx2"/>
                </a:solidFill>
              </a:rPr>
              <a:t>Set the breakpoint on the .tth line through the DevTools interface</a:t>
            </a:r>
            <a:endParaRPr lang="en-US" sz="1200" dirty="0"/>
          </a:p>
        </p:txBody>
      </p:sp>
      <p:sp>
        <p:nvSpPr>
          <p:cNvPr id="17" name="Text 15"/>
          <p:cNvSpPr txBox="1"/>
          <p:nvPr/>
        </p:nvSpPr>
        <p:spPr>
          <a:xfrm>
            <a:off x="4572000" y="3429000"/>
            <a:ext cx="3657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a:t>
            </a:r>
            <a:endParaRPr lang="en-US" sz="2600" dirty="0"/>
          </a:p>
        </p:txBody>
      </p:sp>
      <p:sp>
        <p:nvSpPr>
          <p:cNvPr id="18" name="Text 16"/>
          <p:cNvSpPr txBox="1"/>
          <p:nvPr/>
        </p:nvSpPr>
        <p:spPr>
          <a:xfrm>
            <a:off x="4937760" y="3474720"/>
            <a:ext cx="1554480" cy="1097280"/>
          </a:xfrm>
          <a:prstGeom prst="rect">
            <a:avLst/>
          </a:prstGeom>
          <a:noFill/>
          <a:ln/>
        </p:spPr>
        <p:txBody>
          <a:bodyPr wrap="square" lIns="0" tIns="0" rIns="0" bIns="0" rtlCol="0" anchor="t"/>
          <a:lstStyle/>
          <a:p>
            <a:pPr indent="0" marL="0">
              <a:buNone/>
            </a:pPr>
            <a:r>
              <a:rPr lang="en-US" sz="1200" dirty="0">
                <a:solidFill>
                  <a:schemeClr val="tx2"/>
                </a:solidFill>
              </a:rPr>
              <a:t>Reload; Chrome pauses in out/&lt;name&gt;.js</a:t>
            </a:r>
            <a:endParaRPr lang="en-US" sz="1200" dirty="0"/>
          </a:p>
        </p:txBody>
      </p:sp>
      <p:sp>
        <p:nvSpPr>
          <p:cNvPr id="19" name="Text 17"/>
          <p:cNvSpPr txBox="1"/>
          <p:nvPr/>
        </p:nvSpPr>
        <p:spPr>
          <a:xfrm>
            <a:off x="6583680" y="3429000"/>
            <a:ext cx="3657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4</a:t>
            </a:r>
            <a:endParaRPr lang="en-US" sz="2600" dirty="0"/>
          </a:p>
        </p:txBody>
      </p:sp>
      <p:sp>
        <p:nvSpPr>
          <p:cNvPr id="20" name="Text 18"/>
          <p:cNvSpPr txBox="1"/>
          <p:nvPr/>
        </p:nvSpPr>
        <p:spPr>
          <a:xfrm>
            <a:off x="6949440" y="3474720"/>
            <a:ext cx="1554480" cy="1097280"/>
          </a:xfrm>
          <a:prstGeom prst="rect">
            <a:avLst/>
          </a:prstGeom>
          <a:noFill/>
          <a:ln/>
        </p:spPr>
        <p:txBody>
          <a:bodyPr wrap="square" lIns="0" tIns="0" rIns="0" bIns="0" rtlCol="0" anchor="t"/>
          <a:lstStyle/>
          <a:p>
            <a:pPr indent="0" marL="0">
              <a:buNone/>
            </a:pPr>
            <a:r>
              <a:rPr lang="en-US" sz="1200" dirty="0">
                <a:solidFill>
                  <a:schemeClr val="tx2"/>
                </a:solidFill>
              </a:rPr>
              <a:t>Map the paused position back: it must be on the same .tth line</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07-browser</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Paused on fib.tth line 14</a:t>
            </a:r>
            <a:endParaRPr lang="en-US" sz="2800" dirty="0"/>
          </a:p>
        </p:txBody>
      </p:sp>
      <p:pic>
        <p:nvPicPr>
          <p:cNvPr id="4" name="devtools-screenshot" descr="/private/tmp/claude-502/-Users-antrasingh-tether/be361dc7-4260-4b5b-a606-d36c35a7a730/scratchpad/deck/img/m7-breakpoint-fib-14.png">    </p:cNvPr>
          <p:cNvPicPr>
            <a:picLocks noChangeAspect="1"/>
          </p:cNvPicPr>
          <p:nvPr/>
        </p:nvPicPr>
        <p:blipFill>
          <a:blip r:embed="rId1"/>
          <a:stretch>
            <a:fillRect/>
          </a:stretch>
        </p:blipFill>
        <p:spPr>
          <a:xfrm>
            <a:off x="548640" y="1280160"/>
            <a:ext cx="5511918" cy="3291840"/>
          </a:xfrm>
          <a:prstGeom prst="rect">
            <a:avLst/>
          </a:prstGeom>
        </p:spPr>
      </p:pic>
      <p:sp>
        <p:nvSpPr>
          <p:cNvPr id="5" name="frame"/>
          <p:cNvSpPr/>
          <p:nvPr/>
        </p:nvSpPr>
        <p:spPr>
          <a:xfrm>
            <a:off x="548640" y="1280160"/>
            <a:ext cx="5511918" cy="3291840"/>
          </a:xfrm>
          <a:prstGeom prst="rect">
            <a:avLst/>
          </a:prstGeom>
          <a:ln w="9525">
            <a:solidFill>
              <a:srgbClr val="3A3D44"/>
            </a:solidFill>
            <a:prstDash val="solid"/>
          </a:ln>
        </p:spPr>
      </p:sp>
      <p:sp>
        <p:nvSpPr>
          <p:cNvPr id="6" name="Text 3"/>
          <p:cNvSpPr txBox="1"/>
          <p:nvPr/>
        </p:nvSpPr>
        <p:spPr>
          <a:xfrm>
            <a:off x="6334878" y="1234440"/>
            <a:ext cx="2260482"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20/20</a:t>
            </a:r>
            <a:endParaRPr lang="en-US" sz="3400" dirty="0"/>
          </a:p>
        </p:txBody>
      </p:sp>
      <p:sp>
        <p:nvSpPr>
          <p:cNvPr id="7" name="Text 4"/>
          <p:cNvSpPr txBox="1"/>
          <p:nvPr/>
        </p:nvSpPr>
        <p:spPr>
          <a:xfrm>
            <a:off x="6334878" y="1874520"/>
            <a:ext cx="2260482" cy="457200"/>
          </a:xfrm>
          <a:prstGeom prst="rect">
            <a:avLst/>
          </a:prstGeom>
          <a:noFill/>
          <a:ln/>
        </p:spPr>
        <p:txBody>
          <a:bodyPr wrap="square" lIns="0" tIns="0" rIns="0" bIns="0" rtlCol="0" anchor="t"/>
          <a:lstStyle/>
          <a:p>
            <a:pPr indent="0" marL="0">
              <a:buNone/>
            </a:pPr>
            <a:r>
              <a:rPr lang="en-US" sz="1200" dirty="0">
                <a:solidFill>
                  <a:schemeClr val="tx2"/>
                </a:solidFill>
              </a:rPr>
              <a:t>breakpoints halted on their .tth statement</a:t>
            </a:r>
            <a:endParaRPr lang="en-US" sz="1200" dirty="0"/>
          </a:p>
        </p:txBody>
      </p:sp>
      <p:sp>
        <p:nvSpPr>
          <p:cNvPr id="8" name="Text 5"/>
          <p:cNvSpPr txBox="1"/>
          <p:nvPr/>
        </p:nvSpPr>
        <p:spPr>
          <a:xfrm>
            <a:off x="6334878" y="2514600"/>
            <a:ext cx="2260482" cy="228600"/>
          </a:xfrm>
          <a:prstGeom prst="rect">
            <a:avLst/>
          </a:prstGeom>
          <a:noFill/>
          <a:ln/>
        </p:spPr>
        <p:txBody>
          <a:bodyPr wrap="square" lIns="0" tIns="0" rIns="0" bIns="0" rtlCol="0" anchor="t"/>
          <a:lstStyle/>
          <a:p>
            <a:pPr indent="0" marL="0">
              <a:buNone/>
            </a:pPr>
            <a:r>
              <a:rPr lang="en-US" sz="1400" b="1" dirty="0">
                <a:solidFill>
                  <a:schemeClr val="tx1"/>
                </a:solidFill>
              </a:rPr>
              <a:t>Breakpoints pane</a:t>
            </a:r>
            <a:endParaRPr lang="en-US" sz="1400" dirty="0"/>
          </a:p>
        </p:txBody>
      </p:sp>
      <p:sp>
        <p:nvSpPr>
          <p:cNvPr id="9" name="Text 6"/>
          <p:cNvSpPr txBox="1"/>
          <p:nvPr/>
        </p:nvSpPr>
        <p:spPr>
          <a:xfrm>
            <a:off x="6334878" y="2761488"/>
            <a:ext cx="2260482" cy="457200"/>
          </a:xfrm>
          <a:prstGeom prst="rect">
            <a:avLst/>
          </a:prstGeom>
          <a:noFill/>
          <a:ln/>
        </p:spPr>
        <p:txBody>
          <a:bodyPr wrap="square" lIns="0" tIns="0" rIns="0" bIns="0" rtlCol="0" anchor="t"/>
          <a:lstStyle/>
          <a:p>
            <a:pPr indent="0" marL="0">
              <a:buNone/>
            </a:pPr>
            <a:r>
              <a:rPr lang="en-US" sz="1250" dirty="0">
                <a:solidFill>
                  <a:schemeClr val="tx2"/>
                </a:solidFill>
              </a:rPr>
              <a:t>fib.tth, line 14</a:t>
            </a:r>
            <a:endParaRPr lang="en-US" sz="1250" dirty="0"/>
          </a:p>
        </p:txBody>
      </p:sp>
      <p:sp>
        <p:nvSpPr>
          <p:cNvPr id="10" name="Text 7"/>
          <p:cNvSpPr txBox="1"/>
          <p:nvPr/>
        </p:nvSpPr>
        <p:spPr>
          <a:xfrm>
            <a:off x="6334878" y="3200400"/>
            <a:ext cx="2260482" cy="228600"/>
          </a:xfrm>
          <a:prstGeom prst="rect">
            <a:avLst/>
          </a:prstGeom>
          <a:noFill/>
          <a:ln/>
        </p:spPr>
        <p:txBody>
          <a:bodyPr wrap="square" lIns="0" tIns="0" rIns="0" bIns="0" rtlCol="0" anchor="t"/>
          <a:lstStyle/>
          <a:p>
            <a:pPr indent="0" marL="0">
              <a:buNone/>
            </a:pPr>
            <a:r>
              <a:rPr lang="en-US" sz="1400" b="1" dirty="0">
                <a:solidFill>
                  <a:schemeClr val="tx1"/>
                </a:solidFill>
              </a:rPr>
              <a:t>Call stack</a:t>
            </a:r>
            <a:endParaRPr lang="en-US" sz="1400" dirty="0"/>
          </a:p>
        </p:txBody>
      </p:sp>
      <p:sp>
        <p:nvSpPr>
          <p:cNvPr id="11" name="Text 8"/>
          <p:cNvSpPr txBox="1"/>
          <p:nvPr/>
        </p:nvSpPr>
        <p:spPr>
          <a:xfrm>
            <a:off x="6334878" y="3447288"/>
            <a:ext cx="2260482" cy="457200"/>
          </a:xfrm>
          <a:prstGeom prst="rect">
            <a:avLst/>
          </a:prstGeom>
          <a:noFill/>
          <a:ln/>
        </p:spPr>
        <p:txBody>
          <a:bodyPr wrap="square" lIns="0" tIns="0" rIns="0" bIns="0" rtlCol="0" anchor="t"/>
          <a:lstStyle/>
          <a:p>
            <a:pPr indent="0" marL="0">
              <a:buNone/>
            </a:pPr>
            <a:r>
              <a:rPr lang="en-US" sz="1250" dirty="0">
                <a:solidFill>
                  <a:schemeClr val="tx2"/>
                </a:solidFill>
              </a:rPr>
              <a:t>fibIter fib.tth:14</a:t>
            </a:r>
            <a:endParaRPr lang="en-US" sz="1250" dirty="0"/>
          </a:p>
        </p:txBody>
      </p:sp>
      <p:sp>
        <p:nvSpPr>
          <p:cNvPr id="12" name="Text 9"/>
          <p:cNvSpPr txBox="1"/>
          <p:nvPr/>
        </p:nvSpPr>
        <p:spPr>
          <a:xfrm>
            <a:off x="6334878" y="3886200"/>
            <a:ext cx="2260482" cy="228600"/>
          </a:xfrm>
          <a:prstGeom prst="rect">
            <a:avLst/>
          </a:prstGeom>
          <a:noFill/>
          <a:ln/>
        </p:spPr>
        <p:txBody>
          <a:bodyPr wrap="square" lIns="0" tIns="0" rIns="0" bIns="0" rtlCol="0" anchor="t"/>
          <a:lstStyle/>
          <a:p>
            <a:pPr indent="0" marL="0">
              <a:buNone/>
            </a:pPr>
            <a:r>
              <a:rPr lang="en-US" sz="1400" b="1" dirty="0">
                <a:solidFill>
                  <a:schemeClr val="tx1"/>
                </a:solidFill>
              </a:rPr>
              <a:t>Scope</a:t>
            </a:r>
            <a:endParaRPr lang="en-US" sz="1400" dirty="0"/>
          </a:p>
        </p:txBody>
      </p:sp>
      <p:sp>
        <p:nvSpPr>
          <p:cNvPr id="13" name="Text 10"/>
          <p:cNvSpPr txBox="1"/>
          <p:nvPr/>
        </p:nvSpPr>
        <p:spPr>
          <a:xfrm>
            <a:off x="6334878" y="4133088"/>
            <a:ext cx="2260482" cy="457200"/>
          </a:xfrm>
          <a:prstGeom prst="rect">
            <a:avLst/>
          </a:prstGeom>
          <a:noFill/>
          <a:ln/>
        </p:spPr>
        <p:txBody>
          <a:bodyPr wrap="square" lIns="0" tIns="0" rIns="0" bIns="0" rtlCol="0" anchor="t"/>
          <a:lstStyle/>
          <a:p>
            <a:pPr indent="0" marL="0">
              <a:buNone/>
            </a:pPr>
            <a:r>
              <a:rPr lang="en-US" sz="1250" dirty="0">
                <a:solidFill>
                  <a:schemeClr val="tx2"/>
                </a:solidFill>
              </a:rPr>
              <a:t>Tether variables a, b, n</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07-browser</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Twenty statements, four programs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2011680"/>
                <a:gridCol w="4206240"/>
                <a:gridCol w="1828800"/>
              </a:tblGrid>
              <a:tr h="411480">
                <a:tc>
                  <a:txBody>
                    <a:bodyPr/>
                    <a:lstStyle/>
                    <a:p>
                      <a:pPr indent="0" marL="0">
                        <a:buNone/>
                      </a:pPr>
                      <a:r>
                        <a:rPr lang="en-US" sz="1100" b="1" dirty="0">
                          <a:solidFill>
                            <a:srgbClr val="A9ACB2"/>
                          </a:solidFill>
                        </a:rPr>
                        <a:t>Program</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Lines with a breakpoint</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Halted there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411480">
                <a:tc>
                  <a:txBody>
                    <a:bodyPr/>
                    <a:lstStyle/>
                    <a:p>
                      <a:pPr indent="0" marL="0">
                        <a:buNone/>
                      </a:pPr>
                      <a:r>
                        <a:rPr lang="en-US" sz="1300" dirty="0">
                          <a:solidFill>
                            <a:srgbClr val="E4E4E2"/>
                          </a:solidFill>
                          <a:latin typeface="Consolas" pitchFamily="34" charset="0"/>
                          <a:ea typeface="Consolas" pitchFamily="34" charset="-122"/>
                          <a:cs typeface="Consolas" pitchFamily="34" charset="-120"/>
                        </a:rPr>
                        <a:t>fib.tth</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dirty="0">
                          <a:solidFill>
                            <a:srgbClr val="E4E4E2"/>
                          </a:solidFill>
                        </a:rPr>
                        <a:t>4, 5, 7, 11, 14, 15, 18, 22, 24</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b="1" dirty="0">
                          <a:solidFill>
                            <a:srgbClr val="5CC98A"/>
                          </a:solidFill>
                        </a:rPr>
                        <a:t>9 of 9</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11480">
                <a:tc>
                  <a:txBody>
                    <a:bodyPr/>
                    <a:lstStyle/>
                    <a:p>
                      <a:pPr indent="0" marL="0">
                        <a:buNone/>
                      </a:pPr>
                      <a:r>
                        <a:rPr lang="en-US" sz="1300" dirty="0">
                          <a:solidFill>
                            <a:srgbClr val="E4E4E2"/>
                          </a:solidFill>
                          <a:latin typeface="Consolas" pitchFamily="34" charset="0"/>
                          <a:ea typeface="Consolas" pitchFamily="34" charset="-122"/>
                          <a:cs typeface="Consolas" pitchFamily="34" charset="-120"/>
                        </a:rPr>
                        <a:t>primes.tth</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dirty="0">
                          <a:solidFill>
                            <a:srgbClr val="E4E4E2"/>
                          </a:solidFill>
                        </a:rPr>
                        <a:t>7, 12, 20, 25</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b="1" dirty="0">
                          <a:solidFill>
                            <a:srgbClr val="5CC98A"/>
                          </a:solidFill>
                        </a:rPr>
                        <a:t>4 of 4</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11480">
                <a:tc>
                  <a:txBody>
                    <a:bodyPr/>
                    <a:lstStyle/>
                    <a:p>
                      <a:pPr indent="0" marL="0">
                        <a:buNone/>
                      </a:pPr>
                      <a:r>
                        <a:rPr lang="en-US" sz="1300" dirty="0">
                          <a:solidFill>
                            <a:srgbClr val="E4E4E2"/>
                          </a:solidFill>
                          <a:latin typeface="Consolas" pitchFamily="34" charset="0"/>
                          <a:ea typeface="Consolas" pitchFamily="34" charset="-122"/>
                          <a:cs typeface="Consolas" pitchFamily="34" charset="-120"/>
                        </a:rPr>
                        <a:t>collatz.tth</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dirty="0">
                          <a:solidFill>
                            <a:srgbClr val="E4E4E2"/>
                          </a:solidFill>
                        </a:rPr>
                        <a:t>8, 10, 21</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b="1" dirty="0">
                          <a:solidFill>
                            <a:srgbClr val="5CC98A"/>
                          </a:solidFill>
                        </a:rPr>
                        <a:t>3 of 3</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411480">
                <a:tc>
                  <a:txBody>
                    <a:bodyPr/>
                    <a:lstStyle/>
                    <a:p>
                      <a:pPr indent="0" marL="0">
                        <a:buNone/>
                      </a:pPr>
                      <a:r>
                        <a:rPr lang="en-US" sz="1300" dirty="0">
                          <a:solidFill>
                            <a:srgbClr val="E4E4E2"/>
                          </a:solidFill>
                          <a:latin typeface="Consolas" pitchFamily="34" charset="0"/>
                          <a:ea typeface="Consolas" pitchFamily="34" charset="-122"/>
                          <a:cs typeface="Consolas" pitchFamily="34" charset="-120"/>
                        </a:rPr>
                        <a:t>fizzbuzz.tth</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dirty="0">
                          <a:solidFill>
                            <a:srgbClr val="E4E4E2"/>
                          </a:solidFill>
                        </a:rPr>
                        <a:t>5, 15, 17, 29</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300" b="1" dirty="0">
                          <a:solidFill>
                            <a:srgbClr val="5CC98A"/>
                          </a:solidFill>
                        </a:rPr>
                        <a:t>4 of 4</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5" name="Text 2"/>
          <p:cNvSpPr txBox="1"/>
          <p:nvPr/>
        </p:nvSpPr>
        <p:spPr>
          <a:xfrm>
            <a:off x="548640" y="3520440"/>
            <a:ext cx="8046720" cy="274320"/>
          </a:xfrm>
          <a:prstGeom prst="rect">
            <a:avLst/>
          </a:prstGeom>
          <a:noFill/>
          <a:ln/>
        </p:spPr>
        <p:txBody>
          <a:bodyPr wrap="square" lIns="0" tIns="0" rIns="0" bIns="0" rtlCol="0" anchor="t"/>
          <a:lstStyle/>
          <a:p>
            <a:pPr indent="0" marL="0">
              <a:buNone/>
            </a:pPr>
            <a:r>
              <a:rPr lang="en-US" sz="1300" dirty="0">
                <a:solidFill>
                  <a:schemeClr val="tx1"/>
                </a:solidFill>
              </a:rPr>
              <a:t>Statements inside functions, loop bodies, both branches of if, and top-level code.</a:t>
            </a:r>
            <a:endParaRPr lang="en-US" sz="1300" dirty="0"/>
          </a:p>
        </p:txBody>
      </p:sp>
      <p:sp>
        <p:nvSpPr>
          <p:cNvPr id="6" name="Text 3"/>
          <p:cNvSpPr txBox="1"/>
          <p:nvPr/>
        </p:nvSpPr>
        <p:spPr>
          <a:xfrm>
            <a:off x="548640" y="3931920"/>
            <a:ext cx="8046720" cy="640080"/>
          </a:xfrm>
          <a:prstGeom prst="rect">
            <a:avLst/>
          </a:prstGeom>
          <a:noFill/>
          <a:ln/>
        </p:spPr>
        <p:txBody>
          <a:bodyPr wrap="square" lIns="0" tIns="0" rIns="0" bIns="0" rtlCol="0" anchor="t"/>
          <a:lstStyle/>
          <a:p>
            <a:pPr indent="0" marL="0">
              <a:buNone/>
            </a:pPr>
            <a:r>
              <a:rPr lang="en-US" sz="1250" i="1" dirty="0">
                <a:solidFill>
                  <a:schemeClr val="tx2"/>
                </a:solidFill>
              </a:rPr>
              <a:t>V8 sometimes stops a little later in the same statement, for example at a + b in let next = a + b. The mapped position is still inside the statement, which is what the check requires.</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07-browser</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A runtime error, reported in the original source</a:t>
            </a:r>
            <a:endParaRPr lang="en-US" sz="2800" dirty="0"/>
          </a:p>
        </p:txBody>
      </p:sp>
      <p:pic>
        <p:nvPicPr>
          <p:cNvPr id="4" name="console-screenshot" descr="/private/tmp/claude-502/-Users-antrasingh-tether/be361dc7-4260-4b5b-a606-d36c35a7a730/scratchpad/deck/img/console-crop.png">    </p:cNvPr>
          <p:cNvPicPr>
            <a:picLocks noChangeAspect="1"/>
          </p:cNvPicPr>
          <p:nvPr/>
        </p:nvPicPr>
        <p:blipFill>
          <a:blip r:embed="rId1"/>
          <a:stretch>
            <a:fillRect/>
          </a:stretch>
        </p:blipFill>
        <p:spPr>
          <a:xfrm>
            <a:off x="548640" y="1280160"/>
            <a:ext cx="8046720" cy="1296416"/>
          </a:xfrm>
          <a:prstGeom prst="rect">
            <a:avLst/>
          </a:prstGeom>
        </p:spPr>
      </p:pic>
      <p:sp>
        <p:nvSpPr>
          <p:cNvPr id="5" name="frame"/>
          <p:cNvSpPr/>
          <p:nvPr/>
        </p:nvSpPr>
        <p:spPr>
          <a:xfrm>
            <a:off x="548640" y="1280160"/>
            <a:ext cx="8046720" cy="1296416"/>
          </a:xfrm>
          <a:prstGeom prst="rect">
            <a:avLst/>
          </a:prstGeom>
          <a:ln w="9525">
            <a:solidFill>
              <a:srgbClr val="3A3D44"/>
            </a:solidFill>
            <a:prstDash val="solid"/>
          </a:ln>
        </p:spPr>
      </p:sp>
      <p:sp>
        <p:nvSpPr>
          <p:cNvPr id="6" name="Text 3"/>
          <p:cNvSpPr txBox="1"/>
          <p:nvPr/>
        </p:nvSpPr>
        <p:spPr>
          <a:xfrm>
            <a:off x="548640" y="2649728"/>
            <a:ext cx="8046720" cy="201168"/>
          </a:xfrm>
          <a:prstGeom prst="rect">
            <a:avLst/>
          </a:prstGeom>
          <a:noFill/>
          <a:ln/>
        </p:spPr>
        <p:txBody>
          <a:bodyPr wrap="square" lIns="0" tIns="0" rIns="0" bIns="0" rtlCol="0" anchor="t"/>
          <a:lstStyle/>
          <a:p>
            <a:pPr indent="0" marL="0">
              <a:buNone/>
            </a:pPr>
            <a:r>
              <a:rPr lang="en-US" sz="1050" i="1" dirty="0">
                <a:solidFill>
                  <a:schemeClr val="accent5"/>
                </a:solidFill>
              </a:rPr>
              <a:t>Chrome DevTools console, running out/stack-overflow.js</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8046720" cy="914400"/>
        </p:xfrm>
        <a:graphic>
          <a:graphicData uri="http://schemas.openxmlformats.org/drawingml/2006/table">
            <a:tbl>
              <a:tblPr/>
              <a:tblGrid>
                <a:gridCol w="914400"/>
                <a:gridCol w="2926080"/>
                <a:gridCol w="4206240"/>
              </a:tblGrid>
              <a:tr h="365760">
                <a:tc>
                  <a:txBody>
                    <a:bodyPr/>
                    <a:lstStyle/>
                    <a:p>
                      <a:pPr indent="0" marL="0">
                        <a:buNone/>
                      </a:pPr>
                      <a:r>
                        <a:rPr lang="en-US" sz="1100" b="1" dirty="0">
                          <a:solidFill>
                            <a:srgbClr val="A9ACB2"/>
                          </a:solidFill>
                        </a:rPr>
                        <a:t>Frame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Generated position</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Original position</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365760">
                <a:tc>
                  <a:txBody>
                    <a:bodyPr/>
                    <a:lstStyle/>
                    <a:p>
                      <a:pPr indent="0" marL="0">
                        <a:buNone/>
                      </a:pPr>
                      <a:r>
                        <a:rPr lang="en-US" sz="1300" dirty="0">
                          <a:solidFill>
                            <a:srgbClr val="E4E4E2"/>
                          </a:solidFill>
                          <a:latin typeface="Consolas" pitchFamily="34" charset="0"/>
                          <a:ea typeface="Consolas" pitchFamily="34" charset="-122"/>
                          <a:cs typeface="Consolas" pitchFamily="34" charset="-120"/>
                        </a:rPr>
                        <a:t>down</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00" dirty="0">
                          <a:solidFill>
                            <a:srgbClr val="E4E4E2"/>
                          </a:solidFill>
                          <a:latin typeface="Consolas" pitchFamily="34" charset="0"/>
                          <a:ea typeface="Consolas" pitchFamily="34" charset="-122"/>
                          <a:cs typeface="Consolas" pitchFamily="34" charset="-120"/>
                        </a:rPr>
                        <a:t>out/stack-overflow.js:2:14</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stack-overflow.tth:5:4 · entering down</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65760">
                <a:tc>
                  <a:txBody>
                    <a:bodyPr/>
                    <a:lstStyle/>
                    <a:p>
                      <a:pPr indent="0" marL="0">
                        <a:buNone/>
                      </a:pPr>
                      <a:r>
                        <a:rPr lang="en-US" sz="1300" dirty="0">
                          <a:solidFill>
                            <a:srgbClr val="E4E4E2"/>
                          </a:solidFill>
                          <a:latin typeface="Consolas" pitchFamily="34" charset="0"/>
                          <a:ea typeface="Consolas" pitchFamily="34" charset="-122"/>
                          <a:cs typeface="Consolas" pitchFamily="34" charset="-120"/>
                        </a:rPr>
                        <a:t>down</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00" dirty="0">
                          <a:solidFill>
                            <a:srgbClr val="E4E4E2"/>
                          </a:solidFill>
                          <a:latin typeface="Consolas" pitchFamily="34" charset="0"/>
                          <a:ea typeface="Consolas" pitchFamily="34" charset="-122"/>
                          <a:cs typeface="Consolas" pitchFamily="34" charset="-120"/>
                        </a:rPr>
                        <a:t>out/stack-overflow.js:3:10</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stack-overflow.tth:6:10 · recursive call</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8" name="Text 4"/>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350" dirty="0">
                <a:solidFill>
                  <a:schemeClr val="tx1"/>
                </a:solidFill>
              </a:rPr>
              <a:t>AC-5: the stack trace names the .tth file and line, and each frame links to it.</a:t>
            </a:r>
            <a:endParaRPr lang="en-US" sz="13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08-optimise · milestone 8</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-O1: fold constants, remove dead code</a:t>
            </a:r>
            <a:endParaRPr lang="en-US" sz="2800" dirty="0"/>
          </a:p>
        </p:txBody>
      </p:sp>
      <p:sp>
        <p:nvSpPr>
          <p:cNvPr id="4" name="Text 2"/>
          <p:cNvSpPr txBox="1"/>
          <p:nvPr/>
        </p:nvSpPr>
        <p:spPr>
          <a:xfrm>
            <a:off x="548640" y="1280160"/>
            <a:ext cx="3840480" cy="228600"/>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-O0</a:t>
            </a:r>
            <a:endParaRPr lang="en-US" sz="1200" dirty="0"/>
          </a:p>
        </p:txBody>
      </p:sp>
      <p:sp>
        <p:nvSpPr>
          <p:cNvPr id="5" name="code"/>
          <p:cNvSpPr/>
          <p:nvPr/>
        </p:nvSpPr>
        <p:spPr>
          <a:xfrm>
            <a:off x="548640" y="1554480"/>
            <a:ext cx="3931920" cy="2514600"/>
          </a:xfrm>
          <a:prstGeom prst="rect">
            <a:avLst/>
          </a:prstGeom>
          <a:solidFill>
            <a:srgbClr val="1E2025"/>
          </a:solidFill>
          <a:ln w="9525">
            <a:solidFill>
              <a:srgbClr val="2E3138"/>
            </a:solidFill>
          </a:ln>
        </p:spPr>
      </p:sp>
      <p:sp>
        <p:nvSpPr>
          <p:cNvPr id="6" name="Text 4"/>
          <p:cNvSpPr txBox="1"/>
          <p:nvPr/>
        </p:nvSpPr>
        <p:spPr>
          <a:xfrm>
            <a:off x="731520" y="1700784"/>
            <a:ext cx="3566160" cy="2221992"/>
          </a:xfrm>
          <a:prstGeom prst="rect">
            <a:avLst/>
          </a:prstGeom>
          <a:noFill/>
          <a:ln/>
        </p:spPr>
        <p:txBody>
          <a:bodyPr wrap="square" lIns="0" tIns="0" rIns="0" bIns="0" rtlCol="0" anchor="t"/>
          <a:lstStyle/>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let secondsPerDay = </a:t>
            </a:r>
            <a:pPr indent="0" marL="0">
              <a:lnSpc>
                <a:spcPct val="105000"/>
              </a:lnSpc>
              <a:buNone/>
            </a:pPr>
            <a:r>
              <a:rPr lang="en-US" sz="1000" dirty="0">
                <a:solidFill>
                  <a:srgbClr val="F0B54A"/>
                </a:solidFill>
                <a:latin typeface="Consolas" pitchFamily="34" charset="0"/>
                <a:ea typeface="Consolas" pitchFamily="34" charset="-122"/>
                <a:cs typeface="Consolas" pitchFamily="34" charset="-120"/>
              </a:rPr>
              <a:t>24 * 60 * 60</a:t>
            </a:r>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if (1 &gt; 2) {</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  console.log("never");</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while (false) {</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  console.log("never either");</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if (true ? 3 &lt; 4 : false) {</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  console.log("always");</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 else {</a:t>
            </a:r>
            <a:endParaRPr lang="en-US" sz="1000" dirty="0"/>
          </a:p>
          <a:p>
            <a:pPr indent="0" marL="0">
              <a:lnSpc>
                <a:spcPct val="105000"/>
              </a:lnSpc>
              <a:buNone/>
            </a:pPr>
            <a:r>
              <a:rPr lang="en-US" sz="1000" dirty="0">
                <a:solidFill>
                  <a:srgbClr val="FF6F6B"/>
                </a:solidFill>
                <a:latin typeface="Consolas" pitchFamily="34" charset="0"/>
                <a:ea typeface="Consolas" pitchFamily="34" charset="-122"/>
                <a:cs typeface="Consolas" pitchFamily="34" charset="-120"/>
              </a:rPr>
              <a:t>  console.log("never");</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console.log(area(2, 3) + </a:t>
            </a:r>
            <a:pPr indent="0" marL="0">
              <a:lnSpc>
                <a:spcPct val="105000"/>
              </a:lnSpc>
              <a:buNone/>
            </a:pPr>
            <a:r>
              <a:rPr lang="en-US" sz="1000" dirty="0">
                <a:solidFill>
                  <a:srgbClr val="F0B54A"/>
                </a:solidFill>
                <a:latin typeface="Consolas" pitchFamily="34" charset="0"/>
                <a:ea typeface="Consolas" pitchFamily="34" charset="-122"/>
                <a:cs typeface="Consolas" pitchFamily="34" charset="-120"/>
              </a:rPr>
              <a:t>Math.trunc(10 / 3)</a:t>
            </a:r>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console.log(</a:t>
            </a:r>
            <a:pPr indent="0" marL="0">
              <a:lnSpc>
                <a:spcPct val="105000"/>
              </a:lnSpc>
              <a:buNone/>
            </a:pPr>
            <a:r>
              <a:rPr lang="en-US" sz="1000" dirty="0">
                <a:solidFill>
                  <a:srgbClr val="F0B54A"/>
                </a:solidFill>
                <a:latin typeface="Consolas" pitchFamily="34" charset="0"/>
                <a:ea typeface="Consolas" pitchFamily="34" charset="-122"/>
                <a:cs typeface="Consolas" pitchFamily="34" charset="-120"/>
              </a:rPr>
              <a:t>"tether" + "-" + "o1"</a:t>
            </a:r>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p:txBody>
      </p:sp>
      <p:sp>
        <p:nvSpPr>
          <p:cNvPr id="7" name="Text 5"/>
          <p:cNvSpPr txBox="1"/>
          <p:nvPr/>
        </p:nvSpPr>
        <p:spPr>
          <a:xfrm>
            <a:off x="4663440" y="1280160"/>
            <a:ext cx="3840480" cy="228600"/>
          </a:xfrm>
          <a:prstGeom prst="rect">
            <a:avLst/>
          </a:prstGeom>
          <a:noFill/>
          <a:ln/>
        </p:spPr>
        <p:txBody>
          <a:bodyPr wrap="square" lIns="0" tIns="0" rIns="0" bIns="0" rtlCol="0" anchor="t"/>
          <a:lstStyle/>
          <a:p>
            <a:pPr indent="0" marL="0">
              <a:buNone/>
            </a:pPr>
            <a:r>
              <a:rPr lang="en-US" sz="1200" b="1" dirty="0">
                <a:solidFill>
                  <a:schemeClr val="tx1"/>
                </a:solidFill>
                <a:latin typeface="Consolas" pitchFamily="34" charset="0"/>
                <a:ea typeface="Consolas" pitchFamily="34" charset="-122"/>
                <a:cs typeface="Consolas" pitchFamily="34" charset="-120"/>
              </a:rPr>
              <a:t>-O1</a:t>
            </a:r>
            <a:endParaRPr lang="en-US" sz="1200" dirty="0"/>
          </a:p>
        </p:txBody>
      </p:sp>
      <p:sp>
        <p:nvSpPr>
          <p:cNvPr id="8" name="code"/>
          <p:cNvSpPr/>
          <p:nvPr/>
        </p:nvSpPr>
        <p:spPr>
          <a:xfrm>
            <a:off x="4663440" y="1554480"/>
            <a:ext cx="3931920" cy="2514600"/>
          </a:xfrm>
          <a:prstGeom prst="rect">
            <a:avLst/>
          </a:prstGeom>
          <a:solidFill>
            <a:srgbClr val="1E2025"/>
          </a:solidFill>
          <a:ln w="9525">
            <a:solidFill>
              <a:srgbClr val="2E3138"/>
            </a:solidFill>
          </a:ln>
        </p:spPr>
      </p:sp>
      <p:sp>
        <p:nvSpPr>
          <p:cNvPr id="9" name="Text 7"/>
          <p:cNvSpPr txBox="1"/>
          <p:nvPr/>
        </p:nvSpPr>
        <p:spPr>
          <a:xfrm>
            <a:off x="4846320" y="1700784"/>
            <a:ext cx="3566160" cy="2221992"/>
          </a:xfrm>
          <a:prstGeom prst="rect">
            <a:avLst/>
          </a:prstGeom>
          <a:noFill/>
          <a:ln/>
        </p:spPr>
        <p:txBody>
          <a:bodyPr wrap="square" lIns="0" tIns="0" rIns="0" bIns="0" rtlCol="0" anchor="t"/>
          <a:lstStyle/>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let secondsPerDay = </a:t>
            </a:r>
            <a:pPr indent="0" marL="0">
              <a:lnSpc>
                <a:spcPct val="105000"/>
              </a:lnSpc>
              <a:buNone/>
            </a:pPr>
            <a:r>
              <a:rPr lang="en-US" sz="1000" dirty="0">
                <a:solidFill>
                  <a:srgbClr val="F0B54A"/>
                </a:solidFill>
                <a:latin typeface="Consolas" pitchFamily="34" charset="0"/>
                <a:ea typeface="Consolas" pitchFamily="34" charset="-122"/>
                <a:cs typeface="Consolas" pitchFamily="34" charset="-120"/>
              </a:rPr>
              <a:t>86400</a:t>
            </a:r>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  console.log("always");</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console.log(secondsPerDay);</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console.log(area(2, 3) + </a:t>
            </a:r>
            <a:pPr indent="0" marL="0">
              <a:lnSpc>
                <a:spcPct val="105000"/>
              </a:lnSpc>
              <a:buNone/>
            </a:pPr>
            <a:r>
              <a:rPr lang="en-US" sz="1000" dirty="0">
                <a:solidFill>
                  <a:srgbClr val="F0B54A"/>
                </a:solidFill>
                <a:latin typeface="Consolas" pitchFamily="34" charset="0"/>
                <a:ea typeface="Consolas" pitchFamily="34" charset="-122"/>
                <a:cs typeface="Consolas" pitchFamily="34" charset="-120"/>
              </a:rPr>
              <a:t>3</a:t>
            </a:r>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console.log(</a:t>
            </a:r>
            <a:pPr indent="0" marL="0">
              <a:lnSpc>
                <a:spcPct val="105000"/>
              </a:lnSpc>
              <a:buNone/>
            </a:pPr>
            <a:r>
              <a:rPr lang="en-US" sz="1000" dirty="0">
                <a:solidFill>
                  <a:srgbClr val="F0B54A"/>
                </a:solidFill>
                <a:latin typeface="Consolas" pitchFamily="34" charset="0"/>
                <a:ea typeface="Consolas" pitchFamily="34" charset="-122"/>
                <a:cs typeface="Consolas" pitchFamily="34" charset="-120"/>
              </a:rPr>
              <a:t>"tether-o1"</a:t>
            </a:r>
            <a:pPr indent="0" marL="0">
              <a:lnSpc>
                <a:spcPct val="105000"/>
              </a:lnSpc>
              <a:buNone/>
            </a:pPr>
            <a:r>
              <a:rPr lang="en-US" sz="1000" dirty="0">
                <a:solidFill>
                  <a:srgbClr val="E4E4E2"/>
                </a:solidFill>
                <a:latin typeface="Consolas" pitchFamily="34" charset="0"/>
                <a:ea typeface="Consolas" pitchFamily="34" charset="-122"/>
                <a:cs typeface="Consolas" pitchFamily="34" charset="-120"/>
              </a:rPr>
              <a:t>);</a:t>
            </a:r>
            <a:endParaRPr lang="en-US" sz="1000" dirty="0"/>
          </a:p>
        </p:txBody>
      </p:sp>
      <p:sp>
        <p:nvSpPr>
          <p:cNvPr id="10" name="Text 8"/>
          <p:cNvSpPr txBox="1"/>
          <p:nvPr/>
        </p:nvSpPr>
        <p:spPr>
          <a:xfrm>
            <a:off x="548640" y="4206240"/>
            <a:ext cx="8046720" cy="457200"/>
          </a:xfrm>
          <a:prstGeom prst="rect">
            <a:avLst/>
          </a:prstGeom>
          <a:noFill/>
          <a:ln/>
        </p:spPr>
        <p:txBody>
          <a:bodyPr wrap="square" lIns="0" tIns="0" rIns="0" bIns="0" rtlCol="0" anchor="t"/>
          <a:lstStyle/>
          <a:p>
            <a:pPr indent="0" marL="0">
              <a:buNone/>
            </a:pPr>
            <a:r>
              <a:rPr lang="en-US" sz="1250" dirty="0">
                <a:solidFill>
                  <a:schemeClr val="tx2"/>
                </a:solidFill>
              </a:rPr>
              <a:t>Same output at both levels, always. Folding is skipped where JavaScript would differ: division by zero, unsafe integers, −0. A folded value keeps the span of the whole expression (FR-O2).</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08-fidelity</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What -O1 costs the debugger</a:t>
            </a:r>
            <a:endParaRPr lang="en-US" sz="2800" dirty="0"/>
          </a:p>
        </p:txBody>
      </p:sp>
      <p:graphicFrame>
        <p:nvGraphicFramePr>
          <p:cNvPr id="4" name="Chart 0" descr=""/>
          <p:cNvGraphicFramePr/>
          <p:nvPr/>
        </p:nvGraphicFramePr>
        <p:xfrm>
          <a:off x="457200" y="123444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852160" y="1371600"/>
            <a:ext cx="2743200" cy="228600"/>
          </a:xfrm>
          <a:prstGeom prst="rect">
            <a:avLst/>
          </a:prstGeom>
          <a:noFill/>
          <a:ln/>
        </p:spPr>
        <p:txBody>
          <a:bodyPr wrap="square" lIns="0" tIns="0" rIns="0" bIns="0" rtlCol="0" anchor="t"/>
          <a:lstStyle/>
          <a:p>
            <a:pPr indent="0" marL="0">
              <a:buNone/>
            </a:pPr>
            <a:r>
              <a:rPr lang="en-US" sz="1400" b="1" dirty="0">
                <a:solidFill>
                  <a:schemeClr val="tx1"/>
                </a:solidFill>
              </a:rPr>
              <a:t>Benchmarks: no loss</a:t>
            </a:r>
            <a:endParaRPr lang="en-US" sz="1400" dirty="0"/>
          </a:p>
        </p:txBody>
      </p:sp>
      <p:sp>
        <p:nvSpPr>
          <p:cNvPr id="6" name="Text 3"/>
          <p:cNvSpPr txBox="1"/>
          <p:nvPr/>
        </p:nvSpPr>
        <p:spPr>
          <a:xfrm>
            <a:off x="5852160" y="1618488"/>
            <a:ext cx="2743200" cy="457200"/>
          </a:xfrm>
          <a:prstGeom prst="rect">
            <a:avLst/>
          </a:prstGeom>
          <a:noFill/>
          <a:ln/>
        </p:spPr>
        <p:txBody>
          <a:bodyPr wrap="square" lIns="0" tIns="0" rIns="0" bIns="0" rtlCol="0" anchor="t"/>
          <a:lstStyle/>
          <a:p>
            <a:pPr indent="0" marL="0">
              <a:buNone/>
            </a:pPr>
            <a:r>
              <a:rPr lang="en-US" sz="1250" dirty="0">
                <a:solidFill>
                  <a:schemeClr val="tx2"/>
                </a:solidFill>
              </a:rPr>
              <a:t>nothing to fold or remove, so the JavaScript is identical at both levels</a:t>
            </a:r>
            <a:endParaRPr lang="en-US" sz="1250" dirty="0"/>
          </a:p>
        </p:txBody>
      </p:sp>
      <p:sp>
        <p:nvSpPr>
          <p:cNvPr id="7" name="Text 4"/>
          <p:cNvSpPr txBox="1"/>
          <p:nvPr/>
        </p:nvSpPr>
        <p:spPr>
          <a:xfrm>
            <a:off x="5852160" y="2240280"/>
            <a:ext cx="2743200" cy="228600"/>
          </a:xfrm>
          <a:prstGeom prst="rect">
            <a:avLst/>
          </a:prstGeom>
          <a:noFill/>
          <a:ln/>
        </p:spPr>
        <p:txBody>
          <a:bodyPr wrap="square" lIns="0" tIns="0" rIns="0" bIns="0" rtlCol="0" anchor="t"/>
          <a:lstStyle/>
          <a:p>
            <a:pPr indent="0" marL="0">
              <a:buNone/>
            </a:pPr>
            <a:r>
              <a:rPr lang="en-US" sz="1400" b="1" dirty="0">
                <a:solidFill>
                  <a:schemeClr val="tx1"/>
                </a:solidFill>
              </a:rPr>
              <a:t>optimisable.tth: 14 → 7</a:t>
            </a:r>
            <a:endParaRPr lang="en-US" sz="1400" dirty="0"/>
          </a:p>
        </p:txBody>
      </p:sp>
      <p:sp>
        <p:nvSpPr>
          <p:cNvPr id="8" name="Text 5"/>
          <p:cNvSpPr txBox="1"/>
          <p:nvPr/>
        </p:nvSpPr>
        <p:spPr>
          <a:xfrm>
            <a:off x="5852160" y="2487168"/>
            <a:ext cx="2743200" cy="457200"/>
          </a:xfrm>
          <a:prstGeom prst="rect">
            <a:avLst/>
          </a:prstGeom>
          <a:noFill/>
          <a:ln/>
        </p:spPr>
        <p:txBody>
          <a:bodyPr wrap="square" lIns="0" tIns="0" rIns="0" bIns="0" rtlCol="0" anchor="t"/>
          <a:lstStyle/>
          <a:p>
            <a:pPr indent="0" marL="0">
              <a:buNone/>
            </a:pPr>
            <a:r>
              <a:rPr lang="en-US" sz="1250" dirty="0">
                <a:solidFill>
                  <a:schemeClr val="tx2"/>
                </a:solidFill>
              </a:rPr>
              <a:t>8 expressions folded, 7 statements removed</a:t>
            </a:r>
            <a:endParaRPr lang="en-US" sz="1250" dirty="0"/>
          </a:p>
        </p:txBody>
      </p:sp>
      <p:sp>
        <p:nvSpPr>
          <p:cNvPr id="9" name="Text 6"/>
          <p:cNvSpPr txBox="1"/>
          <p:nvPr/>
        </p:nvSpPr>
        <p:spPr>
          <a:xfrm>
            <a:off x="5852160" y="3108960"/>
            <a:ext cx="2743200" cy="228600"/>
          </a:xfrm>
          <a:prstGeom prst="rect">
            <a:avLst/>
          </a:prstGeom>
          <a:noFill/>
          <a:ln/>
        </p:spPr>
        <p:txBody>
          <a:bodyPr wrap="square" lIns="0" tIns="0" rIns="0" bIns="0" rtlCol="0" anchor="t"/>
          <a:lstStyle/>
          <a:p>
            <a:pPr indent="0" marL="0">
              <a:buNone/>
            </a:pPr>
            <a:r>
              <a:rPr lang="en-US" sz="1400" b="1" dirty="0">
                <a:solidFill>
                  <a:schemeClr val="tx1"/>
                </a:solidFill>
              </a:rPr>
              <a:t>The real cost</a:t>
            </a:r>
            <a:endParaRPr lang="en-US" sz="1400" dirty="0"/>
          </a:p>
        </p:txBody>
      </p:sp>
      <p:sp>
        <p:nvSpPr>
          <p:cNvPr id="10" name="Text 7"/>
          <p:cNvSpPr txBox="1"/>
          <p:nvPr/>
        </p:nvSpPr>
        <p:spPr>
          <a:xfrm>
            <a:off x="5852160" y="3355848"/>
            <a:ext cx="2743200" cy="457200"/>
          </a:xfrm>
          <a:prstGeom prst="rect">
            <a:avLst/>
          </a:prstGeom>
          <a:noFill/>
          <a:ln/>
        </p:spPr>
        <p:txBody>
          <a:bodyPr wrap="square" lIns="0" tIns="0" rIns="0" bIns="0" rtlCol="0" anchor="t"/>
          <a:lstStyle/>
          <a:p>
            <a:pPr indent="0" marL="0">
              <a:buNone/>
            </a:pPr>
            <a:r>
              <a:rPr lang="en-US" sz="1250" dirty="0">
                <a:solidFill>
                  <a:schemeClr val="tx2"/>
                </a:solidFill>
              </a:rPr>
              <a:t>removed code mostly never ran; but a breakpoint on a folded if line no longer stops</a:t>
            </a:r>
            <a:endParaRPr lang="en-US" sz="1250" dirty="0"/>
          </a:p>
        </p:txBody>
      </p:sp>
      <p:sp>
        <p:nvSpPr>
          <p:cNvPr id="11" name="Text 8"/>
          <p:cNvSpPr txBox="1"/>
          <p:nvPr/>
        </p:nvSpPr>
        <p:spPr>
          <a:xfrm>
            <a:off x="5852160" y="4206240"/>
            <a:ext cx="2743200" cy="228600"/>
          </a:xfrm>
          <a:prstGeom prst="rect">
            <a:avLst/>
          </a:prstGeom>
          <a:noFill/>
          <a:ln/>
        </p:spPr>
        <p:txBody>
          <a:bodyPr wrap="square" lIns="0" tIns="0" rIns="0" bIns="0" rtlCol="0" anchor="t"/>
          <a:lstStyle/>
          <a:p>
            <a:pPr indent="0" marL="0">
              <a:buNone/>
            </a:pPr>
            <a:r>
              <a:rPr lang="en-US" sz="1050" dirty="0">
                <a:solidFill>
                  <a:schemeClr val="accent5"/>
                </a:solidFill>
                <a:latin typeface="Consolas" pitchFamily="34" charset="0"/>
                <a:ea typeface="Consolas" pitchFamily="34" charset="-122"/>
                <a:cs typeface="Consolas" pitchFamily="34" charset="-120"/>
              </a:rPr>
              <a:t>--map-report · docs/fidelity.md</a:t>
            </a:r>
            <a:endParaRPr lang="en-US" sz="10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tests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170 tests, and four kinds of evidence</a:t>
            </a:r>
            <a:endParaRPr lang="en-US" sz="2800" dirty="0"/>
          </a:p>
        </p:txBody>
      </p:sp>
      <p:graphicFrame>
        <p:nvGraphicFramePr>
          <p:cNvPr id="4" name="Chart 0" descr=""/>
          <p:cNvGraphicFramePr/>
          <p:nvPr/>
        </p:nvGraphicFramePr>
        <p:xfrm>
          <a:off x="457200" y="123444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0" y="1325880"/>
            <a:ext cx="2926080" cy="228600"/>
          </a:xfrm>
          <a:prstGeom prst="rect">
            <a:avLst/>
          </a:prstGeom>
          <a:noFill/>
          <a:ln/>
        </p:spPr>
        <p:txBody>
          <a:bodyPr wrap="square" lIns="0" tIns="0" rIns="0" bIns="0" rtlCol="0" anchor="t"/>
          <a:lstStyle/>
          <a:p>
            <a:pPr indent="0" marL="0">
              <a:buNone/>
            </a:pPr>
            <a:r>
              <a:rPr lang="en-US" sz="1400" b="1" dirty="0">
                <a:solidFill>
                  <a:schemeClr val="tx1"/>
                </a:solidFill>
              </a:rPr>
              <a:t>Unit tests per phase</a:t>
            </a:r>
            <a:endParaRPr lang="en-US" sz="1400" dirty="0"/>
          </a:p>
        </p:txBody>
      </p:sp>
      <p:sp>
        <p:nvSpPr>
          <p:cNvPr id="6" name="Text 3"/>
          <p:cNvSpPr txBox="1"/>
          <p:nvPr/>
        </p:nvSpPr>
        <p:spPr>
          <a:xfrm>
            <a:off x="5669280" y="1572768"/>
            <a:ext cx="2926080" cy="457200"/>
          </a:xfrm>
          <a:prstGeom prst="rect">
            <a:avLst/>
          </a:prstGeom>
          <a:noFill/>
          <a:ln/>
        </p:spPr>
        <p:txBody>
          <a:bodyPr wrap="square" lIns="0" tIns="0" rIns="0" bIns="0" rtlCol="0" anchor="t"/>
          <a:lstStyle/>
          <a:p>
            <a:pPr indent="0" marL="0">
              <a:buNone/>
            </a:pPr>
            <a:r>
              <a:rPr lang="en-US" sz="1250" dirty="0">
                <a:solidFill>
                  <a:schemeClr val="tx2"/>
                </a:solidFill>
              </a:rPr>
              <a:t>a failure points at one module (NFR-6)</a:t>
            </a:r>
            <a:endParaRPr lang="en-US" sz="1250" dirty="0"/>
          </a:p>
        </p:txBody>
      </p:sp>
      <p:sp>
        <p:nvSpPr>
          <p:cNvPr id="7" name="Text 4"/>
          <p:cNvSpPr txBox="1"/>
          <p:nvPr/>
        </p:nvSpPr>
        <p:spPr>
          <a:xfrm>
            <a:off x="5669280" y="2057400"/>
            <a:ext cx="2926080" cy="228600"/>
          </a:xfrm>
          <a:prstGeom prst="rect">
            <a:avLst/>
          </a:prstGeom>
          <a:noFill/>
          <a:ln/>
        </p:spPr>
        <p:txBody>
          <a:bodyPr wrap="square" lIns="0" tIns="0" rIns="0" bIns="0" rtlCol="0" anchor="t"/>
          <a:lstStyle/>
          <a:p>
            <a:pPr indent="0" marL="0">
              <a:buNone/>
            </a:pPr>
            <a:r>
              <a:rPr lang="en-US" sz="1400" b="1" dirty="0">
                <a:solidFill>
                  <a:schemeClr val="tx1"/>
                </a:solidFill>
              </a:rPr>
              <a:t>Golden files</a:t>
            </a:r>
            <a:endParaRPr lang="en-US" sz="1400" dirty="0"/>
          </a:p>
        </p:txBody>
      </p:sp>
      <p:sp>
        <p:nvSpPr>
          <p:cNvPr id="8" name="Text 5"/>
          <p:cNvSpPr txBox="1"/>
          <p:nvPr/>
        </p:nvSpPr>
        <p:spPr>
          <a:xfrm>
            <a:off x="5669280" y="2304288"/>
            <a:ext cx="2926080" cy="457200"/>
          </a:xfrm>
          <a:prstGeom prst="rect">
            <a:avLst/>
          </a:prstGeom>
          <a:noFill/>
          <a:ln/>
        </p:spPr>
        <p:txBody>
          <a:bodyPr wrap="square" lIns="0" tIns="0" rIns="0" bIns="0" rtlCol="0" anchor="t"/>
          <a:lstStyle/>
          <a:p>
            <a:pPr indent="0" marL="0">
              <a:buNone/>
            </a:pPr>
            <a:r>
              <a:rPr lang="en-US" sz="1250" dirty="0">
                <a:solidFill>
                  <a:schemeClr val="tx2"/>
                </a:solidFill>
              </a:rPr>
              <a:t>every dump, .js and .js.map compared byte for byte</a:t>
            </a:r>
            <a:endParaRPr lang="en-US" sz="1250" dirty="0"/>
          </a:p>
        </p:txBody>
      </p:sp>
      <p:sp>
        <p:nvSpPr>
          <p:cNvPr id="9" name="Text 6"/>
          <p:cNvSpPr txBox="1"/>
          <p:nvPr/>
        </p:nvSpPr>
        <p:spPr>
          <a:xfrm>
            <a:off x="5669280" y="2788920"/>
            <a:ext cx="2926080" cy="228600"/>
          </a:xfrm>
          <a:prstGeom prst="rect">
            <a:avLst/>
          </a:prstGeom>
          <a:noFill/>
          <a:ln/>
        </p:spPr>
        <p:txBody>
          <a:bodyPr wrap="square" lIns="0" tIns="0" rIns="0" bIns="0" rtlCol="0" anchor="t"/>
          <a:lstStyle/>
          <a:p>
            <a:pPr indent="0" marL="0">
              <a:buNone/>
            </a:pPr>
            <a:r>
              <a:rPr lang="en-US" sz="1400" b="1" dirty="0">
                <a:solidFill>
                  <a:schemeClr val="tx1"/>
                </a:solidFill>
              </a:rPr>
              <a:t>Independent decoder</a:t>
            </a:r>
            <a:endParaRPr lang="en-US" sz="1400" dirty="0"/>
          </a:p>
        </p:txBody>
      </p:sp>
      <p:sp>
        <p:nvSpPr>
          <p:cNvPr id="10" name="Text 7"/>
          <p:cNvSpPr txBox="1"/>
          <p:nvPr/>
        </p:nvSpPr>
        <p:spPr>
          <a:xfrm>
            <a:off x="5669280" y="3035808"/>
            <a:ext cx="2926080" cy="457200"/>
          </a:xfrm>
          <a:prstGeom prst="rect">
            <a:avLst/>
          </a:prstGeom>
          <a:noFill/>
          <a:ln/>
        </p:spPr>
        <p:txBody>
          <a:bodyPr wrap="square" lIns="0" tIns="0" rIns="0" bIns="0" rtlCol="0" anchor="t"/>
          <a:lstStyle/>
          <a:p>
            <a:pPr indent="0" marL="0">
              <a:buNone/>
            </a:pPr>
            <a:r>
              <a:rPr lang="en-US" sz="1250" dirty="0">
                <a:solidFill>
                  <a:schemeClr val="tx2"/>
                </a:solidFill>
              </a:rPr>
              <a:t>Node's SourceMap agrees with every mapping</a:t>
            </a:r>
            <a:endParaRPr lang="en-US" sz="1250" dirty="0"/>
          </a:p>
        </p:txBody>
      </p:sp>
      <p:sp>
        <p:nvSpPr>
          <p:cNvPr id="11" name="Text 8"/>
          <p:cNvSpPr txBox="1"/>
          <p:nvPr/>
        </p:nvSpPr>
        <p:spPr>
          <a:xfrm>
            <a:off x="5669280" y="3520440"/>
            <a:ext cx="2926080" cy="228600"/>
          </a:xfrm>
          <a:prstGeom prst="rect">
            <a:avLst/>
          </a:prstGeom>
          <a:noFill/>
          <a:ln/>
        </p:spPr>
        <p:txBody>
          <a:bodyPr wrap="square" lIns="0" tIns="0" rIns="0" bIns="0" rtlCol="0" anchor="t"/>
          <a:lstStyle/>
          <a:p>
            <a:pPr indent="0" marL="0">
              <a:buNone/>
            </a:pPr>
            <a:r>
              <a:rPr lang="en-US" sz="1400" b="1" dirty="0">
                <a:solidFill>
                  <a:schemeClr val="tx1"/>
                </a:solidFill>
              </a:rPr>
              <a:t>Real browser</a:t>
            </a:r>
            <a:endParaRPr lang="en-US" sz="1400" dirty="0"/>
          </a:p>
        </p:txBody>
      </p:sp>
      <p:sp>
        <p:nvSpPr>
          <p:cNvPr id="12" name="Text 9"/>
          <p:cNvSpPr txBox="1"/>
          <p:nvPr/>
        </p:nvSpPr>
        <p:spPr>
          <a:xfrm>
            <a:off x="5669280" y="3767328"/>
            <a:ext cx="2926080" cy="457200"/>
          </a:xfrm>
          <a:prstGeom prst="rect">
            <a:avLst/>
          </a:prstGeom>
          <a:noFill/>
          <a:ln/>
        </p:spPr>
        <p:txBody>
          <a:bodyPr wrap="square" lIns="0" tIns="0" rIns="0" bIns="0" rtlCol="0" anchor="t"/>
          <a:lstStyle/>
          <a:p>
            <a:pPr indent="0" marL="0">
              <a:buNone/>
            </a:pPr>
            <a:r>
              <a:rPr lang="en-US" sz="1250" dirty="0">
                <a:solidFill>
                  <a:schemeClr val="tx2"/>
                </a:solidFill>
              </a:rPr>
              <a:t>npm run verify:browser drives Chrome DevTools</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playground</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Playground: the whole compiler, live</a:t>
            </a:r>
            <a:endParaRPr lang="en-US" sz="2800" dirty="0"/>
          </a:p>
        </p:txBody>
      </p:sp>
      <p:pic>
        <p:nvPicPr>
          <p:cNvPr id="4" name="screenshot" descr="/private/tmp/claude-502/-Users-antrasingh-tether/be361dc7-4260-4b5b-a606-d36c35a7a730/scratchpad/deck/img/pg-o1.png">    </p:cNvPr>
          <p:cNvPicPr>
            <a:picLocks noChangeAspect="1"/>
          </p:cNvPicPr>
          <p:nvPr/>
        </p:nvPicPr>
        <p:blipFill>
          <a:blip r:embed="rId1"/>
          <a:stretch>
            <a:fillRect/>
          </a:stretch>
        </p:blipFill>
        <p:spPr>
          <a:xfrm>
            <a:off x="548640" y="1280160"/>
            <a:ext cx="5620215" cy="3291840"/>
          </a:xfrm>
          <a:prstGeom prst="rect">
            <a:avLst/>
          </a:prstGeom>
        </p:spPr>
      </p:pic>
      <p:sp>
        <p:nvSpPr>
          <p:cNvPr id="5" name="frame"/>
          <p:cNvSpPr/>
          <p:nvPr/>
        </p:nvSpPr>
        <p:spPr>
          <a:xfrm>
            <a:off x="548640" y="1280160"/>
            <a:ext cx="5620215" cy="3291840"/>
          </a:xfrm>
          <a:prstGeom prst="rect">
            <a:avLst/>
          </a:prstGeom>
          <a:ln w="9525">
            <a:solidFill>
              <a:srgbClr val="3A3D44"/>
            </a:solidFill>
            <a:prstDash val="solid"/>
          </a:ln>
        </p:spPr>
      </p:sp>
      <p:sp>
        <p:nvSpPr>
          <p:cNvPr id="6" name="Text 3"/>
          <p:cNvSpPr txBox="1"/>
          <p:nvPr/>
        </p:nvSpPr>
        <p:spPr>
          <a:xfrm>
            <a:off x="6443175" y="1325880"/>
            <a:ext cx="2152185" cy="228600"/>
          </a:xfrm>
          <a:prstGeom prst="rect">
            <a:avLst/>
          </a:prstGeom>
          <a:noFill/>
          <a:ln/>
        </p:spPr>
        <p:txBody>
          <a:bodyPr wrap="square" lIns="0" tIns="0" rIns="0" bIns="0" rtlCol="0" anchor="t"/>
          <a:lstStyle/>
          <a:p>
            <a:pPr indent="0" marL="0">
              <a:buNone/>
            </a:pPr>
            <a:r>
              <a:rPr lang="en-US" sz="1400" b="1" dirty="0">
                <a:solidFill>
                  <a:schemeClr val="tx1"/>
                </a:solidFill>
              </a:rPr>
              <a:t>Every phase, live</a:t>
            </a:r>
            <a:endParaRPr lang="en-US" sz="1400" dirty="0"/>
          </a:p>
        </p:txBody>
      </p:sp>
      <p:sp>
        <p:nvSpPr>
          <p:cNvPr id="7" name="Text 4"/>
          <p:cNvSpPr txBox="1"/>
          <p:nvPr/>
        </p:nvSpPr>
        <p:spPr>
          <a:xfrm>
            <a:off x="6443175" y="1572768"/>
            <a:ext cx="2152185" cy="457200"/>
          </a:xfrm>
          <a:prstGeom prst="rect">
            <a:avLst/>
          </a:prstGeom>
          <a:noFill/>
          <a:ln/>
        </p:spPr>
        <p:txBody>
          <a:bodyPr wrap="square" lIns="0" tIns="0" rIns="0" bIns="0" rtlCol="0" anchor="t"/>
          <a:lstStyle/>
          <a:p>
            <a:pPr indent="0" marL="0">
              <a:buNone/>
            </a:pPr>
            <a:r>
              <a:rPr lang="en-US" sz="1250" dirty="0">
                <a:solidFill>
                  <a:schemeClr val="tx2"/>
                </a:solidFill>
              </a:rPr>
              <a:t>click a phase in the pipeline to open it</a:t>
            </a:r>
            <a:endParaRPr lang="en-US" sz="1250" dirty="0"/>
          </a:p>
        </p:txBody>
      </p:sp>
      <p:sp>
        <p:nvSpPr>
          <p:cNvPr id="8" name="Text 5"/>
          <p:cNvSpPr txBox="1"/>
          <p:nvPr/>
        </p:nvSpPr>
        <p:spPr>
          <a:xfrm>
            <a:off x="6443175" y="2148840"/>
            <a:ext cx="2152185" cy="228600"/>
          </a:xfrm>
          <a:prstGeom prst="rect">
            <a:avLst/>
          </a:prstGeom>
          <a:noFill/>
          <a:ln/>
        </p:spPr>
        <p:txBody>
          <a:bodyPr wrap="square" lIns="0" tIns="0" rIns="0" bIns="0" rtlCol="0" anchor="t"/>
          <a:lstStyle/>
          <a:p>
            <a:pPr indent="0" marL="0">
              <a:buNone/>
            </a:pPr>
            <a:r>
              <a:rPr lang="en-US" sz="1400" b="1" dirty="0">
                <a:solidFill>
                  <a:schemeClr val="tx1"/>
                </a:solidFill>
              </a:rPr>
              <a:t>-O1 switch</a:t>
            </a:r>
            <a:endParaRPr lang="en-US" sz="1400" dirty="0"/>
          </a:p>
        </p:txBody>
      </p:sp>
      <p:sp>
        <p:nvSpPr>
          <p:cNvPr id="9" name="Text 6"/>
          <p:cNvSpPr txBox="1"/>
          <p:nvPr/>
        </p:nvSpPr>
        <p:spPr>
          <a:xfrm>
            <a:off x="6443175" y="2395728"/>
            <a:ext cx="2152185" cy="457200"/>
          </a:xfrm>
          <a:prstGeom prst="rect">
            <a:avLst/>
          </a:prstGeom>
          <a:noFill/>
          <a:ln/>
        </p:spPr>
        <p:txBody>
          <a:bodyPr wrap="square" lIns="0" tIns="0" rIns="0" bIns="0" rtlCol="0" anchor="t"/>
          <a:lstStyle/>
          <a:p>
            <a:pPr indent="0" marL="0">
              <a:buNone/>
            </a:pPr>
            <a:r>
              <a:rPr lang="en-US" sz="1250" dirty="0">
                <a:solidFill>
                  <a:schemeClr val="tx2"/>
                </a:solidFill>
              </a:rPr>
              <a:t>shows what was folded and removed</a:t>
            </a:r>
            <a:endParaRPr lang="en-US" sz="1250" dirty="0"/>
          </a:p>
        </p:txBody>
      </p:sp>
      <p:sp>
        <p:nvSpPr>
          <p:cNvPr id="10" name="Text 7"/>
          <p:cNvSpPr txBox="1"/>
          <p:nvPr/>
        </p:nvSpPr>
        <p:spPr>
          <a:xfrm>
            <a:off x="6443175" y="2971800"/>
            <a:ext cx="2152185" cy="228600"/>
          </a:xfrm>
          <a:prstGeom prst="rect">
            <a:avLst/>
          </a:prstGeom>
          <a:noFill/>
          <a:ln/>
        </p:spPr>
        <p:txBody>
          <a:bodyPr wrap="square" lIns="0" tIns="0" rIns="0" bIns="0" rtlCol="0" anchor="t"/>
          <a:lstStyle/>
          <a:p>
            <a:pPr indent="0" marL="0">
              <a:buNone/>
            </a:pPr>
            <a:r>
              <a:rPr lang="en-US" sz="1400" b="1" dirty="0">
                <a:solidFill>
                  <a:schemeClr val="tx1"/>
                </a:solidFill>
              </a:rPr>
              <a:t>Run</a:t>
            </a:r>
            <a:endParaRPr lang="en-US" sz="1400" dirty="0"/>
          </a:p>
        </p:txBody>
      </p:sp>
      <p:sp>
        <p:nvSpPr>
          <p:cNvPr id="11" name="Text 8"/>
          <p:cNvSpPr txBox="1"/>
          <p:nvPr/>
        </p:nvSpPr>
        <p:spPr>
          <a:xfrm>
            <a:off x="6443175" y="3218688"/>
            <a:ext cx="2152185" cy="457200"/>
          </a:xfrm>
          <a:prstGeom prst="rect">
            <a:avLst/>
          </a:prstGeom>
          <a:noFill/>
          <a:ln/>
        </p:spPr>
        <p:txBody>
          <a:bodyPr wrap="square" lIns="0" tIns="0" rIns="0" bIns="0" rtlCol="0" anchor="t"/>
          <a:lstStyle/>
          <a:p>
            <a:pPr indent="0" marL="0">
              <a:buNone/>
            </a:pPr>
            <a:r>
              <a:rPr lang="en-US" sz="1250" dirty="0">
                <a:solidFill>
                  <a:schemeClr val="tx2"/>
                </a:solidFill>
              </a:rPr>
              <a:t>executes the generated program</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limits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Limitations and future work</a:t>
            </a:r>
            <a:endParaRPr lang="en-US" sz="2800" dirty="0"/>
          </a:p>
        </p:txBody>
      </p:sp>
      <p:sp>
        <p:nvSpPr>
          <p:cNvPr id="4" name="Text 2"/>
          <p:cNvSpPr txBox="1"/>
          <p:nvPr/>
        </p:nvSpPr>
        <p:spPr>
          <a:xfrm>
            <a:off x="548640" y="1325880"/>
            <a:ext cx="3840480" cy="274320"/>
          </a:xfrm>
          <a:prstGeom prst="rect">
            <a:avLst/>
          </a:prstGeom>
          <a:noFill/>
          <a:ln/>
        </p:spPr>
        <p:txBody>
          <a:bodyPr wrap="square" lIns="0" tIns="0" rIns="0" bIns="0" rtlCol="0" anchor="t"/>
          <a:lstStyle/>
          <a:p>
            <a:pPr indent="0" marL="0">
              <a:buNone/>
            </a:pPr>
            <a:r>
              <a:rPr lang="en-US" sz="1600" b="1" dirty="0">
                <a:solidFill>
                  <a:schemeClr val="tx1"/>
                </a:solidFill>
              </a:rPr>
              <a:t>Limitations</a:t>
            </a:r>
            <a:endParaRPr lang="en-US" sz="1600" dirty="0"/>
          </a:p>
        </p:txBody>
      </p:sp>
      <p:sp>
        <p:nvSpPr>
          <p:cNvPr id="5" name="Text 3"/>
          <p:cNvSpPr txBox="1"/>
          <p:nvPr/>
        </p:nvSpPr>
        <p:spPr>
          <a:xfrm>
            <a:off x="548640" y="1691640"/>
            <a:ext cx="3931920" cy="2834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Mappings cover statements and identifiers, not every sub-expression</a:t>
            </a:r>
            <a:endParaRPr lang="en-US" sz="1300" dirty="0"/>
          </a:p>
          <a:p>
            <a:pPr marL="177800" indent="-177800">
              <a:spcAft>
                <a:spcPts val="600"/>
              </a:spcAft>
              <a:buSzPct val="100000"/>
              <a:buChar char="•"/>
            </a:pPr>
            <a:r>
              <a:rPr lang="en-US" sz="1300" dirty="0">
                <a:solidFill>
                  <a:schemeClr val="tx2"/>
                </a:solidFill>
              </a:rPr>
              <a:t>Verified on Chrome 155 and Node 25; Firefox and Node 18 not tested separately</a:t>
            </a:r>
            <a:endParaRPr lang="en-US" sz="1300" dirty="0"/>
          </a:p>
          <a:p>
            <a:pPr marL="177800" indent="-177800">
              <a:spcAft>
                <a:spcPts val="600"/>
              </a:spcAft>
              <a:buSzPct val="100000"/>
              <a:buChar char="•"/>
            </a:pPr>
            <a:r>
              <a:rPr lang="en-US" sz="1300" dirty="0">
                <a:solidFill>
                  <a:schemeClr val="tx2"/>
                </a:solidFill>
              </a:rPr>
              <a:t>The benchmarks have nothing for -O1 to remove, so their measured loss is zero by construction</a:t>
            </a:r>
            <a:endParaRPr lang="en-US" sz="1300" dirty="0"/>
          </a:p>
          <a:p>
            <a:pPr marL="177800" indent="-177800">
              <a:spcAft>
                <a:spcPts val="600"/>
              </a:spcAft>
              <a:buSzPct val="100000"/>
              <a:buChar char="•"/>
            </a:pPr>
            <a:r>
              <a:rPr lang="en-US" sz="1300" dirty="0">
                <a:solidFill>
                  <a:schemeClr val="tx2"/>
                </a:solidFill>
              </a:rPr>
              <a:t>A deliberately small language: no arrays, closures or modules; integers are JavaScript numbers</a:t>
            </a:r>
            <a:endParaRPr lang="en-US" sz="1300" dirty="0"/>
          </a:p>
        </p:txBody>
      </p:sp>
      <p:sp>
        <p:nvSpPr>
          <p:cNvPr id="6" name="Text 4"/>
          <p:cNvSpPr txBox="1"/>
          <p:nvPr/>
        </p:nvSpPr>
        <p:spPr>
          <a:xfrm>
            <a:off x="4754880" y="1325880"/>
            <a:ext cx="3840480" cy="274320"/>
          </a:xfrm>
          <a:prstGeom prst="rect">
            <a:avLst/>
          </a:prstGeom>
          <a:noFill/>
          <a:ln/>
        </p:spPr>
        <p:txBody>
          <a:bodyPr wrap="square" lIns="0" tIns="0" rIns="0" bIns="0" rtlCol="0" anchor="t"/>
          <a:lstStyle/>
          <a:p>
            <a:pPr indent="0" marL="0">
              <a:buNone/>
            </a:pPr>
            <a:r>
              <a:rPr lang="en-US" sz="1600" b="1" dirty="0">
                <a:solidFill>
                  <a:schemeClr val="tx1"/>
                </a:solidFill>
              </a:rPr>
              <a:t>Future work</a:t>
            </a:r>
            <a:endParaRPr lang="en-US" sz="1600" dirty="0"/>
          </a:p>
        </p:txBody>
      </p:sp>
      <p:sp>
        <p:nvSpPr>
          <p:cNvPr id="7" name="Text 5"/>
          <p:cNvSpPr txBox="1"/>
          <p:nvPr/>
        </p:nvSpPr>
        <p:spPr>
          <a:xfrm>
            <a:off x="4754880" y="1691640"/>
            <a:ext cx="3840480" cy="2834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Expression-level mappings for more precise stack-trace columns (PRD open question 1)</a:t>
            </a:r>
            <a:endParaRPr lang="en-US" sz="1300" dirty="0"/>
          </a:p>
          <a:p>
            <a:pPr marL="177800" indent="-177800">
              <a:spcAft>
                <a:spcPts val="600"/>
              </a:spcAft>
              <a:buSzPct val="100000"/>
              <a:buChar char="•"/>
            </a:pPr>
            <a:r>
              <a:rPr lang="en-US" sz="1300" dirty="0">
                <a:solidFill>
                  <a:schemeClr val="tx2"/>
                </a:solidFill>
              </a:rPr>
              <a:t>Run the browser verification in Firefox as well</a:t>
            </a:r>
            <a:endParaRPr lang="en-US" sz="1300" dirty="0"/>
          </a:p>
          <a:p>
            <a:pPr marL="177800" indent="-177800">
              <a:spcAft>
                <a:spcPts val="600"/>
              </a:spcAft>
              <a:buSzPct val="100000"/>
              <a:buChar char="•"/>
            </a:pPr>
            <a:r>
              <a:rPr lang="en-US" sz="1300" dirty="0">
                <a:solidFill>
                  <a:schemeClr val="tx2"/>
                </a:solidFill>
              </a:rPr>
              <a:t>Constant propagation, with rules that keep mappings for code that still runs</a:t>
            </a:r>
            <a:endParaRPr lang="en-US" sz="1300" dirty="0"/>
          </a:p>
          <a:p>
            <a:pPr marL="177800" indent="-177800">
              <a:spcAft>
                <a:spcPts val="600"/>
              </a:spcAft>
              <a:buSzPct val="100000"/>
              <a:buChar char="•"/>
            </a:pPr>
            <a:r>
              <a:rPr lang="en-US" sz="1300" dirty="0">
                <a:solidFill>
                  <a:schemeClr val="tx2"/>
                </a:solidFill>
              </a:rPr>
              <a:t>Emit scope information, so debuggers can show the original variable names everywhere</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conclusion</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What this project shows</a:t>
            </a:r>
            <a:endParaRPr lang="en-US" sz="2800" dirty="0"/>
          </a:p>
        </p:txBody>
      </p:sp>
      <p:sp>
        <p:nvSpPr>
          <p:cNvPr id="4" name="Text 2"/>
          <p:cNvSpPr txBox="1"/>
          <p:nvPr/>
        </p:nvSpPr>
        <p:spPr>
          <a:xfrm>
            <a:off x="548640" y="1252728"/>
            <a:ext cx="4572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1097280" y="1325880"/>
            <a:ext cx="7498080" cy="292608"/>
          </a:xfrm>
          <a:prstGeom prst="rect">
            <a:avLst/>
          </a:prstGeom>
          <a:noFill/>
          <a:ln/>
        </p:spPr>
        <p:txBody>
          <a:bodyPr wrap="square" lIns="0" tIns="0" rIns="0" bIns="0" rtlCol="0" anchor="t"/>
          <a:lstStyle/>
          <a:p>
            <a:pPr indent="0" marL="0">
              <a:buNone/>
            </a:pPr>
            <a:r>
              <a:rPr lang="en-US" sz="1600" b="1" dirty="0">
                <a:solidFill>
                  <a:schemeClr val="tx1"/>
                </a:solidFill>
              </a:rPr>
              <a:t>Positions have to be designed in from the first token</a:t>
            </a:r>
            <a:endParaRPr lang="en-US" sz="1600" dirty="0"/>
          </a:p>
        </p:txBody>
      </p:sp>
      <p:sp>
        <p:nvSpPr>
          <p:cNvPr id="6" name="Text 4"/>
          <p:cNvSpPr txBox="1"/>
          <p:nvPr/>
        </p:nvSpPr>
        <p:spPr>
          <a:xfrm>
            <a:off x="1097280" y="1655064"/>
            <a:ext cx="7498080" cy="548640"/>
          </a:xfrm>
          <a:prstGeom prst="rect">
            <a:avLst/>
          </a:prstGeom>
          <a:noFill/>
          <a:ln/>
        </p:spPr>
        <p:txBody>
          <a:bodyPr wrap="square" lIns="0" tIns="0" rIns="0" bIns="0" rtlCol="0" anchor="t"/>
          <a:lstStyle/>
          <a:p>
            <a:pPr indent="0" marL="0">
              <a:buNone/>
            </a:pPr>
            <a:r>
              <a:rPr lang="en-US" sz="1300" dirty="0">
                <a:solidFill>
                  <a:schemeClr val="tx2"/>
                </a:solidFill>
              </a:rPr>
              <a:t>Every token and node carries a span, and exactly one function turns positions 0-based. Nothing was patched on at the end.</a:t>
            </a:r>
            <a:endParaRPr lang="en-US" sz="1300" dirty="0"/>
          </a:p>
        </p:txBody>
      </p:sp>
      <p:sp>
        <p:nvSpPr>
          <p:cNvPr id="7" name="Text 5"/>
          <p:cNvSpPr txBox="1"/>
          <p:nvPr/>
        </p:nvSpPr>
        <p:spPr>
          <a:xfrm>
            <a:off x="548640" y="2304288"/>
            <a:ext cx="4572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8" name="Text 6"/>
          <p:cNvSpPr txBox="1"/>
          <p:nvPr/>
        </p:nvSpPr>
        <p:spPr>
          <a:xfrm>
            <a:off x="1097280" y="2377440"/>
            <a:ext cx="7498080" cy="292608"/>
          </a:xfrm>
          <a:prstGeom prst="rect">
            <a:avLst/>
          </a:prstGeom>
          <a:noFill/>
          <a:ln/>
        </p:spPr>
        <p:txBody>
          <a:bodyPr wrap="square" lIns="0" tIns="0" rIns="0" bIns="0" rtlCol="0" anchor="t"/>
          <a:lstStyle/>
          <a:p>
            <a:pPr indent="0" marL="0">
              <a:buNone/>
            </a:pPr>
            <a:r>
              <a:rPr lang="en-US" sz="1600" b="1" dirty="0">
                <a:solidFill>
                  <a:schemeClr val="tx1"/>
                </a:solidFill>
              </a:rPr>
              <a:t>A claim about a source map needs independent evidence</a:t>
            </a:r>
            <a:endParaRPr lang="en-US" sz="1600" dirty="0"/>
          </a:p>
        </p:txBody>
      </p:sp>
      <p:sp>
        <p:nvSpPr>
          <p:cNvPr id="9" name="Text 7"/>
          <p:cNvSpPr txBox="1"/>
          <p:nvPr/>
        </p:nvSpPr>
        <p:spPr>
          <a:xfrm>
            <a:off x="1097280" y="2706624"/>
            <a:ext cx="7498080" cy="548640"/>
          </a:xfrm>
          <a:prstGeom prst="rect">
            <a:avLst/>
          </a:prstGeom>
          <a:noFill/>
          <a:ln/>
        </p:spPr>
        <p:txBody>
          <a:bodyPr wrap="square" lIns="0" tIns="0" rIns="0" bIns="0" rtlCol="0" anchor="t"/>
          <a:lstStyle/>
          <a:p>
            <a:pPr indent="0" marL="0">
              <a:buNone/>
            </a:pPr>
            <a:r>
              <a:rPr lang="en-US" sz="1300" dirty="0">
                <a:solidFill>
                  <a:schemeClr val="tx2"/>
                </a:solidFill>
              </a:rPr>
              <a:t>Node's decoder and Chrome's own DevTools, not my code, confirm that the map is right.</a:t>
            </a:r>
            <a:endParaRPr lang="en-US" sz="1300" dirty="0"/>
          </a:p>
        </p:txBody>
      </p:sp>
      <p:sp>
        <p:nvSpPr>
          <p:cNvPr id="10" name="Text 8"/>
          <p:cNvSpPr txBox="1"/>
          <p:nvPr/>
        </p:nvSpPr>
        <p:spPr>
          <a:xfrm>
            <a:off x="548640" y="3355848"/>
            <a:ext cx="4572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1" name="Text 9"/>
          <p:cNvSpPr txBox="1"/>
          <p:nvPr/>
        </p:nvSpPr>
        <p:spPr>
          <a:xfrm>
            <a:off x="1097280" y="3429000"/>
            <a:ext cx="7498080" cy="292608"/>
          </a:xfrm>
          <a:prstGeom prst="rect">
            <a:avLst/>
          </a:prstGeom>
          <a:noFill/>
          <a:ln/>
        </p:spPr>
        <p:txBody>
          <a:bodyPr wrap="square" lIns="0" tIns="0" rIns="0" bIns="0" rtlCol="0" anchor="t"/>
          <a:lstStyle/>
          <a:p>
            <a:pPr indent="0" marL="0">
              <a:buNone/>
            </a:pPr>
            <a:r>
              <a:rPr lang="en-US" sz="1600" b="1" dirty="0">
                <a:solidFill>
                  <a:schemeClr val="tx1"/>
                </a:solidFill>
              </a:rPr>
              <a:t>Optimisation and debuggability trade off, measurably</a:t>
            </a:r>
            <a:endParaRPr lang="en-US" sz="1600" dirty="0"/>
          </a:p>
        </p:txBody>
      </p:sp>
      <p:sp>
        <p:nvSpPr>
          <p:cNvPr id="12" name="Text 10"/>
          <p:cNvSpPr txBox="1"/>
          <p:nvPr/>
        </p:nvSpPr>
        <p:spPr>
          <a:xfrm>
            <a:off x="1097280" y="3758184"/>
            <a:ext cx="7498080" cy="548640"/>
          </a:xfrm>
          <a:prstGeom prst="rect">
            <a:avLst/>
          </a:prstGeom>
          <a:noFill/>
          <a:ln/>
        </p:spPr>
        <p:txBody>
          <a:bodyPr wrap="square" lIns="0" tIns="0" rIns="0" bIns="0" rtlCol="0" anchor="t"/>
          <a:lstStyle/>
          <a:p>
            <a:pPr indent="0" marL="0">
              <a:buNone/>
            </a:pPr>
            <a:r>
              <a:rPr lang="en-US" sz="1300" dirty="0">
                <a:solidFill>
                  <a:schemeClr val="tx2"/>
                </a:solidFill>
              </a:rPr>
              <a:t>Removed code loses its mappings: 100% to 50% on the test program, 0% loss where nothing is removed.</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demo</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Live demo</a:t>
            </a:r>
            <a:endParaRPr lang="en-US" sz="2800" dirty="0"/>
          </a:p>
        </p:txBody>
      </p:sp>
      <p:sp>
        <p:nvSpPr>
          <p:cNvPr id="4" name="code"/>
          <p:cNvSpPr/>
          <p:nvPr/>
        </p:nvSpPr>
        <p:spPr>
          <a:xfrm>
            <a:off x="548640" y="1280160"/>
            <a:ext cx="8046720" cy="3017520"/>
          </a:xfrm>
          <a:prstGeom prst="rect">
            <a:avLst/>
          </a:prstGeom>
          <a:solidFill>
            <a:srgbClr val="1E2025"/>
          </a:solidFill>
          <a:ln w="9525">
            <a:solidFill>
              <a:srgbClr val="2E3138"/>
            </a:solidFill>
          </a:ln>
        </p:spPr>
      </p:sp>
      <p:sp>
        <p:nvSpPr>
          <p:cNvPr id="5" name="Text 3"/>
          <p:cNvSpPr txBox="1"/>
          <p:nvPr/>
        </p:nvSpPr>
        <p:spPr>
          <a:xfrm>
            <a:off x="731520" y="1426464"/>
            <a:ext cx="7680960" cy="2724912"/>
          </a:xfrm>
          <a:prstGeom prst="rect">
            <a:avLst/>
          </a:prstGeom>
          <a:noFill/>
          <a:ln/>
        </p:spPr>
        <p:txBody>
          <a:bodyPr wrap="square" lIns="0" tIns="0" rIns="0" bIns="0" rtlCol="0" anchor="t"/>
          <a:lstStyle/>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1  compile and run</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node bin/tether.js build examples/fib.tth &amp;&amp; node out/fib.js</a:t>
            </a:r>
            <a:endParaRPr lang="en-US" sz="1250" dirty="0"/>
          </a:p>
          <a:p>
            <a:pPr indent="0" marL="0">
              <a:lnSpc>
                <a:spcPct val="105000"/>
              </a:lnSpc>
              <a:buNone/>
            </a:pPr>
            <a:endParaRPr lang="en-US" sz="1250" dirty="0"/>
          </a:p>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2  -O1 and the fidelity report</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node bin/tether.js build test/fixtures/optimisable.tth --map-report</a:t>
            </a:r>
            <a:endParaRPr lang="en-US" sz="1250" dirty="0"/>
          </a:p>
          <a:p>
            <a:pPr indent="0" marL="0">
              <a:lnSpc>
                <a:spcPct val="105000"/>
              </a:lnSpc>
              <a:buNone/>
            </a:pPr>
            <a:endParaRPr lang="en-US" sz="1250" dirty="0"/>
          </a:p>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3  breakpoints in Chrome DevTools</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npm run build:examples &amp;&amp; npm run playground</a:t>
            </a:r>
            <a:endParaRPr lang="en-US" sz="1250" dirty="0"/>
          </a:p>
          <a:p>
            <a:pPr indent="0" marL="0">
              <a:lnSpc>
                <a:spcPct val="105000"/>
              </a:lnSpc>
              <a:buNone/>
            </a:pPr>
            <a:r>
              <a:rPr lang="en-US" sz="1250" dirty="0">
                <a:solidFill>
                  <a:srgbClr val="F0B54A"/>
                </a:solidFill>
                <a:latin typeface="Consolas" pitchFamily="34" charset="0"/>
                <a:ea typeface="Consolas" pitchFamily="34" charset="-122"/>
                <a:cs typeface="Consolas" pitchFamily="34" charset="-120"/>
              </a:rPr>
              <a:t>  open localhost:5173/debug/?program=fib, set a breakpoint on line 14</a:t>
            </a:r>
            <a:endParaRPr lang="en-US" sz="1250" dirty="0"/>
          </a:p>
          <a:p>
            <a:pPr indent="0" marL="0">
              <a:lnSpc>
                <a:spcPct val="105000"/>
              </a:lnSpc>
              <a:buNone/>
            </a:pPr>
            <a:endParaRPr lang="en-US" sz="1250" dirty="0"/>
          </a:p>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4  the playground with -O1</a:t>
            </a:r>
            <a:endParaRPr lang="en-US" sz="1250" dirty="0"/>
          </a:p>
        </p:txBody>
      </p:sp>
      <p:sp>
        <p:nvSpPr>
          <p:cNvPr id="6" name="Text 4"/>
          <p:cNvSpPr txBox="1"/>
          <p:nvPr/>
        </p:nvSpPr>
        <p:spPr>
          <a:xfrm>
            <a:off x="548640" y="4389120"/>
            <a:ext cx="8046720" cy="228600"/>
          </a:xfrm>
          <a:prstGeom prst="rect">
            <a:avLst/>
          </a:prstGeom>
          <a:noFill/>
          <a:ln/>
        </p:spPr>
        <p:txBody>
          <a:bodyPr wrap="square" lIns="0" tIns="0" rIns="0" bIns="0" rtlCol="0" anchor="t"/>
          <a:lstStyle/>
          <a:p>
            <a:pPr indent="0" marL="0">
              <a:buNone/>
            </a:pPr>
            <a:r>
              <a:rPr lang="en-US" sz="1200" i="1" dirty="0">
                <a:solidFill>
                  <a:schemeClr val="accent5"/>
                </a:solidFill>
              </a:rPr>
              <a:t>All commands are in REVIEW-DEMO.md. If the live browser step fails, docs/browser-verification.md has the screenshots.</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references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References</a:t>
            </a:r>
            <a:endParaRPr lang="en-US" sz="2800" dirty="0"/>
          </a:p>
        </p:txBody>
      </p:sp>
      <p:sp>
        <p:nvSpPr>
          <p:cNvPr id="4" name="Text 2"/>
          <p:cNvSpPr txBox="1"/>
          <p:nvPr/>
        </p:nvSpPr>
        <p:spPr>
          <a:xfrm>
            <a:off x="548640" y="1280160"/>
            <a:ext cx="8046720" cy="3291840"/>
          </a:xfrm>
          <a:prstGeom prst="rect">
            <a:avLst/>
          </a:prstGeom>
          <a:noFill/>
          <a:ln/>
        </p:spPr>
        <p:txBody>
          <a:bodyPr wrap="square" lIns="0" tIns="0" rIns="0" bIns="0" rtlCol="0" anchor="t"/>
          <a:lstStyle/>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[1]  </a:t>
            </a:r>
            <a:pPr indent="0" marL="0">
              <a:spcAft>
                <a:spcPts val="500"/>
              </a:spcAft>
              <a:buNone/>
            </a:pPr>
            <a:r>
              <a:rPr lang="en-US" sz="1150" dirty="0">
                <a:solidFill>
                  <a:schemeClr val="tx1"/>
                </a:solidFill>
              </a:rPr>
              <a:t>A. V. Aho, M. S. Lam, R. Sethi, J. D. Ullman. Compilers: Principles, Techniques, and Tools, 2nd ed. Addison-Wesley, 2006.</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[2]  </a:t>
            </a:r>
            <a:pPr indent="0" marL="0">
              <a:spcAft>
                <a:spcPts val="500"/>
              </a:spcAft>
              <a:buNone/>
            </a:pPr>
            <a:r>
              <a:rPr lang="en-US" sz="1150" dirty="0">
                <a:solidFill>
                  <a:schemeClr val="tx1"/>
                </a:solidFill>
              </a:rPr>
              <a:t>V. R. Pratt. “Top Down Operator Precedence.” Proc. 1st ACM Symposium on Principles of Programming Languages (POPL), 1973.</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[3]  </a:t>
            </a:r>
            <a:pPr indent="0" marL="0">
              <a:spcAft>
                <a:spcPts val="500"/>
              </a:spcAft>
              <a:buNone/>
            </a:pPr>
            <a:r>
              <a:rPr lang="en-US" sz="1150" dirty="0">
                <a:solidFill>
                  <a:schemeClr val="tx1"/>
                </a:solidFill>
              </a:rPr>
              <a:t>K. Clarke. “The Top-Down Parsing of Expressions.” Tech. report, Queen Mary College, University of London, 1986.</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[4]  </a:t>
            </a:r>
            <a:pPr indent="0" marL="0">
              <a:spcAft>
                <a:spcPts val="500"/>
              </a:spcAft>
              <a:buNone/>
            </a:pPr>
            <a:r>
              <a:rPr lang="en-US" sz="1150" dirty="0">
                <a:solidFill>
                  <a:schemeClr val="tx1"/>
                </a:solidFill>
              </a:rPr>
              <a:t>T. S. Norvell. “Parsing Expressions by Recursive Descent.” Memorial University of Newfoundland, 1999.</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[5]  </a:t>
            </a:r>
            <a:pPr indent="0" marL="0">
              <a:spcAft>
                <a:spcPts val="500"/>
              </a:spcAft>
              <a:buNone/>
            </a:pPr>
            <a:r>
              <a:rPr lang="en-US" sz="1150" dirty="0">
                <a:solidFill>
                  <a:schemeClr val="tx1"/>
                </a:solidFill>
              </a:rPr>
              <a:t>R. Nystrom. Crafting Interpreters. Genever Benning, 2021.</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[6]  </a:t>
            </a:r>
            <a:pPr indent="0" marL="0">
              <a:spcAft>
                <a:spcPts val="500"/>
              </a:spcAft>
              <a:buNone/>
            </a:pPr>
            <a:r>
              <a:rPr lang="en-US" sz="1150" dirty="0">
                <a:solidFill>
                  <a:schemeClr val="tx1"/>
                </a:solidFill>
              </a:rPr>
              <a:t>Ecma International. ECMA-426: Source Map Format Specification, 1st ed., December 2024.</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[7]  </a:t>
            </a:r>
            <a:pPr indent="0" marL="0">
              <a:spcAft>
                <a:spcPts val="500"/>
              </a:spcAft>
              <a:buNone/>
            </a:pPr>
            <a:r>
              <a:rPr lang="en-US" sz="1150" dirty="0">
                <a:solidFill>
                  <a:schemeClr val="tx1"/>
                </a:solidFill>
              </a:rPr>
              <a:t>J. Hennessy. “Symbolic Debugging of Optimized Code.” ACM TOPLAS 4(3):323–344, 1982.</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[8]  </a:t>
            </a:r>
            <a:pPr indent="0" marL="0">
              <a:spcAft>
                <a:spcPts val="500"/>
              </a:spcAft>
              <a:buNone/>
            </a:pPr>
            <a:r>
              <a:rPr lang="en-US" sz="1150" dirty="0">
                <a:solidFill>
                  <a:schemeClr val="tx1"/>
                </a:solidFill>
              </a:rPr>
              <a:t>Y. Li, S. Ding, Q. Zhang, D. Italiano. “Debug Information Validation for Optimized Code.” PLDI 2020.</a:t>
            </a:r>
            <a:endParaRPr lang="en-US" sz="1150" dirty="0"/>
          </a:p>
          <a:p>
            <a:pPr indent="0" marL="0">
              <a:spcAft>
                <a:spcPts val="500"/>
              </a:spcAft>
              <a:buNone/>
            </a:pPr>
            <a:r>
              <a:rPr lang="en-US" sz="1150" dirty="0">
                <a:solidFill>
                  <a:srgbClr val="868A91"/>
                </a:solidFill>
                <a:latin typeface="Consolas" pitchFamily="34" charset="0"/>
                <a:ea typeface="Consolas" pitchFamily="34" charset="-122"/>
                <a:cs typeface="Consolas" pitchFamily="34" charset="-120"/>
              </a:rPr>
              <a:t>[9]  </a:t>
            </a:r>
            <a:pPr indent="0" marL="0">
              <a:spcAft>
                <a:spcPts val="500"/>
              </a:spcAft>
              <a:buNone/>
            </a:pPr>
            <a:r>
              <a:rPr lang="en-US" sz="1150" dirty="0">
                <a:solidFill>
                  <a:schemeClr val="tx1"/>
                </a:solidFill>
              </a:rPr>
              <a:t>C. Assaiante, D. C. D’Elia, G. A. Di Luna, L. Querzoni. “Where Did My Variable Go? Poking Holes in Incomplete Debug Information.” ASPLOS 2023.</a:t>
            </a:r>
            <a:endParaRPr lang="en-US" sz="11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questions</a:t>
            </a: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lIns="0" tIns="0" rIns="0" bIns="0" rtlCol="0" anchor="t"/>
          <a:lstStyle/>
          <a:p>
            <a:pPr algn="l" indent="0" marL="0">
              <a:buNone/>
            </a:pPr>
            <a:r>
              <a:rPr lang="en-US" sz="6000" b="1" dirty="0">
                <a:solidFill>
                  <a:schemeClr val="tx1"/>
                </a:solidFill>
              </a:rPr>
              <a:t>Questions?</a:t>
            </a: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lIns="0" tIns="0" rIns="0" bIns="0" rtlCol="0" anchor="t"/>
          <a:lstStyle/>
          <a:p>
            <a:pPr algn="l" indent="0" marL="0">
              <a:buNone/>
            </a:pPr>
            <a:r>
              <a:rPr lang="en-US" sz="2000" dirty="0">
                <a:solidFill>
                  <a:srgbClr val="B6B8BC"/>
                </a:solidFill>
              </a:rPr>
              <a:t>Antra  ·  24BDS0066</a:t>
            </a:r>
            <a:endParaRPr lang="en-US" sz="2000" dirty="0"/>
          </a:p>
        </p:txBody>
      </p:sp>
      <p:sp>
        <p:nvSpPr>
          <p:cNvPr id="5" name="span"/>
          <p:cNvSpPr/>
          <p:nvPr/>
        </p:nvSpPr>
        <p:spPr>
          <a:xfrm>
            <a:off x="1289304" y="3044952"/>
            <a:ext cx="1410462" cy="338328"/>
          </a:xfrm>
          <a:prstGeom prst="rect">
            <a:avLst/>
          </a:prstGeom>
          <a:solidFill>
            <a:schemeClr val="accent1"/>
          </a:solidFill>
          <a:ln/>
        </p:spPr>
      </p:sp>
      <p:sp>
        <p:nvSpPr>
          <p:cNvPr id="6" name="Text 4"/>
          <p:cNvSpPr txBox="1"/>
          <p:nvPr/>
        </p:nvSpPr>
        <p:spPr>
          <a:xfrm>
            <a:off x="548640" y="3063240"/>
            <a:ext cx="8046720" cy="365760"/>
          </a:xfrm>
          <a:prstGeom prst="rect">
            <a:avLst/>
          </a:prstGeom>
          <a:noFill/>
          <a:ln/>
        </p:spPr>
        <p:txBody>
          <a:bodyPr wrap="square" lIns="0" tIns="0" rIns="0" bIns="0" rtlCol="0" anchor="t"/>
          <a:lstStyle/>
          <a:p>
            <a:pPr indent="0" marL="0">
              <a:buNone/>
            </a:pPr>
            <a:r>
              <a:rPr lang="en-US" sz="1800" dirty="0">
                <a:solidFill>
                  <a:srgbClr val="E4E4E2"/>
                </a:solidFill>
                <a:latin typeface="Consolas" pitchFamily="34" charset="0"/>
                <a:ea typeface="Consolas" pitchFamily="34" charset="-122"/>
                <a:cs typeface="Consolas" pitchFamily="34" charset="-120"/>
              </a:rPr>
              <a:t>print(</a:t>
            </a:r>
            <a:pPr indent="0" marL="0">
              <a:buNone/>
            </a:pPr>
            <a:r>
              <a:rPr lang="en-US" sz="1800" dirty="0">
                <a:solidFill>
                  <a:srgbClr val="1A1305"/>
                </a:solidFill>
                <a:latin typeface="Consolas" pitchFamily="34" charset="0"/>
                <a:ea typeface="Consolas" pitchFamily="34" charset="-122"/>
                <a:cs typeface="Consolas" pitchFamily="34" charset="-120"/>
              </a:rPr>
              <a:t>"thank you"</a:t>
            </a:r>
            <a:pPr indent="0" marL="0">
              <a:buNone/>
            </a:pPr>
            <a:r>
              <a:rPr lang="en-US" sz="1800" dirty="0">
                <a:solidFill>
                  <a:srgbClr val="E4E4E2"/>
                </a:solidFill>
                <a:latin typeface="Consolas" pitchFamily="34" charset="0"/>
                <a:ea typeface="Consolas" pitchFamily="34" charset="-122"/>
                <a:cs typeface="Consolas" pitchFamily="34" charset="-120"/>
              </a:rPr>
              <a:t>);</a:t>
            </a:r>
            <a:endParaRPr lang="en-US" sz="1800" dirty="0"/>
          </a:p>
        </p:txBody>
      </p:sp>
      <p:sp>
        <p:nvSpPr>
          <p:cNvPr id="7" name="tick"/>
          <p:cNvSpPr/>
          <p:nvPr/>
        </p:nvSpPr>
        <p:spPr>
          <a:xfrm>
            <a:off x="1312164" y="2788920"/>
            <a:ext cx="0" cy="237744"/>
          </a:xfrm>
          <a:prstGeom prst="line">
            <a:avLst/>
          </a:prstGeom>
          <a:noFill/>
          <a:ln w="12700">
            <a:solidFill>
              <a:srgbClr val="F0B54A"/>
            </a:solidFill>
            <a:prstDash val="solid"/>
          </a:ln>
        </p:spPr>
      </p:sp>
      <p:sp>
        <p:nvSpPr>
          <p:cNvPr id="8" name="Text 6"/>
          <p:cNvSpPr txBox="1"/>
          <p:nvPr/>
        </p:nvSpPr>
        <p:spPr>
          <a:xfrm>
            <a:off x="1357884" y="2697480"/>
            <a:ext cx="6400800" cy="18288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1:7+11</a:t>
            </a:r>
            <a:endParaRPr lang="en-US" sz="1100" dirty="0"/>
          </a:p>
        </p:txBody>
      </p:sp>
    </p:spTree>
  </p:cSld>
  <p:clrMapOvr>
    <a:masterClrMapping/>
  </p:clrMapOvr>
</p:sld>
</file>

<file path=ppt/theme/theme1.xml><?xml version="1.0" encoding="utf-8"?>
<a:theme xmlns:a="http://schemas.openxmlformats.org/drawingml/2006/main" name="Tether Spans">
  <a:themeElements>
    <a:clrScheme name="Tether Spans">
      <a:dk1>
        <a:srgbClr val="E4E4E2"/>
      </a:dk1>
      <a:lt1>
        <a:srgbClr val="0F1012"/>
      </a:lt1>
      <a:dk2>
        <a:srgbClr val="A9ACB2"/>
      </a:dk2>
      <a:lt2>
        <a:srgbClr val="18191D"/>
      </a:lt2>
      <a:accent1>
        <a:srgbClr val="F0B54A"/>
      </a:accent1>
      <a:accent2>
        <a:srgbClr val="8AB4F8"/>
      </a:accent2>
      <a:accent3>
        <a:srgbClr val="5CC98A"/>
      </a:accent3>
      <a:accent4>
        <a:srgbClr val="FF6F6B"/>
      </a:accent4>
      <a:accent5>
        <a:srgbClr val="868A91"/>
      </a:accent5>
      <a:accent6>
        <a:srgbClr val="C6A8F2"/>
      </a:accent6>
      <a:hlink>
        <a:srgbClr val="8AB4F8"/>
      </a:hlink>
      <a:folHlink>
        <a:srgbClr val="C6A8F2"/>
      </a:folHlink>
    </a:clrScheme>
    <a:fontScheme name="Tether Sp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Tether — Review 3</dc:title>
  <dc:subject>Compiler Design project review</dc:subject>
  <dc:creator>Antra (24BDS0066)</dc:creator>
  <cp:lastModifiedBy>Antra (24BDS0066)</cp:lastModifiedBy>
  <cp:revision>1</cp:revision>
  <dcterms:created xsi:type="dcterms:W3CDTF">2026-10-09T16:30:52Z</dcterms:created>
  <dcterms:modified xsi:type="dcterms:W3CDTF">2026-10-09T16:30:52Z</dcterms:modified>
</cp:coreProperties>
</file>