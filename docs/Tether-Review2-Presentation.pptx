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c0aedd4-bdb9-82f4-65a5-073f390e2b4a}">
          <p14:sldIdLst>
            <p14:sldId id="256"/>
            <p14:sldId id="257"/>
            <p14:sldId id="258"/>
          </p14:sldIdLst>
        </p14:section>
        <p14:section name="Implementation" id="{a9e2ce27-3e57-fe95-0ecb-31006bae4edb}">
          <p14:sldIdLst>
            <p14:sldId id="259"/>
            <p14:sldId id="260"/>
            <p14:sldId id="261"/>
            <p14:sldId id="262"/>
            <p14:sldId id="263"/>
            <p14:sldId id="264"/>
            <p14:sldId id="265"/>
          </p14:sldIdLst>
        </p14:section>
        <p14:section name="Verification" id="{039da5fc-a3d3-dd24-bd40-2dc6b06668c6}">
          <p14:sldIdLst>
            <p14:sldId id="266"/>
            <p14:sldId id="267"/>
            <p14:sldId id="268"/>
            <p14:sldId id="269"/>
            <p14:sldId id="270"/>
          </p14:sldIdLst>
        </p14:section>
        <p14:section name="Next" id="{240d825f-1162-a809-4eae-dfa857d51b0e}">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9ACB2"/>
                </a:solidFill>
                <a:latin typeface="+mn-lt"/>
              </a:defRPr>
            </a:pPr>
            <a:r>
              <a:rPr sz="1200" b="0" i="0" u="none" strike="noStrike">
                <a:solidFill>
                  <a:srgbClr val="A9ACB2"/>
                </a:solidFill>
                <a:latin typeface="+mn-lt"/>
              </a:rPr>
              <a:t>Tests per file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B6B8BC"/>
            </a:solidFill>
            <a:effectLst/>
          </c:spPr>
          <c:invertIfNegative val="0"/>
          <c:dLbls>
            <c:numFmt formatCode="#,##0" sourceLinked="0"/>
            <c:txPr>
              <a:bodyPr/>
              <a:lstStyle/>
              <a:p>
                <a:pPr>
                  <a:defRPr b="0" i="0" strike="noStrike" sz="1100" u="none">
                    <a:solidFill>
                      <a:srgbClr val="E4E4E2"/>
                    </a:solidFill>
                    <a:latin typeface="+mn-lt"/>
                  </a:defRPr>
                </a:pPr>
              </a:p>
            </c:txPr>
            <c:showLegendKey val="0"/>
            <c:showVal val="1"/>
            <c:showCatName val="0"/>
            <c:showSerName val="0"/>
            <c:showPercent val="0"/>
            <c:showBubbleSize val="0"/>
            <c:showLeaderLines val="0"/>
          </c:dLbls>
          <c:cat>
            <c:multiLvlStrRef>
              <c:f>Sheet1!$A$2:$A$12</c:f>
              <c:multiLvlStrCache>
                <c:ptCount val="11"/>
                <c:lvl>
                  <c:pt idx="0">
                    <c:v>CLI (golden files)</c:v>
                  </c:pt>
                  <c:pt idx="1">
                    <c:v>Source map</c:v>
                  </c:pt>
                  <c:pt idx="2">
                    <c:v>Checker</c:v>
                  </c:pt>
                  <c:pt idx="3">
                    <c:v>Parser</c:v>
                  </c:pt>
                  <c:pt idx="4">
                    <c:v>Lexer</c:v>
                  </c:pt>
                  <c:pt idx="5">
                    <c:v>Emitter</c:v>
                  </c:pt>
                  <c:pt idx="6">
                    <c:v>Lowering</c:v>
                  </c:pt>
                  <c:pt idx="7">
                    <c:v>Span</c:v>
                  </c:pt>
                  <c:pt idx="8">
                    <c:v>Diagnostics</c:v>
                  </c:pt>
                  <c:pt idx="9">
                    <c:v>VLQ</c:v>
                  </c:pt>
                  <c:pt idx="10">
                    <c:v>Playground</c:v>
                  </c:pt>
                </c:lvl>
              </c:multiLvlStrCache>
            </c:multiLvlStrRef>
          </c:cat>
          <c:val>
            <c:numRef>
              <c:f>Sheet1!$B$2:$B$12</c:f>
              <c:numCache>
                <c:formatCode>General</c:formatCode>
                <c:ptCount val="11"/>
                <c:pt idx="0">
                  <c:v>39</c:v>
                </c:pt>
                <c:pt idx="1">
                  <c:v>20</c:v>
                </c:pt>
                <c:pt idx="2">
                  <c:v>19</c:v>
                </c:pt>
                <c:pt idx="3">
                  <c:v>18</c:v>
                </c:pt>
                <c:pt idx="4">
                  <c:v>13</c:v>
                </c:pt>
                <c:pt idx="5">
                  <c:v>12</c:v>
                </c:pt>
                <c:pt idx="6">
                  <c:v>9</c:v>
                </c:pt>
                <c:pt idx="7">
                  <c:v>6</c:v>
                </c:pt>
                <c:pt idx="8">
                  <c:v>6</c:v>
                </c:pt>
                <c:pt idx="9">
                  <c:v>6</c:v>
                </c:pt>
                <c:pt idx="10">
                  <c:v>2</c:v>
                </c:pt>
              </c:numCache>
            </c:numRef>
          </c:val>
        </c:ser>
        <c:dLbls>
          <c:numFmt formatCode="#,##0" sourceLinked="0"/>
          <c:txPr>
            <a:bodyPr/>
            <a:lstStyle/>
            <a:p>
              <a:pPr>
                <a:defRPr b="0" i="0" strike="noStrike" sz="1100" u="none">
                  <a:solidFill>
                    <a:srgbClr val="E4E4E2"/>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A9ACB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3A3D44"/>
            </a:solidFill>
            <a:prstDash val="solid"/>
            <a:round/>
          </a:ln>
        </c:spPr>
        <c:txPr>
          <a:bodyPr/>
          <a:lstStyle/>
          <a:p>
            <a:pPr>
              <a:defRPr sz="1200" b="0" i="0" u="none" strike="noStrike">
                <a:solidFill>
                  <a:srgbClr val="A9ACB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Done</c:v>
                </c:pt>
              </c:strCache>
            </c:strRef>
          </c:tx>
          <c:spPr>
            <a:solidFill>
              <a:srgbClr val="B6B8BC"/>
            </a:solidFill>
            <a:effectLst/>
          </c:spPr>
          <c:invertIfNegative val="0"/>
          <c:dLbls>
            <c:numFmt formatCode="#,##0" sourceLinked="0"/>
            <c:txPr>
              <a:bodyPr/>
              <a:lstStyle/>
              <a:p>
                <a:pPr>
                  <a:defRPr b="1" i="0" strike="noStrike" sz="1200" u="none">
                    <a:solidFill>
                      <a:srgbClr val="0F1012"/>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FRs</c:v>
                  </c:pt>
                </c:lvl>
              </c:multiLvlStrCache>
            </c:multiLvlStrRef>
          </c:cat>
          <c:val>
            <c:numRef>
              <c:f>Sheet1!$B$2:$B$2</c:f>
              <c:numCache>
                <c:formatCode>General</c:formatCode>
                <c:ptCount val="1"/>
                <c:pt idx="0">
                  <c:v>28</c:v>
                </c:pt>
              </c:numCache>
            </c:numRef>
          </c:val>
        </c:ser>
        <c:ser>
          <c:idx val="1"/>
          <c:order val="1"/>
          <c:tx>
            <c:strRef>
              <c:f>Sheet1!$C$1</c:f>
              <c:strCache>
                <c:ptCount val="1"/>
                <c:pt idx="0">
                  <c:v>Milestone 8 (Could priority)</c:v>
                </c:pt>
              </c:strCache>
            </c:strRef>
          </c:tx>
          <c:spPr>
            <a:solidFill>
              <a:srgbClr val="5A5E66"/>
            </a:solidFill>
            <a:effectLst/>
          </c:spPr>
          <c:invertIfNegative val="0"/>
          <c:dLbls>
            <c:numFmt formatCode="#,##0" sourceLinked="0"/>
            <c:txPr>
              <a:bodyPr/>
              <a:lstStyle/>
              <a:p>
                <a:pPr>
                  <a:defRPr b="1" i="0" strike="noStrike" sz="1200" u="none">
                    <a:solidFill>
                      <a:srgbClr val="E4E4E2"/>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FRs</c:v>
                  </c:pt>
                </c:lvl>
              </c:multiLvlStrCache>
            </c:multiLvlStrRef>
          </c:cat>
          <c:val>
            <c:numRef>
              <c:f>Sheet1!$C$2:$C$2</c:f>
              <c:numCache>
                <c:formatCode>General</c:formatCode>
                <c:ptCount val="1"/>
                <c:pt idx="0">
                  <c:v>3</c:v>
                </c:pt>
              </c:numCache>
            </c:numRef>
          </c:val>
        </c:ser>
        <c:dLbls>
          <c:numFmt formatCode="#,##0" sourceLinked="0"/>
          <c:txPr>
            <a:bodyPr/>
            <a:lstStyle/>
            <a:p>
              <a:pPr>
                <a:defRPr b="1" i="0" strike="noStrike" sz="1200" u="none">
                  <a:solidFill>
                    <a:srgbClr val="E4E4E2"/>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3A3D44"/>
            </a:solidFill>
            <a:prstDash val="solid"/>
            <a:round/>
          </a:ln>
        </c:spPr>
        <c:txPr>
          <a:bodyPr/>
          <a:lstStyle/>
          <a:p>
            <a:pPr>
              <a:defRPr sz="1200" b="0" i="0" u="none" strike="noStrike">
                <a:solidFill>
                  <a:srgbClr val="A9ACB2"/>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3A3D44"/>
            </a:solidFill>
            <a:prstDash val="solid"/>
            <a:round/>
          </a:ln>
        </c:spPr>
        <c:txPr>
          <a:bodyPr/>
          <a:lstStyle/>
          <a:p>
            <a:pPr>
              <a:defRPr sz="1200" b="0" i="0" u="none" strike="noStrike">
                <a:solidFill>
                  <a:srgbClr val="A9ACB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A9ACB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Review 2 of Tether, the source-mapped transpiler. At Review 1 the front end was done, 25 percent. Today the compiler is at 75 percent: it type-checks, generates JavaScript, and writes a source map, which an independent decoder agrees with completely. The line on the slide is real output: the function name fib in the generated JavaScript maps back to line 3, column 4 of fib.tth.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reminder of where Review 1 ended: the front end, meaning grammar, lexer, parser, error recovery and the playground. Since then I built the rest of the compiler up to the source map: the type checker, lowering, the JavaScript emitter, the VLQ encoder, and the source map writer with independent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eight weekly milestones are complete, which is 75 percent. Three acceptance criteria are now met: the four benchmarks print exactly the right output, every mapping round-trips through an independent decoder, and the semantic-error fixture reports eight errors in one run. Browser verification and optimisation are milestones 7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stage of the pipeline now exists. Each is still its own module with its own tests, and there are still no third-party dependencies. The diagnostics module is shared: code generation only runs when there are no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for the semantic-error fixture, which has eight independent mistakes. All eight are reported in one run, each with a caret, and notes point back to related code, like the first declaration of x. A broken expression gets a special error type that is accepted everywhere, so one mistake gives one message. That meets AC-4, which asks for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scopes form a tree: functions are collected into a global scope first, so they can be called before they are declared. Top-level code and each function have their own scope. One subtle case: in Tether, let x = x + 1 inside a block reads the outer x. Copied literally into JavaScript, that throws an error because of the temporal dead zone. So the checker gives every shadowing declaration a new JavaScript name, like x$1. A dollar sign cannot appear in a Tether identifier, so the new name can never clash.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Lowering rewrites the checked tree into a smaller core language, so the emitter has fewer cases. A for loop becomes a while loop inside a block, compound assignment becomes a normal assignment, and &amp;&amp; and || become conditional expressions that keep short-circuiting. The dump on the right is real: nodes marked lowered were created by this pass, and each carries the span of the for statement or the i += 1 that caused it, so the source map still points to the right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emitter writes plain ES2015 that a person can read. Everything goes through one write function that tracks the line and column, so each mapping records exactly where its text starts; after each compile the counters are checked against the final text. The variable var is a reserved word in JavaScript, so it becomes var$, while the source map keeps the original name. Integer division becomes Math.trunc. All four benchmarks print exactly their expected output, which was computed by a separate plain JavaScript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maps store numbers as Base64 VLQ. The encoder moves the sign into the lowest bit, splits the value into 5-bit groups, sets a continuation bit on all but the last group, and writes each group as one Base64 character. For example 16 becomes gB. The encoder is tested on these vectors, on five thousand random values, and against Node’s built-in decoder, which I did not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real map for fib. It has the six fields Source Map version 3 requires. The mappings string is delta-encoded: the generated column restarts on each line, the other fields carry on across the file. Its first segments, AAEA, SAAGA, IAAIC, are exactly the example I worked out by hand in the Review 1 report, and a test checks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result of this review. Every one of the 186 mapping entries across the four benchmarks round-trips through Node’s built-in SourceMap class, a decoder I did not write. That matters because an encoder can be consistent with itself and still be wrong. The test suite also checks the conformance properties from section 7 of my PRD.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point of the project, working end to end. A program that recurses forever crashes. Without the source map, the stack trace points at generated JavaScript. With the source map, Node reports line 6, column 10 of the original .tth file, the exact recursive call, and prints the original source line too. Milestone 7 will show the same in Chrome DevTools.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suite has grown from 63 to 151 tests, all passing. The biggest group compares the generated JavaScript, the source map, the core tree and the mapping table against golden files. The expected program output was computed by a separate plain JavaScript implementation, so the compiler is not checking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of the 31 functional requirements are done. The remaining three are the optimisation requirements, which are Could priority in my PRD and belong to milestone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playground now shows all six phases live. Under JavaScript, each underlined segment is one source-map entry: hovering it highlights the Tether code it came from. The Run tab executes the generated program. In the screenshot I am hovering var$ in the JavaScript: the Tether name var lights up, and the status bar shows both positions, 1-based in Tether and 0-based in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milestones remain. Milestone 7 proves breakpoints and stack traces in Chrome DevTools, with screenshots. Milestone 8 adds the -O1 optimiser and measures how many mappings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short live demo, using the commands in REVIEW-DEMO.md: compiling and running a program, the semantic-error fixture, the lowered tree, and the source-mapped stack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0C0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5486400" cy="228600"/>
          </a:xfrm>
          <a:prstGeom prst="rect">
            <a:avLst/>
          </a:prstGeom>
          <a:noFill/>
          <a:ln/>
        </p:spPr>
        <p:txBody>
          <a:bodyPr wrap="square" rtlCol="0"/>
          <a:lstStyle>
            <a:lvl1pPr indent="0" marL="0">
              <a:buNone/>
              <a:defRPr lang="en-US" sz="1000" dirty="0">
                <a:solidFill>
                  <a:schemeClr val="accent5"/>
                </a:solidFill>
                <a:latin typeface="Consolas" pitchFamily="34" charset="0"/>
                <a:ea typeface="Consolas" pitchFamily="34" charset="-122"/>
                <a:cs typeface="Consolas" pitchFamily="34" charset="-120"/>
              </a:defRPr>
            </a:lvl1pPr>
          </a:lstStyle>
          <a:p>
            <a:pPr indent="0" marL="0">
              <a:buNone/>
            </a:pPr>
            <a:endParaRPr lang="en-US" sz="1000" dirty="0"/>
          </a:p>
        </p:txBody>
      </p:sp>
      <p:sp>
        <p:nvSpPr>
          <p:cNvPr id="3" name="Text 0"/>
          <p:cNvSpPr/>
          <p:nvPr>
            <p:ph idx="101" type="title" hasCustomPrompt="1"/>
          </p:nvPr>
        </p:nvSpPr>
        <p:spPr>
          <a:xfrm>
            <a:off x="548640" y="960120"/>
            <a:ext cx="8046720" cy="91440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endParaRPr lang="en-US" sz="6000" dirty="0"/>
          </a:p>
        </p:txBody>
      </p:sp>
      <p:sp>
        <p:nvSpPr>
          <p:cNvPr id="4" name="Text 0"/>
          <p:cNvSpPr/>
          <p:nvPr>
            <p:ph idx="102" type="body" hasCustomPrompt="1"/>
          </p:nvPr>
        </p:nvSpPr>
        <p:spPr>
          <a:xfrm>
            <a:off x="548640" y="1920240"/>
            <a:ext cx="8046720" cy="457200"/>
          </a:xfrm>
          <a:prstGeom prst="rect">
            <a:avLst/>
          </a:prstGeom>
          <a:noFill/>
          <a:ln/>
        </p:spPr>
        <p:txBody>
          <a:bodyPr wrap="square" rtlCol="0"/>
          <a:lstStyle>
            <a:lvl1pPr algn="l" indent="0" marL="0">
              <a:buNone/>
              <a:defRPr lang="en-US" sz="2000" dirty="0">
                <a:solidFill>
                  <a:srgbClr val="B6B8BC"/>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rtlCol="0"/>
          <a:lstStyle>
            <a:lvl1pPr indent="0" marL="0">
              <a:buNone/>
              <a:defRPr lang="en-US" sz="1000" dirty="0">
                <a:solidFill>
                  <a:schemeClr val="accent5"/>
                </a:solidFill>
                <a:latin typeface="Consolas" pitchFamily="34" charset="0"/>
                <a:ea typeface="Consolas" pitchFamily="34" charset="-122"/>
                <a:cs typeface="Consolas" pitchFamily="34" charset="-120"/>
              </a:defRPr>
            </a:lvl1pPr>
          </a:lstStyle>
          <a:p>
            <a:pPr indent="0" marL="0">
              <a:buNone/>
            </a:pP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compiler-design / project-review-2</a:t>
            </a:r>
            <a:endParaRPr lang="en-US" sz="1000" dirty="0"/>
          </a:p>
        </p:txBody>
      </p:sp>
      <p:sp>
        <p:nvSpPr>
          <p:cNvPr id="3" name="Text 0"/>
          <p:cNvSpPr/>
          <p:nvPr>
            <p:ph idx="101" type="title" hasCustomPrompt="1"/>
          </p:nvPr>
        </p:nvSpPr>
        <p:spPr>
          <a:xfrm>
            <a:off x="548640" y="960120"/>
            <a:ext cx="8046720" cy="914400"/>
          </a:xfrm>
          <a:prstGeom prst="rect">
            <a:avLst/>
          </a:prstGeom>
          <a:noFill/>
          <a:ln/>
        </p:spPr>
        <p:txBody>
          <a:bodyPr wrap="square" lIns="0" tIns="0" rIns="0" bIns="0" rtlCol="0" anchor="t"/>
          <a:lstStyle/>
          <a:p>
            <a:pPr algn="l" indent="0" marL="0">
              <a:buNone/>
            </a:pPr>
            <a:r>
              <a:rPr lang="en-US" sz="6000" b="1" dirty="0">
                <a:solidFill>
                  <a:schemeClr val="tx1"/>
                </a:solidFill>
              </a:rPr>
              <a:t>Tether</a:t>
            </a:r>
            <a:endParaRPr lang="en-US" sz="6000" dirty="0"/>
          </a:p>
        </p:txBody>
      </p:sp>
      <p:sp>
        <p:nvSpPr>
          <p:cNvPr id="4" name="Text 0"/>
          <p:cNvSpPr/>
          <p:nvPr>
            <p:ph idx="102" type="body" hasCustomPrompt="1"/>
          </p:nvPr>
        </p:nvSpPr>
        <p:spPr>
          <a:xfrm>
            <a:off x="548640" y="1920240"/>
            <a:ext cx="8046720" cy="457200"/>
          </a:xfrm>
          <a:prstGeom prst="rect">
            <a:avLst/>
          </a:prstGeom>
          <a:noFill/>
          <a:ln/>
        </p:spPr>
        <p:txBody>
          <a:bodyPr wrap="square" lIns="0" tIns="0" rIns="0" bIns="0" rtlCol="0" anchor="t"/>
          <a:lstStyle/>
          <a:p>
            <a:pPr algn="l" indent="0" marL="0">
              <a:buNone/>
            </a:pPr>
            <a:r>
              <a:rPr lang="en-US" sz="2000" dirty="0">
                <a:solidFill>
                  <a:srgbClr val="B6B8BC"/>
                </a:solidFill>
              </a:rPr>
              <a:t>Review 2: 75% implementation (milestones 3–6)</a:t>
            </a:r>
            <a:endParaRPr lang="en-US" sz="2000" dirty="0"/>
          </a:p>
        </p:txBody>
      </p:sp>
      <p:sp>
        <p:nvSpPr>
          <p:cNvPr id="5" name="span"/>
          <p:cNvSpPr/>
          <p:nvPr/>
        </p:nvSpPr>
        <p:spPr>
          <a:xfrm>
            <a:off x="1917954" y="3044952"/>
            <a:ext cx="488442" cy="389128"/>
          </a:xfrm>
          <a:prstGeom prst="rect">
            <a:avLst/>
          </a:prstGeom>
          <a:solidFill>
            <a:schemeClr val="accent1"/>
          </a:solidFill>
          <a:ln/>
        </p:spPr>
      </p:sp>
      <p:sp>
        <p:nvSpPr>
          <p:cNvPr id="6" name="Text 4"/>
          <p:cNvSpPr txBox="1"/>
          <p:nvPr/>
        </p:nvSpPr>
        <p:spPr>
          <a:xfrm>
            <a:off x="548640" y="3063240"/>
            <a:ext cx="8046720" cy="416560"/>
          </a:xfrm>
          <a:prstGeom prst="rect">
            <a:avLst/>
          </a:prstGeom>
          <a:noFill/>
          <a:ln/>
        </p:spPr>
        <p:txBody>
          <a:bodyPr wrap="square" lIns="0" tIns="0" rIns="0" bIns="0" rtlCol="0" anchor="t"/>
          <a:lstStyle/>
          <a:p>
            <a:pPr indent="0" marL="0">
              <a:buNone/>
            </a:pPr>
            <a:r>
              <a:rPr lang="en-US" sz="2200" dirty="0">
                <a:solidFill>
                  <a:srgbClr val="E4E4E2"/>
                </a:solidFill>
                <a:latin typeface="Consolas" pitchFamily="34" charset="0"/>
                <a:ea typeface="Consolas" pitchFamily="34" charset="-122"/>
                <a:cs typeface="Consolas" pitchFamily="34" charset="-120"/>
              </a:rPr>
              <a:t>function </a:t>
            </a:r>
            <a:pPr indent="0" marL="0">
              <a:buNone/>
            </a:pPr>
            <a:r>
              <a:rPr lang="en-US" sz="2200" dirty="0">
                <a:solidFill>
                  <a:srgbClr val="1A1305"/>
                </a:solidFill>
                <a:latin typeface="Consolas" pitchFamily="34" charset="0"/>
                <a:ea typeface="Consolas" pitchFamily="34" charset="-122"/>
                <a:cs typeface="Consolas" pitchFamily="34" charset="-120"/>
              </a:rPr>
              <a:t>fib</a:t>
            </a:r>
            <a:pPr indent="0" marL="0">
              <a:buNone/>
            </a:pPr>
            <a:r>
              <a:rPr lang="en-US" sz="2200" dirty="0">
                <a:solidFill>
                  <a:srgbClr val="E4E4E2"/>
                </a:solidFill>
                <a:latin typeface="Consolas" pitchFamily="34" charset="0"/>
                <a:ea typeface="Consolas" pitchFamily="34" charset="-122"/>
                <a:cs typeface="Consolas" pitchFamily="34" charset="-120"/>
              </a:rPr>
              <a:t>(n) {</a:t>
            </a:r>
            <a:endParaRPr lang="en-US" sz="2200" dirty="0"/>
          </a:p>
        </p:txBody>
      </p:sp>
      <p:sp>
        <p:nvSpPr>
          <p:cNvPr id="7" name="tick"/>
          <p:cNvSpPr/>
          <p:nvPr/>
        </p:nvSpPr>
        <p:spPr>
          <a:xfrm>
            <a:off x="1940814" y="2788920"/>
            <a:ext cx="0" cy="237744"/>
          </a:xfrm>
          <a:prstGeom prst="line">
            <a:avLst/>
          </a:prstGeom>
          <a:noFill/>
          <a:ln w="12700">
            <a:solidFill>
              <a:srgbClr val="F0B54A"/>
            </a:solidFill>
            <a:prstDash val="solid"/>
          </a:ln>
        </p:spPr>
      </p:sp>
      <p:sp>
        <p:nvSpPr>
          <p:cNvPr id="8" name="Text 6"/>
          <p:cNvSpPr txBox="1"/>
          <p:nvPr/>
        </p:nvSpPr>
        <p:spPr>
          <a:xfrm>
            <a:off x="1986534" y="2697480"/>
            <a:ext cx="6400800" cy="18288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maps back to fib.tth 3:4</a:t>
            </a:r>
            <a:endParaRPr lang="en-US" sz="1100" dirty="0"/>
          </a:p>
        </p:txBody>
      </p:sp>
      <p:sp>
        <p:nvSpPr>
          <p:cNvPr id="9" name="Text 7"/>
          <p:cNvSpPr txBox="1"/>
          <p:nvPr/>
        </p:nvSpPr>
        <p:spPr>
          <a:xfrm>
            <a:off x="548640" y="3520440"/>
            <a:ext cx="6400800" cy="274320"/>
          </a:xfrm>
          <a:prstGeom prst="rect">
            <a:avLst/>
          </a:prstGeom>
          <a:noFill/>
          <a:ln/>
        </p:spPr>
        <p:txBody>
          <a:bodyPr wrap="square" lIns="0" tIns="0" rIns="0" bIns="0" rtlCol="0" anchor="t"/>
          <a:lstStyle/>
          <a:p>
            <a:pPr indent="0" marL="0">
              <a:buNone/>
            </a:pPr>
            <a:r>
              <a:rPr lang="en-US" sz="1300" i="1" dirty="0">
                <a:solidFill>
                  <a:srgbClr val="8A8E96"/>
                </a:solidFill>
              </a:rPr>
              <a:t>the generated JavaScript now knows where every token came from</a:t>
            </a:r>
            <a:endParaRPr lang="en-US" sz="1300" dirty="0"/>
          </a:p>
        </p:txBody>
      </p:sp>
      <p:sp>
        <p:nvSpPr>
          <p:cNvPr id="10" name="Text 8"/>
          <p:cNvSpPr txBox="1"/>
          <p:nvPr/>
        </p:nvSpPr>
        <p:spPr>
          <a:xfrm>
            <a:off x="548640" y="4160520"/>
            <a:ext cx="6400800" cy="548640"/>
          </a:xfrm>
          <a:prstGeom prst="rect">
            <a:avLst/>
          </a:prstGeom>
          <a:noFill/>
          <a:ln/>
        </p:spPr>
        <p:txBody>
          <a:bodyPr wrap="square" lIns="0" tIns="0" rIns="0" bIns="0" rtlCol="0" anchor="t"/>
          <a:lstStyle/>
          <a:p>
            <a:pPr indent="0" marL="0">
              <a:buNone/>
            </a:pPr>
            <a:r>
              <a:rPr lang="en-US" sz="1300" b="1" dirty="0">
                <a:solidFill>
                  <a:srgbClr val="E4E4E2"/>
                </a:solidFill>
              </a:rPr>
              <a:t>Antra</a:t>
            </a:r>
            <a:endParaRPr lang="en-US" sz="1300" dirty="0"/>
          </a:p>
          <a:p>
            <a:pPr indent="0" marL="0">
              <a:buNone/>
            </a:pPr>
            <a:r>
              <a:rPr lang="en-US" sz="1300" dirty="0">
                <a:solidFill>
                  <a:srgbClr val="9A9EA6"/>
                </a:solidFill>
              </a:rPr>
              <a:t>24BDS0066  ·  Compiler Design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recap</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From 25% to 75%</a:t>
            </a:r>
            <a:endParaRPr lang="en-US" sz="2800" dirty="0"/>
          </a:p>
        </p:txBody>
      </p:sp>
      <p:sp>
        <p:nvSpPr>
          <p:cNvPr id="4" name="Text 2"/>
          <p:cNvSpPr txBox="1"/>
          <p:nvPr/>
        </p:nvSpPr>
        <p:spPr>
          <a:xfrm>
            <a:off x="548640" y="1325880"/>
            <a:ext cx="3657600" cy="274320"/>
          </a:xfrm>
          <a:prstGeom prst="rect">
            <a:avLst/>
          </a:prstGeom>
          <a:noFill/>
          <a:ln/>
        </p:spPr>
        <p:txBody>
          <a:bodyPr wrap="square" lIns="0" tIns="0" rIns="0" bIns="0" rtlCol="0" anchor="t"/>
          <a:lstStyle/>
          <a:p>
            <a:pPr indent="0" marL="0">
              <a:buNone/>
            </a:pPr>
            <a:r>
              <a:rPr lang="en-US" sz="1500" b="1" dirty="0">
                <a:solidFill>
                  <a:schemeClr val="accent5"/>
                </a:solidFill>
              </a:rPr>
              <a:t>At Review 1</a:t>
            </a:r>
            <a:endParaRPr lang="en-US" sz="1500" dirty="0"/>
          </a:p>
        </p:txBody>
      </p:sp>
      <p:sp>
        <p:nvSpPr>
          <p:cNvPr id="5" name="Text 3"/>
          <p:cNvSpPr txBox="1"/>
          <p:nvPr/>
        </p:nvSpPr>
        <p:spPr>
          <a:xfrm>
            <a:off x="4754880" y="1325880"/>
            <a:ext cx="3840480" cy="274320"/>
          </a:xfrm>
          <a:prstGeom prst="rect">
            <a:avLst/>
          </a:prstGeom>
          <a:noFill/>
          <a:ln/>
        </p:spPr>
        <p:txBody>
          <a:bodyPr wrap="square" lIns="0" tIns="0" rIns="0" bIns="0" rtlCol="0" anchor="t"/>
          <a:lstStyle/>
          <a:p>
            <a:pPr indent="0" marL="0">
              <a:buNone/>
            </a:pPr>
            <a:r>
              <a:rPr lang="en-US" sz="1500" b="1" dirty="0">
                <a:solidFill>
                  <a:schemeClr val="tx1"/>
                </a:solidFill>
              </a:rPr>
              <a:t>Since then</a:t>
            </a:r>
            <a:endParaRPr lang="en-US" sz="1500" dirty="0"/>
          </a:p>
        </p:txBody>
      </p:sp>
      <p:sp>
        <p:nvSpPr>
          <p:cNvPr id="6" name="Text 4"/>
          <p:cNvSpPr txBox="1"/>
          <p:nvPr/>
        </p:nvSpPr>
        <p:spPr>
          <a:xfrm>
            <a:off x="548640" y="1737360"/>
            <a:ext cx="3840480"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Frozen grammar (BNF)</a:t>
            </a:r>
            <a:endParaRPr lang="en-US" sz="1400" dirty="0"/>
          </a:p>
          <a:p>
            <a:pPr marL="177800" indent="-177800">
              <a:spcAft>
                <a:spcPts val="600"/>
              </a:spcAft>
              <a:buSzPct val="100000"/>
              <a:buChar char="•"/>
            </a:pPr>
            <a:r>
              <a:rPr lang="en-US" sz="1400" dirty="0">
                <a:solidFill>
                  <a:schemeClr val="tx2"/>
                </a:solidFill>
              </a:rPr>
              <a:t>Lexer with a span on every token</a:t>
            </a:r>
            <a:endParaRPr lang="en-US" sz="1400" dirty="0"/>
          </a:p>
          <a:p>
            <a:pPr marL="177800" indent="-177800">
              <a:spcAft>
                <a:spcPts val="600"/>
              </a:spcAft>
              <a:buSzPct val="100000"/>
              <a:buChar char="•"/>
            </a:pPr>
            <a:r>
              <a:rPr lang="en-US" sz="1400" dirty="0">
                <a:solidFill>
                  <a:schemeClr val="tx2"/>
                </a:solidFill>
              </a:rPr>
              <a:t>Recursive-descent parser, 21 node kinds</a:t>
            </a:r>
            <a:endParaRPr lang="en-US" sz="1400" dirty="0"/>
          </a:p>
          <a:p>
            <a:pPr marL="177800" indent="-177800">
              <a:spcAft>
                <a:spcPts val="600"/>
              </a:spcAft>
              <a:buSzPct val="100000"/>
              <a:buChar char="•"/>
            </a:pPr>
            <a:r>
              <a:rPr lang="en-US" sz="1400" dirty="0">
                <a:solidFill>
                  <a:schemeClr val="tx2"/>
                </a:solidFill>
              </a:rPr>
              <a:t>Panic-mode recovery, caret diagnostics</a:t>
            </a:r>
            <a:endParaRPr lang="en-US" sz="1400" dirty="0"/>
          </a:p>
          <a:p>
            <a:pPr marL="177800" indent="-177800">
              <a:spcAft>
                <a:spcPts val="600"/>
              </a:spcAft>
              <a:buSzPct val="100000"/>
              <a:buChar char="•"/>
            </a:pPr>
            <a:r>
              <a:rPr lang="en-US" sz="1400" dirty="0">
                <a:solidFill>
                  <a:schemeClr val="tx2"/>
                </a:solidFill>
              </a:rPr>
              <a:t>Playground; 63 tests</a:t>
            </a:r>
            <a:endParaRPr lang="en-US" sz="1400" dirty="0"/>
          </a:p>
        </p:txBody>
      </p:sp>
      <p:sp>
        <p:nvSpPr>
          <p:cNvPr id="7" name="Text 5"/>
          <p:cNvSpPr txBox="1"/>
          <p:nvPr/>
        </p:nvSpPr>
        <p:spPr>
          <a:xfrm>
            <a:off x="4754880" y="1737360"/>
            <a:ext cx="3840480"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Type checker with a scoped symbol table</a:t>
            </a:r>
            <a:endParaRPr lang="en-US" sz="1400" dirty="0"/>
          </a:p>
          <a:p>
            <a:pPr marL="177800" indent="-177800">
              <a:spcAft>
                <a:spcPts val="600"/>
              </a:spcAft>
              <a:buSzPct val="100000"/>
              <a:buChar char="•"/>
            </a:pPr>
            <a:r>
              <a:rPr lang="en-US" sz="1400" dirty="0">
                <a:solidFill>
                  <a:schemeClr val="tx1"/>
                </a:solidFill>
              </a:rPr>
              <a:t>Lowering: for, +=, &amp;&amp; and || removed</a:t>
            </a:r>
            <a:endParaRPr lang="en-US" sz="1400" dirty="0"/>
          </a:p>
          <a:p>
            <a:pPr marL="177800" indent="-177800">
              <a:spcAft>
                <a:spcPts val="600"/>
              </a:spcAft>
              <a:buSzPct val="100000"/>
              <a:buChar char="•"/>
            </a:pPr>
            <a:r>
              <a:rPr lang="en-US" sz="1400" dirty="0">
                <a:solidFill>
                  <a:schemeClr val="tx1"/>
                </a:solidFill>
              </a:rPr>
              <a:t>JavaScript emitter that records a mapping table</a:t>
            </a:r>
            <a:endParaRPr lang="en-US" sz="1400" dirty="0"/>
          </a:p>
          <a:p>
            <a:pPr marL="177800" indent="-177800">
              <a:spcAft>
                <a:spcPts val="600"/>
              </a:spcAft>
              <a:buSzPct val="100000"/>
              <a:buChar char="•"/>
            </a:pPr>
            <a:r>
              <a:rPr lang="en-US" sz="1400" dirty="0">
                <a:solidFill>
                  <a:schemeClr val="tx1"/>
                </a:solidFill>
              </a:rPr>
              <a:t>Base64 VLQ encoder</a:t>
            </a:r>
            <a:endParaRPr lang="en-US" sz="1400" dirty="0"/>
          </a:p>
          <a:p>
            <a:pPr marL="177800" indent="-177800">
              <a:spcAft>
                <a:spcPts val="600"/>
              </a:spcAft>
              <a:buSzPct val="100000"/>
              <a:buChar char="•"/>
            </a:pPr>
            <a:r>
              <a:rPr lang="en-US" sz="1400" dirty="0">
                <a:solidFill>
                  <a:schemeClr val="tx1"/>
                </a:solidFill>
              </a:rPr>
              <a:t>Source Map v3, checked by an independent decoder</a:t>
            </a:r>
            <a:endParaRPr lang="en-US" sz="1400" dirty="0"/>
          </a:p>
          <a:p>
            <a:pPr marL="177800" indent="-177800">
              <a:spcAft>
                <a:spcPts val="600"/>
              </a:spcAft>
              <a:buSzPct val="100000"/>
              <a:buChar char="•"/>
            </a:pPr>
            <a:r>
              <a:rPr lang="en-US" sz="1400" dirty="0">
                <a:solidFill>
                  <a:schemeClr val="tx1"/>
                </a:solidFill>
              </a:rPr>
              <a:t>151 tests</a:t>
            </a:r>
            <a:endParaRPr lang="en-US" sz="1400" dirty="0"/>
          </a:p>
        </p:txBody>
      </p:sp>
      <p:sp>
        <p:nvSpPr>
          <p:cNvPr id="8" name="divider"/>
          <p:cNvSpPr/>
          <p:nvPr/>
        </p:nvSpPr>
        <p:spPr>
          <a:xfrm>
            <a:off x="4526280" y="1371600"/>
            <a:ext cx="0" cy="3017520"/>
          </a:xfrm>
          <a:prstGeom prst="line">
            <a:avLst/>
          </a:prstGeom>
          <a:noFill/>
          <a:ln w="9525">
            <a:solidFill>
              <a:srgbClr val="2A2D33"/>
            </a:solidFill>
            <a:prstDash val="solid"/>
          </a:ln>
        </p:spPr>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progress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Six of eight milestones complete</a:t>
            </a:r>
            <a:endParaRPr lang="en-US" sz="2800" dirty="0"/>
          </a:p>
        </p:txBody>
      </p:sp>
      <p:sp>
        <p:nvSpPr>
          <p:cNvPr id="4" name="Text 2"/>
          <p:cNvSpPr txBox="1"/>
          <p:nvPr/>
        </p:nvSpPr>
        <p:spPr>
          <a:xfrm>
            <a:off x="548640" y="1188720"/>
            <a:ext cx="2926080" cy="1188720"/>
          </a:xfrm>
          <a:prstGeom prst="rect">
            <a:avLst/>
          </a:prstGeom>
          <a:noFill/>
          <a:ln/>
        </p:spPr>
        <p:txBody>
          <a:bodyPr wrap="square" lIns="0" tIns="0" rIns="0" bIns="0" rtlCol="0" anchor="t"/>
          <a:lstStyle/>
          <a:p>
            <a:pPr indent="0" marL="0">
              <a:buNone/>
            </a:pPr>
            <a:r>
              <a:rPr lang="en-US" sz="8000" b="1" dirty="0">
                <a:solidFill>
                  <a:schemeClr val="tx1"/>
                </a:solidFill>
                <a:latin typeface="Cambria" pitchFamily="34" charset="0"/>
                <a:ea typeface="Cambria" pitchFamily="34" charset="-122"/>
                <a:cs typeface="Cambria" pitchFamily="34" charset="-120"/>
              </a:rPr>
              <a:t>75%</a:t>
            </a:r>
            <a:endParaRPr lang="en-US" sz="8000" dirty="0"/>
          </a:p>
        </p:txBody>
      </p:sp>
      <p:sp>
        <p:nvSpPr>
          <p:cNvPr id="5" name="Text 3"/>
          <p:cNvSpPr txBox="1"/>
          <p:nvPr/>
        </p:nvSpPr>
        <p:spPr>
          <a:xfrm>
            <a:off x="548640" y="2423160"/>
            <a:ext cx="2926080" cy="274320"/>
          </a:xfrm>
          <a:prstGeom prst="rect">
            <a:avLst/>
          </a:prstGeom>
          <a:noFill/>
          <a:ln/>
        </p:spPr>
        <p:txBody>
          <a:bodyPr wrap="square" lIns="0" tIns="0" rIns="0" bIns="0" rtlCol="0" anchor="t"/>
          <a:lstStyle/>
          <a:p>
            <a:pPr indent="0" marL="0">
              <a:buNone/>
            </a:pPr>
            <a:r>
              <a:rPr lang="en-US" sz="1300" dirty="0">
                <a:solidFill>
                  <a:schemeClr val="tx2"/>
                </a:solidFill>
              </a:rPr>
              <a:t>of the planned work</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749040" y="1280160"/>
          <a:ext cx="4846320" cy="914400"/>
        </p:xfrm>
        <a:graphic>
          <a:graphicData uri="http://schemas.openxmlformats.org/drawingml/2006/table">
            <a:tbl>
              <a:tblPr/>
              <a:tblGrid>
                <a:gridCol w="3931920"/>
                <a:gridCol w="914400"/>
              </a:tblGrid>
              <a:tr h="329184">
                <a:tc>
                  <a:txBody>
                    <a:bodyPr/>
                    <a:lstStyle/>
                    <a:p>
                      <a:pPr indent="0" marL="0">
                        <a:buNone/>
                      </a:pPr>
                      <a:r>
                        <a:rPr lang="en-US" sz="1100" b="1" dirty="0">
                          <a:solidFill>
                            <a:srgbClr val="A9ACB2"/>
                          </a:solidFill>
                        </a:rPr>
                        <a:t>Acceptance criterion</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Status</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r>
              <a:tr h="329184">
                <a:tc>
                  <a:txBody>
                    <a:bodyPr/>
                    <a:lstStyle/>
                    <a:p>
                      <a:pPr indent="0" marL="0">
                        <a:buNone/>
                      </a:pPr>
                      <a:r>
                        <a:rPr lang="en-US" sz="1250" dirty="0">
                          <a:solidFill>
                            <a:srgbClr val="E4E4E2"/>
                          </a:solidFill>
                        </a:rPr>
                        <a:t>AC-1  benchmarks print exactly their expected output</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met</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29184">
                <a:tc>
                  <a:txBody>
                    <a:bodyPr/>
                    <a:lstStyle/>
                    <a:p>
                      <a:pPr indent="0" marL="0">
                        <a:buNone/>
                      </a:pPr>
                      <a:r>
                        <a:rPr lang="en-US" sz="1250" dirty="0">
                          <a:solidFill>
                            <a:srgbClr val="E4E4E2"/>
                          </a:solidFill>
                        </a:rPr>
                        <a:t>AC-3  every mapping round-trips through a decoder</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met</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29184">
                <a:tc>
                  <a:txBody>
                    <a:bodyPr/>
                    <a:lstStyle/>
                    <a:p>
                      <a:pPr indent="0" marL="0">
                        <a:buNone/>
                      </a:pPr>
                      <a:r>
                        <a:rPr lang="en-US" sz="1250" dirty="0">
                          <a:solidFill>
                            <a:srgbClr val="E4E4E2"/>
                          </a:solidFill>
                        </a:rPr>
                        <a:t>AC-4  five semantic errors reported in one run</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met (8)</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29184">
                <a:tc>
                  <a:txBody>
                    <a:bodyPr/>
                    <a:lstStyle/>
                    <a:p>
                      <a:pPr indent="0" marL="0">
                        <a:buNone/>
                      </a:pPr>
                      <a:r>
                        <a:rPr lang="en-US" sz="1250" dirty="0">
                          <a:solidFill>
                            <a:srgbClr val="A9ACB2"/>
                          </a:solidFill>
                        </a:rPr>
                        <a:t>AC-2, AC-5  browser breakpoints, stack traces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868A91"/>
                          </a:solidFill>
                        </a:rPr>
                        <a:t>M7</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29184">
                <a:tc>
                  <a:txBody>
                    <a:bodyPr/>
                    <a:lstStyle/>
                    <a:p>
                      <a:pPr indent="0" marL="0">
                        <a:buNone/>
                      </a:pPr>
                      <a:r>
                        <a:rPr lang="en-US" sz="1250" dirty="0">
                          <a:solidFill>
                            <a:srgbClr val="A9ACB2"/>
                          </a:solidFill>
                        </a:rPr>
                        <a:t>AC-6  fidelity figures at -O0 and -O1</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868A91"/>
                          </a:solidFill>
                        </a:rPr>
                        <a:t>M8</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bl>
          </a:graphicData>
        </a:graphic>
      </p:graphicFrame>
      <p:sp>
        <p:nvSpPr>
          <p:cNvPr id="7" name="milestone"/>
          <p:cNvSpPr/>
          <p:nvPr/>
        </p:nvSpPr>
        <p:spPr>
          <a:xfrm>
            <a:off x="566928" y="3611880"/>
            <a:ext cx="969264" cy="329184"/>
          </a:xfrm>
          <a:prstGeom prst="rect">
            <a:avLst/>
          </a:prstGeom>
          <a:solidFill>
            <a:srgbClr val="1E2025"/>
          </a:solidFill>
          <a:ln w="9525">
            <a:solidFill>
              <a:srgbClr val="4A4E55"/>
            </a:solidFill>
            <a:prstDash val="solid"/>
          </a:ln>
        </p:spPr>
      </p:sp>
      <p:sp>
        <p:nvSpPr>
          <p:cNvPr id="8" name="Text 5"/>
          <p:cNvSpPr txBox="1"/>
          <p:nvPr/>
        </p:nvSpPr>
        <p:spPr>
          <a:xfrm>
            <a:off x="566928" y="3611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M1</a:t>
            </a:r>
            <a:endParaRPr lang="en-US" sz="1100" dirty="0"/>
          </a:p>
        </p:txBody>
      </p:sp>
      <p:sp>
        <p:nvSpPr>
          <p:cNvPr id="9" name="Text 6"/>
          <p:cNvSpPr txBox="1"/>
          <p:nvPr/>
        </p:nvSpPr>
        <p:spPr>
          <a:xfrm>
            <a:off x="548640" y="4023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Grammar, lexer</a:t>
            </a:r>
            <a:endParaRPr lang="en-US" sz="1100" dirty="0"/>
          </a:p>
        </p:txBody>
      </p:sp>
      <p:sp>
        <p:nvSpPr>
          <p:cNvPr id="10" name="milestone"/>
          <p:cNvSpPr/>
          <p:nvPr/>
        </p:nvSpPr>
        <p:spPr>
          <a:xfrm>
            <a:off x="1572768" y="3611880"/>
            <a:ext cx="969264" cy="329184"/>
          </a:xfrm>
          <a:prstGeom prst="rect">
            <a:avLst/>
          </a:prstGeom>
          <a:solidFill>
            <a:srgbClr val="1E2025"/>
          </a:solidFill>
          <a:ln w="9525">
            <a:solidFill>
              <a:srgbClr val="4A4E55"/>
            </a:solidFill>
            <a:prstDash val="solid"/>
          </a:ln>
        </p:spPr>
      </p:sp>
      <p:sp>
        <p:nvSpPr>
          <p:cNvPr id="11" name="Text 8"/>
          <p:cNvSpPr txBox="1"/>
          <p:nvPr/>
        </p:nvSpPr>
        <p:spPr>
          <a:xfrm>
            <a:off x="1572768" y="3611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M2</a:t>
            </a:r>
            <a:endParaRPr lang="en-US" sz="1100" dirty="0"/>
          </a:p>
        </p:txBody>
      </p:sp>
      <p:sp>
        <p:nvSpPr>
          <p:cNvPr id="12" name="Text 9"/>
          <p:cNvSpPr txBox="1"/>
          <p:nvPr/>
        </p:nvSpPr>
        <p:spPr>
          <a:xfrm>
            <a:off x="1554480" y="4023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Parser, AST</a:t>
            </a:r>
            <a:endParaRPr lang="en-US" sz="1100" dirty="0"/>
          </a:p>
        </p:txBody>
      </p:sp>
      <p:sp>
        <p:nvSpPr>
          <p:cNvPr id="13" name="milestone"/>
          <p:cNvSpPr/>
          <p:nvPr/>
        </p:nvSpPr>
        <p:spPr>
          <a:xfrm>
            <a:off x="2578608" y="3611880"/>
            <a:ext cx="969264" cy="329184"/>
          </a:xfrm>
          <a:prstGeom prst="rect">
            <a:avLst/>
          </a:prstGeom>
          <a:solidFill>
            <a:srgbClr val="1E2025"/>
          </a:solidFill>
          <a:ln w="9525">
            <a:solidFill>
              <a:srgbClr val="4A4E55"/>
            </a:solidFill>
            <a:prstDash val="solid"/>
          </a:ln>
        </p:spPr>
      </p:sp>
      <p:sp>
        <p:nvSpPr>
          <p:cNvPr id="14" name="Text 11"/>
          <p:cNvSpPr txBox="1"/>
          <p:nvPr/>
        </p:nvSpPr>
        <p:spPr>
          <a:xfrm>
            <a:off x="2578608" y="3611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M3</a:t>
            </a:r>
            <a:endParaRPr lang="en-US" sz="1100" dirty="0"/>
          </a:p>
        </p:txBody>
      </p:sp>
      <p:sp>
        <p:nvSpPr>
          <p:cNvPr id="15" name="Text 12"/>
          <p:cNvSpPr txBox="1"/>
          <p:nvPr/>
        </p:nvSpPr>
        <p:spPr>
          <a:xfrm>
            <a:off x="2560320" y="4023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Type checker</a:t>
            </a:r>
            <a:endParaRPr lang="en-US" sz="1100" dirty="0"/>
          </a:p>
        </p:txBody>
      </p:sp>
      <p:sp>
        <p:nvSpPr>
          <p:cNvPr id="16" name="milestone"/>
          <p:cNvSpPr/>
          <p:nvPr/>
        </p:nvSpPr>
        <p:spPr>
          <a:xfrm>
            <a:off x="3584448" y="3611880"/>
            <a:ext cx="969264" cy="329184"/>
          </a:xfrm>
          <a:prstGeom prst="rect">
            <a:avLst/>
          </a:prstGeom>
          <a:solidFill>
            <a:srgbClr val="1E2025"/>
          </a:solidFill>
          <a:ln w="9525">
            <a:solidFill>
              <a:srgbClr val="4A4E55"/>
            </a:solidFill>
            <a:prstDash val="solid"/>
          </a:ln>
        </p:spPr>
      </p:sp>
      <p:sp>
        <p:nvSpPr>
          <p:cNvPr id="17" name="Text 14"/>
          <p:cNvSpPr txBox="1"/>
          <p:nvPr/>
        </p:nvSpPr>
        <p:spPr>
          <a:xfrm>
            <a:off x="3584448" y="3611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M4</a:t>
            </a:r>
            <a:endParaRPr lang="en-US" sz="1100" dirty="0"/>
          </a:p>
        </p:txBody>
      </p:sp>
      <p:sp>
        <p:nvSpPr>
          <p:cNvPr id="18" name="Text 15"/>
          <p:cNvSpPr txBox="1"/>
          <p:nvPr/>
        </p:nvSpPr>
        <p:spPr>
          <a:xfrm>
            <a:off x="3566160" y="4023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Lowering, JS</a:t>
            </a:r>
            <a:endParaRPr lang="en-US" sz="1100" dirty="0"/>
          </a:p>
        </p:txBody>
      </p:sp>
      <p:sp>
        <p:nvSpPr>
          <p:cNvPr id="19" name="milestone"/>
          <p:cNvSpPr/>
          <p:nvPr/>
        </p:nvSpPr>
        <p:spPr>
          <a:xfrm>
            <a:off x="4590288" y="3611880"/>
            <a:ext cx="969264" cy="329184"/>
          </a:xfrm>
          <a:prstGeom prst="rect">
            <a:avLst/>
          </a:prstGeom>
          <a:solidFill>
            <a:srgbClr val="1E2025"/>
          </a:solidFill>
          <a:ln w="9525">
            <a:solidFill>
              <a:srgbClr val="4A4E55"/>
            </a:solidFill>
            <a:prstDash val="solid"/>
          </a:ln>
        </p:spPr>
      </p:sp>
      <p:sp>
        <p:nvSpPr>
          <p:cNvPr id="20" name="Text 17"/>
          <p:cNvSpPr txBox="1"/>
          <p:nvPr/>
        </p:nvSpPr>
        <p:spPr>
          <a:xfrm>
            <a:off x="4590288" y="3611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M5</a:t>
            </a:r>
            <a:endParaRPr lang="en-US" sz="1100" dirty="0"/>
          </a:p>
        </p:txBody>
      </p:sp>
      <p:sp>
        <p:nvSpPr>
          <p:cNvPr id="21" name="Text 18"/>
          <p:cNvSpPr txBox="1"/>
          <p:nvPr/>
        </p:nvSpPr>
        <p:spPr>
          <a:xfrm>
            <a:off x="4572000" y="4023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VLQ encoder</a:t>
            </a:r>
            <a:endParaRPr lang="en-US" sz="1100" dirty="0"/>
          </a:p>
        </p:txBody>
      </p:sp>
      <p:sp>
        <p:nvSpPr>
          <p:cNvPr id="22" name="milestone"/>
          <p:cNvSpPr/>
          <p:nvPr/>
        </p:nvSpPr>
        <p:spPr>
          <a:xfrm>
            <a:off x="5596128" y="3611880"/>
            <a:ext cx="969264" cy="329184"/>
          </a:xfrm>
          <a:prstGeom prst="rect">
            <a:avLst/>
          </a:prstGeom>
          <a:solidFill>
            <a:srgbClr val="1E2025"/>
          </a:solidFill>
          <a:ln w="9525">
            <a:solidFill>
              <a:srgbClr val="4A4E55"/>
            </a:solidFill>
            <a:prstDash val="solid"/>
          </a:ln>
        </p:spPr>
      </p:sp>
      <p:sp>
        <p:nvSpPr>
          <p:cNvPr id="23" name="Text 20"/>
          <p:cNvSpPr txBox="1"/>
          <p:nvPr/>
        </p:nvSpPr>
        <p:spPr>
          <a:xfrm>
            <a:off x="5596128" y="3611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M6</a:t>
            </a:r>
            <a:endParaRPr lang="en-US" sz="1100" dirty="0"/>
          </a:p>
        </p:txBody>
      </p:sp>
      <p:sp>
        <p:nvSpPr>
          <p:cNvPr id="24" name="Text 21"/>
          <p:cNvSpPr txBox="1"/>
          <p:nvPr/>
        </p:nvSpPr>
        <p:spPr>
          <a:xfrm>
            <a:off x="5577840" y="4023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Source map</a:t>
            </a:r>
            <a:endParaRPr lang="en-US" sz="1100" dirty="0"/>
          </a:p>
        </p:txBody>
      </p:sp>
      <p:sp>
        <p:nvSpPr>
          <p:cNvPr id="25" name="milestone"/>
          <p:cNvSpPr/>
          <p:nvPr/>
        </p:nvSpPr>
        <p:spPr>
          <a:xfrm>
            <a:off x="6601968" y="3611880"/>
            <a:ext cx="969264" cy="329184"/>
          </a:xfrm>
          <a:prstGeom prst="rect">
            <a:avLst/>
          </a:prstGeom>
          <a:solidFill>
            <a:srgbClr val="0F1012"/>
          </a:solidFill>
          <a:ln w="9525">
            <a:solidFill>
              <a:srgbClr val="3A3D44"/>
            </a:solidFill>
            <a:prstDash val="solid"/>
          </a:ln>
        </p:spPr>
      </p:sp>
      <p:sp>
        <p:nvSpPr>
          <p:cNvPr id="26" name="Text 23"/>
          <p:cNvSpPr txBox="1"/>
          <p:nvPr/>
        </p:nvSpPr>
        <p:spPr>
          <a:xfrm>
            <a:off x="6601968" y="3611880"/>
            <a:ext cx="969264" cy="329184"/>
          </a:xfrm>
          <a:prstGeom prst="rect">
            <a:avLst/>
          </a:prstGeom>
          <a:noFill/>
          <a:ln/>
        </p:spPr>
        <p:txBody>
          <a:bodyPr wrap="square" lIns="0" tIns="0" rIns="0" bIns="0" rtlCol="0" anchor="ctr"/>
          <a:lstStyle/>
          <a:p>
            <a:pPr algn="ctr" indent="0" marL="0">
              <a:buNone/>
            </a:pPr>
            <a:r>
              <a:rPr lang="en-US" sz="1100" b="1" dirty="0">
                <a:solidFill>
                  <a:schemeClr val="accent5"/>
                </a:solidFill>
                <a:latin typeface="Consolas" pitchFamily="34" charset="0"/>
                <a:ea typeface="Consolas" pitchFamily="34" charset="-122"/>
                <a:cs typeface="Consolas" pitchFamily="34" charset="-120"/>
              </a:rPr>
              <a:t>M7</a:t>
            </a:r>
            <a:endParaRPr lang="en-US" sz="1100" dirty="0"/>
          </a:p>
        </p:txBody>
      </p:sp>
      <p:sp>
        <p:nvSpPr>
          <p:cNvPr id="27" name="Text 24"/>
          <p:cNvSpPr txBox="1"/>
          <p:nvPr/>
        </p:nvSpPr>
        <p:spPr>
          <a:xfrm>
            <a:off x="6583680" y="402336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Browser proof</a:t>
            </a:r>
            <a:endParaRPr lang="en-US" sz="1100" dirty="0"/>
          </a:p>
        </p:txBody>
      </p:sp>
      <p:sp>
        <p:nvSpPr>
          <p:cNvPr id="28" name="milestone"/>
          <p:cNvSpPr/>
          <p:nvPr/>
        </p:nvSpPr>
        <p:spPr>
          <a:xfrm>
            <a:off x="7607808" y="3611880"/>
            <a:ext cx="969264" cy="329184"/>
          </a:xfrm>
          <a:prstGeom prst="rect">
            <a:avLst/>
          </a:prstGeom>
          <a:solidFill>
            <a:srgbClr val="0F1012"/>
          </a:solidFill>
          <a:ln w="9525">
            <a:solidFill>
              <a:srgbClr val="3A3D44"/>
            </a:solidFill>
            <a:prstDash val="solid"/>
          </a:ln>
        </p:spPr>
      </p:sp>
      <p:sp>
        <p:nvSpPr>
          <p:cNvPr id="29" name="Text 26"/>
          <p:cNvSpPr txBox="1"/>
          <p:nvPr/>
        </p:nvSpPr>
        <p:spPr>
          <a:xfrm>
            <a:off x="7607808" y="3611880"/>
            <a:ext cx="969264" cy="329184"/>
          </a:xfrm>
          <a:prstGeom prst="rect">
            <a:avLst/>
          </a:prstGeom>
          <a:noFill/>
          <a:ln/>
        </p:spPr>
        <p:txBody>
          <a:bodyPr wrap="square" lIns="0" tIns="0" rIns="0" bIns="0" rtlCol="0" anchor="ctr"/>
          <a:lstStyle/>
          <a:p>
            <a:pPr algn="ctr" indent="0" marL="0">
              <a:buNone/>
            </a:pPr>
            <a:r>
              <a:rPr lang="en-US" sz="1100" b="1" dirty="0">
                <a:solidFill>
                  <a:schemeClr val="accent5"/>
                </a:solidFill>
                <a:latin typeface="Consolas" pitchFamily="34" charset="0"/>
                <a:ea typeface="Consolas" pitchFamily="34" charset="-122"/>
                <a:cs typeface="Consolas" pitchFamily="34" charset="-120"/>
              </a:rPr>
              <a:t>M8</a:t>
            </a:r>
            <a:endParaRPr lang="en-US" sz="1100" dirty="0"/>
          </a:p>
        </p:txBody>
      </p:sp>
      <p:sp>
        <p:nvSpPr>
          <p:cNvPr id="30" name="Text 27"/>
          <p:cNvSpPr txBox="1"/>
          <p:nvPr/>
        </p:nvSpPr>
        <p:spPr>
          <a:xfrm>
            <a:off x="7589520" y="402336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-O1, report</a:t>
            </a:r>
            <a:endParaRPr lang="en-US" sz="11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architecture</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The whole pipeline now runs</a:t>
            </a:r>
            <a:endParaRPr lang="en-US" sz="2800" dirty="0"/>
          </a:p>
        </p:txBody>
      </p:sp>
      <p:sp>
        <p:nvSpPr>
          <p:cNvPr id="4" name="Text 2"/>
          <p:cNvSpPr txBox="1"/>
          <p:nvPr/>
        </p:nvSpPr>
        <p:spPr>
          <a:xfrm>
            <a:off x="548640" y="1371600"/>
            <a:ext cx="1828800" cy="22860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program.tth</a:t>
            </a:r>
            <a:endParaRPr lang="en-US" sz="1200" dirty="0"/>
          </a:p>
        </p:txBody>
      </p:sp>
      <p:sp>
        <p:nvSpPr>
          <p:cNvPr id="5" name="Text 3"/>
          <p:cNvSpPr txBox="1"/>
          <p:nvPr/>
        </p:nvSpPr>
        <p:spPr>
          <a:xfrm>
            <a:off x="4937760" y="1371600"/>
            <a:ext cx="3657600" cy="228600"/>
          </a:xfrm>
          <a:prstGeom prst="rect">
            <a:avLst/>
          </a:prstGeom>
          <a:noFill/>
          <a:ln/>
        </p:spPr>
        <p:txBody>
          <a:bodyPr wrap="square" lIns="0" tIns="0" rIns="0" bIns="0" rtlCol="0" anchor="t"/>
          <a:lstStyle/>
          <a:p>
            <a:pPr algn="r" indent="0" marL="0">
              <a:buNone/>
            </a:pPr>
            <a:r>
              <a:rPr lang="en-US" sz="1200" dirty="0">
                <a:solidFill>
                  <a:schemeClr val="tx2"/>
                </a:solidFill>
                <a:latin typeface="Consolas" pitchFamily="34" charset="0"/>
                <a:ea typeface="Consolas" pitchFamily="34" charset="-122"/>
                <a:cs typeface="Consolas" pitchFamily="34" charset="-120"/>
              </a:rPr>
              <a:t>program.js + program.js.map</a:t>
            </a:r>
            <a:endParaRPr lang="en-US" sz="1200" dirty="0"/>
          </a:p>
        </p:txBody>
      </p:sp>
      <p:sp>
        <p:nvSpPr>
          <p:cNvPr id="6" name="stage"/>
          <p:cNvSpPr/>
          <p:nvPr/>
        </p:nvSpPr>
        <p:spPr>
          <a:xfrm>
            <a:off x="548640" y="1737360"/>
            <a:ext cx="1203960" cy="868680"/>
          </a:xfrm>
          <a:prstGeom prst="rect">
            <a:avLst/>
          </a:prstGeom>
          <a:solidFill>
            <a:srgbClr val="1E2025"/>
          </a:solidFill>
          <a:ln w="12700">
            <a:solidFill>
              <a:srgbClr val="4A4E55"/>
            </a:solidFill>
            <a:prstDash val="solid"/>
          </a:ln>
        </p:spPr>
      </p:sp>
      <p:sp>
        <p:nvSpPr>
          <p:cNvPr id="7" name="Text 5"/>
          <p:cNvSpPr txBox="1"/>
          <p:nvPr/>
        </p:nvSpPr>
        <p:spPr>
          <a:xfrm>
            <a:off x="548640" y="1737360"/>
            <a:ext cx="1203960" cy="868680"/>
          </a:xfrm>
          <a:prstGeom prst="rect">
            <a:avLst/>
          </a:prstGeom>
          <a:noFill/>
          <a:ln/>
        </p:spPr>
        <p:txBody>
          <a:bodyPr wrap="square" lIns="0" tIns="0" rIns="0" bIns="0" rtlCol="0" anchor="ctr"/>
          <a:lstStyle/>
          <a:p>
            <a:pPr algn="ctr" indent="0" marL="0">
              <a:buNone/>
            </a:pPr>
            <a:r>
              <a:rPr lang="en-US" sz="1300" b="1" dirty="0">
                <a:solidFill>
                  <a:schemeClr val="tx1"/>
                </a:solidFill>
              </a:rPr>
              <a:t>Lexer</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M1</a:t>
            </a:r>
            <a:endParaRPr lang="en-US" sz="1300" dirty="0"/>
          </a:p>
        </p:txBody>
      </p:sp>
      <p:sp>
        <p:nvSpPr>
          <p:cNvPr id="8" name="flow"/>
          <p:cNvSpPr/>
          <p:nvPr/>
        </p:nvSpPr>
        <p:spPr>
          <a:xfrm>
            <a:off x="1770888" y="2171700"/>
            <a:ext cx="128016" cy="0"/>
          </a:xfrm>
          <a:prstGeom prst="line">
            <a:avLst/>
          </a:prstGeom>
          <a:noFill/>
          <a:ln w="12700">
            <a:solidFill>
              <a:srgbClr val="5A5E66"/>
            </a:solidFill>
            <a:prstDash val="solid"/>
            <a:tailEnd type="triangle"/>
          </a:ln>
        </p:spPr>
      </p:sp>
      <p:sp>
        <p:nvSpPr>
          <p:cNvPr id="9" name="stage"/>
          <p:cNvSpPr/>
          <p:nvPr/>
        </p:nvSpPr>
        <p:spPr>
          <a:xfrm>
            <a:off x="1917192" y="1737360"/>
            <a:ext cx="1203960" cy="868680"/>
          </a:xfrm>
          <a:prstGeom prst="rect">
            <a:avLst/>
          </a:prstGeom>
          <a:solidFill>
            <a:srgbClr val="1E2025"/>
          </a:solidFill>
          <a:ln w="12700">
            <a:solidFill>
              <a:srgbClr val="4A4E55"/>
            </a:solidFill>
            <a:prstDash val="solid"/>
          </a:ln>
        </p:spPr>
      </p:sp>
      <p:sp>
        <p:nvSpPr>
          <p:cNvPr id="10" name="Text 8"/>
          <p:cNvSpPr txBox="1"/>
          <p:nvPr/>
        </p:nvSpPr>
        <p:spPr>
          <a:xfrm>
            <a:off x="1917192" y="1737360"/>
            <a:ext cx="1203960" cy="868680"/>
          </a:xfrm>
          <a:prstGeom prst="rect">
            <a:avLst/>
          </a:prstGeom>
          <a:noFill/>
          <a:ln/>
        </p:spPr>
        <p:txBody>
          <a:bodyPr wrap="square" lIns="0" tIns="0" rIns="0" bIns="0" rtlCol="0" anchor="ctr"/>
          <a:lstStyle/>
          <a:p>
            <a:pPr algn="ctr" indent="0" marL="0">
              <a:buNone/>
            </a:pPr>
            <a:r>
              <a:rPr lang="en-US" sz="1300" b="1" dirty="0">
                <a:solidFill>
                  <a:schemeClr val="tx1"/>
                </a:solidFill>
              </a:rPr>
              <a:t>Parser</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M2</a:t>
            </a:r>
            <a:endParaRPr lang="en-US" sz="1300" dirty="0"/>
          </a:p>
        </p:txBody>
      </p:sp>
      <p:sp>
        <p:nvSpPr>
          <p:cNvPr id="11" name="flow"/>
          <p:cNvSpPr/>
          <p:nvPr/>
        </p:nvSpPr>
        <p:spPr>
          <a:xfrm>
            <a:off x="3139440" y="2171700"/>
            <a:ext cx="128016" cy="0"/>
          </a:xfrm>
          <a:prstGeom prst="line">
            <a:avLst/>
          </a:prstGeom>
          <a:noFill/>
          <a:ln w="12700">
            <a:solidFill>
              <a:srgbClr val="5A5E66"/>
            </a:solidFill>
            <a:prstDash val="solid"/>
            <a:tailEnd type="triangle"/>
          </a:ln>
        </p:spPr>
      </p:sp>
      <p:sp>
        <p:nvSpPr>
          <p:cNvPr id="12" name="stage"/>
          <p:cNvSpPr/>
          <p:nvPr/>
        </p:nvSpPr>
        <p:spPr>
          <a:xfrm>
            <a:off x="3285744" y="1737360"/>
            <a:ext cx="1203960" cy="868680"/>
          </a:xfrm>
          <a:prstGeom prst="rect">
            <a:avLst/>
          </a:prstGeom>
          <a:solidFill>
            <a:srgbClr val="1E2025"/>
          </a:solidFill>
          <a:ln w="12700">
            <a:solidFill>
              <a:srgbClr val="4A4E55"/>
            </a:solidFill>
            <a:prstDash val="solid"/>
          </a:ln>
        </p:spPr>
      </p:sp>
      <p:sp>
        <p:nvSpPr>
          <p:cNvPr id="13" name="Text 11"/>
          <p:cNvSpPr txBox="1"/>
          <p:nvPr/>
        </p:nvSpPr>
        <p:spPr>
          <a:xfrm>
            <a:off x="3285744" y="1737360"/>
            <a:ext cx="1203960" cy="868680"/>
          </a:xfrm>
          <a:prstGeom prst="rect">
            <a:avLst/>
          </a:prstGeom>
          <a:noFill/>
          <a:ln/>
        </p:spPr>
        <p:txBody>
          <a:bodyPr wrap="square" lIns="0" tIns="0" rIns="0" bIns="0" rtlCol="0" anchor="ctr"/>
          <a:lstStyle/>
          <a:p>
            <a:pPr algn="ctr" indent="0" marL="0">
              <a:buNone/>
            </a:pPr>
            <a:r>
              <a:rPr lang="en-US" sz="1300" b="1" dirty="0">
                <a:solidFill>
                  <a:schemeClr val="tx1"/>
                </a:solidFill>
              </a:rPr>
              <a:t>Type checker</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M3 · new</a:t>
            </a:r>
            <a:endParaRPr lang="en-US" sz="1300" dirty="0"/>
          </a:p>
        </p:txBody>
      </p:sp>
      <p:sp>
        <p:nvSpPr>
          <p:cNvPr id="14" name="flow"/>
          <p:cNvSpPr/>
          <p:nvPr/>
        </p:nvSpPr>
        <p:spPr>
          <a:xfrm>
            <a:off x="4507992" y="2171700"/>
            <a:ext cx="128016" cy="0"/>
          </a:xfrm>
          <a:prstGeom prst="line">
            <a:avLst/>
          </a:prstGeom>
          <a:noFill/>
          <a:ln w="12700">
            <a:solidFill>
              <a:srgbClr val="5A5E66"/>
            </a:solidFill>
            <a:prstDash val="solid"/>
            <a:tailEnd type="triangle"/>
          </a:ln>
        </p:spPr>
      </p:sp>
      <p:sp>
        <p:nvSpPr>
          <p:cNvPr id="15" name="stage"/>
          <p:cNvSpPr/>
          <p:nvPr/>
        </p:nvSpPr>
        <p:spPr>
          <a:xfrm>
            <a:off x="4654296" y="1737360"/>
            <a:ext cx="1203960" cy="868680"/>
          </a:xfrm>
          <a:prstGeom prst="rect">
            <a:avLst/>
          </a:prstGeom>
          <a:solidFill>
            <a:srgbClr val="1E2025"/>
          </a:solidFill>
          <a:ln w="12700">
            <a:solidFill>
              <a:srgbClr val="4A4E55"/>
            </a:solidFill>
            <a:prstDash val="solid"/>
          </a:ln>
        </p:spPr>
      </p:sp>
      <p:sp>
        <p:nvSpPr>
          <p:cNvPr id="16" name="Text 14"/>
          <p:cNvSpPr txBox="1"/>
          <p:nvPr/>
        </p:nvSpPr>
        <p:spPr>
          <a:xfrm>
            <a:off x="4654296" y="1737360"/>
            <a:ext cx="1203960" cy="868680"/>
          </a:xfrm>
          <a:prstGeom prst="rect">
            <a:avLst/>
          </a:prstGeom>
          <a:noFill/>
          <a:ln/>
        </p:spPr>
        <p:txBody>
          <a:bodyPr wrap="square" lIns="0" tIns="0" rIns="0" bIns="0" rtlCol="0" anchor="ctr"/>
          <a:lstStyle/>
          <a:p>
            <a:pPr algn="ctr" indent="0" marL="0">
              <a:buNone/>
            </a:pPr>
            <a:r>
              <a:rPr lang="en-US" sz="1300" b="1" dirty="0">
                <a:solidFill>
                  <a:schemeClr val="tx1"/>
                </a:solidFill>
              </a:rPr>
              <a:t>Lowering</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M4 · new</a:t>
            </a:r>
            <a:endParaRPr lang="en-US" sz="1300" dirty="0"/>
          </a:p>
        </p:txBody>
      </p:sp>
      <p:sp>
        <p:nvSpPr>
          <p:cNvPr id="17" name="flow"/>
          <p:cNvSpPr/>
          <p:nvPr/>
        </p:nvSpPr>
        <p:spPr>
          <a:xfrm>
            <a:off x="5876544" y="2171700"/>
            <a:ext cx="128016" cy="0"/>
          </a:xfrm>
          <a:prstGeom prst="line">
            <a:avLst/>
          </a:prstGeom>
          <a:noFill/>
          <a:ln w="12700">
            <a:solidFill>
              <a:srgbClr val="5A5E66"/>
            </a:solidFill>
            <a:prstDash val="solid"/>
            <a:tailEnd type="triangle"/>
          </a:ln>
        </p:spPr>
      </p:sp>
      <p:sp>
        <p:nvSpPr>
          <p:cNvPr id="18" name="stage"/>
          <p:cNvSpPr/>
          <p:nvPr/>
        </p:nvSpPr>
        <p:spPr>
          <a:xfrm>
            <a:off x="6022848" y="1737360"/>
            <a:ext cx="1203960" cy="868680"/>
          </a:xfrm>
          <a:prstGeom prst="rect">
            <a:avLst/>
          </a:prstGeom>
          <a:solidFill>
            <a:srgbClr val="1E2025"/>
          </a:solidFill>
          <a:ln w="12700">
            <a:solidFill>
              <a:srgbClr val="4A4E55"/>
            </a:solidFill>
            <a:prstDash val="solid"/>
          </a:ln>
        </p:spPr>
      </p:sp>
      <p:sp>
        <p:nvSpPr>
          <p:cNvPr id="19" name="Text 17"/>
          <p:cNvSpPr txBox="1"/>
          <p:nvPr/>
        </p:nvSpPr>
        <p:spPr>
          <a:xfrm>
            <a:off x="6022848" y="1737360"/>
            <a:ext cx="1203960" cy="868680"/>
          </a:xfrm>
          <a:prstGeom prst="rect">
            <a:avLst/>
          </a:prstGeom>
          <a:noFill/>
          <a:ln/>
        </p:spPr>
        <p:txBody>
          <a:bodyPr wrap="square" lIns="0" tIns="0" rIns="0" bIns="0" rtlCol="0" anchor="ctr"/>
          <a:lstStyle/>
          <a:p>
            <a:pPr algn="ctr" indent="0" marL="0">
              <a:buNone/>
            </a:pPr>
            <a:r>
              <a:rPr lang="en-US" sz="1300" b="1" dirty="0">
                <a:solidFill>
                  <a:schemeClr val="tx1"/>
                </a:solidFill>
              </a:rPr>
              <a:t>JS emitter</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M4 · new</a:t>
            </a:r>
            <a:endParaRPr lang="en-US" sz="1300" dirty="0"/>
          </a:p>
        </p:txBody>
      </p:sp>
      <p:sp>
        <p:nvSpPr>
          <p:cNvPr id="20" name="flow"/>
          <p:cNvSpPr/>
          <p:nvPr/>
        </p:nvSpPr>
        <p:spPr>
          <a:xfrm>
            <a:off x="7245096" y="2171700"/>
            <a:ext cx="128016" cy="0"/>
          </a:xfrm>
          <a:prstGeom prst="line">
            <a:avLst/>
          </a:prstGeom>
          <a:noFill/>
          <a:ln w="12700">
            <a:solidFill>
              <a:srgbClr val="5A5E66"/>
            </a:solidFill>
            <a:prstDash val="solid"/>
            <a:tailEnd type="triangle"/>
          </a:ln>
        </p:spPr>
      </p:sp>
      <p:sp>
        <p:nvSpPr>
          <p:cNvPr id="21" name="stage"/>
          <p:cNvSpPr/>
          <p:nvPr/>
        </p:nvSpPr>
        <p:spPr>
          <a:xfrm>
            <a:off x="7391400" y="1737360"/>
            <a:ext cx="1203960" cy="868680"/>
          </a:xfrm>
          <a:prstGeom prst="rect">
            <a:avLst/>
          </a:prstGeom>
          <a:solidFill>
            <a:srgbClr val="1E2025"/>
          </a:solidFill>
          <a:ln w="12700">
            <a:solidFill>
              <a:srgbClr val="4A4E55"/>
            </a:solidFill>
            <a:prstDash val="solid"/>
          </a:ln>
        </p:spPr>
      </p:sp>
      <p:sp>
        <p:nvSpPr>
          <p:cNvPr id="22" name="Text 20"/>
          <p:cNvSpPr txBox="1"/>
          <p:nvPr/>
        </p:nvSpPr>
        <p:spPr>
          <a:xfrm>
            <a:off x="7391400" y="1737360"/>
            <a:ext cx="1203960" cy="868680"/>
          </a:xfrm>
          <a:prstGeom prst="rect">
            <a:avLst/>
          </a:prstGeom>
          <a:noFill/>
          <a:ln/>
        </p:spPr>
        <p:txBody>
          <a:bodyPr wrap="square" lIns="0" tIns="0" rIns="0" bIns="0" rtlCol="0" anchor="ctr"/>
          <a:lstStyle/>
          <a:p>
            <a:pPr algn="ctr" indent="0" marL="0">
              <a:buNone/>
            </a:pPr>
            <a:r>
              <a:rPr lang="en-US" sz="1300" b="1" dirty="0">
                <a:solidFill>
                  <a:schemeClr val="tx1"/>
                </a:solidFill>
              </a:rPr>
              <a:t>Source map</a:t>
            </a:r>
            <a:endParaRPr lang="en-US" sz="1300" dirty="0"/>
          </a:p>
          <a:p>
            <a:pPr algn="ctr" indent="0" marL="0">
              <a:buNone/>
            </a:pPr>
            <a:r>
              <a:rPr lang="en-US" sz="1000" dirty="0">
                <a:solidFill>
                  <a:schemeClr val="tx1"/>
                </a:solidFill>
                <a:latin typeface="Consolas" pitchFamily="34" charset="0"/>
                <a:ea typeface="Consolas" pitchFamily="34" charset="-122"/>
                <a:cs typeface="Consolas" pitchFamily="34" charset="-120"/>
              </a:rPr>
              <a:t>M5–6 · new</a:t>
            </a:r>
            <a:endParaRPr lang="en-US" sz="1300" dirty="0"/>
          </a:p>
        </p:txBody>
      </p:sp>
      <p:sp>
        <p:nvSpPr>
          <p:cNvPr id="23" name="diagnostics"/>
          <p:cNvSpPr/>
          <p:nvPr/>
        </p:nvSpPr>
        <p:spPr>
          <a:xfrm>
            <a:off x="548640" y="2834640"/>
            <a:ext cx="8046720" cy="457200"/>
          </a:xfrm>
          <a:prstGeom prst="rect">
            <a:avLst/>
          </a:prstGeom>
          <a:solidFill>
            <a:srgbClr val="0F1012"/>
          </a:solidFill>
          <a:ln w="12700">
            <a:solidFill>
              <a:srgbClr val="4A4E55"/>
            </a:solidFill>
            <a:prstDash val="solid"/>
          </a:ln>
        </p:spPr>
      </p:sp>
      <p:sp>
        <p:nvSpPr>
          <p:cNvPr id="24" name="Text 22"/>
          <p:cNvSpPr txBox="1"/>
          <p:nvPr/>
        </p:nvSpPr>
        <p:spPr>
          <a:xfrm>
            <a:off x="548640" y="2834640"/>
            <a:ext cx="8046720" cy="457200"/>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diagnostics.js</a:t>
            </a:r>
            <a:pPr algn="ctr" indent="0" marL="0">
              <a:buNone/>
            </a:pPr>
            <a:r>
              <a:rPr lang="en-US" sz="1300" dirty="0">
                <a:solidFill>
                  <a:schemeClr val="tx1"/>
                </a:solidFill>
              </a:rPr>
              <a:t>   every phase reports here; code generation runs only if there are no errors (FR-S4)</a:t>
            </a:r>
            <a:endParaRPr lang="en-US" sz="1300" dirty="0"/>
          </a:p>
        </p:txBody>
      </p:sp>
      <p:sp>
        <p:nvSpPr>
          <p:cNvPr id="25" name="Text 23"/>
          <p:cNvSpPr txBox="1"/>
          <p:nvPr/>
        </p:nvSpPr>
        <p:spPr>
          <a:xfrm>
            <a:off x="548640" y="3566160"/>
            <a:ext cx="3657600" cy="228600"/>
          </a:xfrm>
          <a:prstGeom prst="rect">
            <a:avLst/>
          </a:prstGeom>
          <a:noFill/>
          <a:ln/>
        </p:spPr>
        <p:txBody>
          <a:bodyPr wrap="square" lIns="0" tIns="0" rIns="0" bIns="0" rtlCol="0" anchor="t"/>
          <a:lstStyle/>
          <a:p>
            <a:pPr indent="0" marL="0">
              <a:buNone/>
            </a:pPr>
            <a:r>
              <a:rPr lang="en-US" sz="1200" b="1" dirty="0">
                <a:solidFill>
                  <a:schemeClr val="tx2"/>
                </a:solidFill>
              </a:rPr>
              <a:t>New modules (lines)</a:t>
            </a:r>
            <a:endParaRPr lang="en-US" sz="1200" dirty="0"/>
          </a:p>
        </p:txBody>
      </p:sp>
      <p:sp>
        <p:nvSpPr>
          <p:cNvPr id="26" name="Text 24"/>
          <p:cNvSpPr txBox="1"/>
          <p:nvPr/>
        </p:nvSpPr>
        <p:spPr>
          <a:xfrm>
            <a:off x="548640" y="3822192"/>
            <a:ext cx="8046720" cy="274320"/>
          </a:xfrm>
          <a:prstGeom prst="rect">
            <a:avLst/>
          </a:prstGeom>
          <a:noFill/>
          <a:ln/>
        </p:spPr>
        <p:txBody>
          <a:bodyPr wrap="square" lIns="0" tIns="0" rIns="0" bIns="0" rtlCol="0" anchor="t"/>
          <a:lstStyle/>
          <a:p>
            <a:pPr indent="0" marL="0">
              <a:buNone/>
            </a:pPr>
            <a:r>
              <a:rPr lang="en-US" sz="1150" dirty="0">
                <a:solidFill>
                  <a:schemeClr val="tx2"/>
                </a:solidFill>
                <a:latin typeface="Consolas" pitchFamily="34" charset="0"/>
                <a:ea typeface="Consolas" pitchFamily="34" charset="-122"/>
                <a:cs typeface="Consolas" pitchFamily="34" charset="-120"/>
              </a:rPr>
              <a:t>checker.js 401 · lower.js 104 · emit.js 250 · vlq.js 47 · sourcemap.js 87</a:t>
            </a:r>
            <a:endParaRPr lang="en-US" sz="1150" dirty="0"/>
          </a:p>
        </p:txBody>
      </p:sp>
      <p:sp>
        <p:nvSpPr>
          <p:cNvPr id="27" name="Text 25"/>
          <p:cNvSpPr txBox="1"/>
          <p:nvPr/>
        </p:nvSpPr>
        <p:spPr>
          <a:xfrm>
            <a:off x="548640" y="4297680"/>
            <a:ext cx="8046720" cy="274320"/>
          </a:xfrm>
          <a:prstGeom prst="rect">
            <a:avLst/>
          </a:prstGeom>
          <a:noFill/>
          <a:ln/>
        </p:spPr>
        <p:txBody>
          <a:bodyPr wrap="square" lIns="0" tIns="0" rIns="0" bIns="0" rtlCol="0" anchor="t"/>
          <a:lstStyle/>
          <a:p>
            <a:pPr indent="0" marL="0">
              <a:buNone/>
            </a:pPr>
            <a:r>
              <a:rPr lang="en-US" sz="1200" i="1" dirty="0">
                <a:solidFill>
                  <a:schemeClr val="accent5"/>
                </a:solidFill>
              </a:rPr>
              <a:t>Still no third-party dependencies (NFR-1). A full compile takes under 0.1 ms per benchmark.</a:t>
            </a:r>
            <a:endParaRPr lang="en-US" sz="12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03-checker · milestone 3</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Type checker: every error, one run</a:t>
            </a:r>
            <a:endParaRPr lang="en-US" sz="2800" dirty="0"/>
          </a:p>
        </p:txBody>
      </p:sp>
      <p:sp>
        <p:nvSpPr>
          <p:cNvPr id="4" name="code"/>
          <p:cNvSpPr/>
          <p:nvPr/>
        </p:nvSpPr>
        <p:spPr>
          <a:xfrm>
            <a:off x="548640" y="1280160"/>
            <a:ext cx="5029200" cy="2926080"/>
          </a:xfrm>
          <a:prstGeom prst="rect">
            <a:avLst/>
          </a:prstGeom>
          <a:solidFill>
            <a:srgbClr val="1E2025"/>
          </a:solidFill>
          <a:ln w="9525">
            <a:solidFill>
              <a:srgbClr val="2E3138"/>
            </a:solidFill>
          </a:ln>
        </p:spPr>
      </p:sp>
      <p:sp>
        <p:nvSpPr>
          <p:cNvPr id="5" name="Text 3"/>
          <p:cNvSpPr txBox="1"/>
          <p:nvPr/>
        </p:nvSpPr>
        <p:spPr>
          <a:xfrm>
            <a:off x="731520" y="1426464"/>
            <a:ext cx="4663440" cy="2633472"/>
          </a:xfrm>
          <a:prstGeom prst="rect">
            <a:avLst/>
          </a:prstGeom>
          <a:noFill/>
          <a:ln/>
        </p:spPr>
        <p:txBody>
          <a:bodyPr wrap="square" lIns="0" tIns="0" rIns="0" bIns="0" rtlCol="0" anchor="t"/>
          <a:lstStyle/>
          <a:p>
            <a:pPr indent="0" marL="0">
              <a:lnSpc>
                <a:spcPct val="105000"/>
              </a:lnSpc>
              <a:buNone/>
            </a:pPr>
            <a:r>
              <a:rPr lang="en-US" sz="1100" dirty="0">
                <a:solidFill>
                  <a:srgbClr val="8A8E96"/>
                </a:solidFill>
                <a:latin typeface="Consolas" pitchFamily="34" charset="0"/>
                <a:ea typeface="Consolas" pitchFamily="34" charset="-122"/>
                <a:cs typeface="Consolas" pitchFamily="34" charset="-120"/>
              </a:rPr>
              <a:t>$ tether build semantic-errors.tth</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9:4: </a:t>
            </a:r>
            <a:pPr indent="0" marL="0">
              <a:lnSpc>
                <a:spcPct val="105000"/>
              </a:lnSpc>
              <a:buNone/>
            </a:pPr>
            <a:r>
              <a:rPr lang="en-US" sz="1100" dirty="0">
                <a:solidFill>
                  <a:srgbClr val="FF6F6B"/>
                </a:solidFill>
                <a:latin typeface="Consolas" pitchFamily="34" charset="0"/>
                <a:ea typeface="Consolas" pitchFamily="34" charset="-122"/>
                <a:cs typeface="Consolas" pitchFamily="34" charset="-120"/>
              </a:rPr>
              <a:t>error:</a:t>
            </a:r>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function 'sign' does not</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return a value on every path</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9 | fn sign(n: int): int {</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    </a:t>
            </a:r>
            <a:pPr indent="0" marL="0">
              <a:lnSpc>
                <a:spcPct val="105000"/>
              </a:lnSpc>
              <a:buNone/>
            </a:pPr>
            <a:r>
              <a:rPr lang="en-US" sz="1100" dirty="0">
                <a:solidFill>
                  <a:srgbClr val="F0B54A"/>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9:18: </a:t>
            </a:r>
            <a:pPr indent="0" marL="0">
              <a:lnSpc>
                <a:spcPct val="105000"/>
              </a:lnSpc>
              <a:buNone/>
            </a:pPr>
            <a:r>
              <a:rPr lang="en-US" sz="1100" dirty="0">
                <a:solidFill>
                  <a:srgbClr val="8A8E96"/>
                </a:solidFill>
                <a:latin typeface="Consolas" pitchFamily="34" charset="0"/>
                <a:ea typeface="Consolas" pitchFamily="34" charset="-122"/>
                <a:cs typeface="Consolas" pitchFamily="34" charset="-120"/>
              </a:rPr>
              <a:t>note:</a:t>
            </a:r>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its return type is 'int'</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16:5: </a:t>
            </a:r>
            <a:pPr indent="0" marL="0">
              <a:lnSpc>
                <a:spcPct val="105000"/>
              </a:lnSpc>
              <a:buNone/>
            </a:pPr>
            <a:r>
              <a:rPr lang="en-US" sz="1100" dirty="0">
                <a:solidFill>
                  <a:srgbClr val="FF6F6B"/>
                </a:solidFill>
                <a:latin typeface="Consolas" pitchFamily="34" charset="0"/>
                <a:ea typeface="Consolas" pitchFamily="34" charset="-122"/>
                <a:cs typeface="Consolas" pitchFamily="34" charset="-120"/>
              </a:rPr>
              <a:t>error:</a:t>
            </a:r>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'x' is already declared</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15:5: </a:t>
            </a:r>
            <a:pPr indent="0" marL="0">
              <a:lnSpc>
                <a:spcPct val="105000"/>
              </a:lnSpc>
              <a:buNone/>
            </a:pPr>
            <a:r>
              <a:rPr lang="en-US" sz="1100" dirty="0">
                <a:solidFill>
                  <a:srgbClr val="8A8E96"/>
                </a:solidFill>
                <a:latin typeface="Consolas" pitchFamily="34" charset="0"/>
                <a:ea typeface="Consolas" pitchFamily="34" charset="-122"/>
                <a:cs typeface="Consolas" pitchFamily="34" charset="-120"/>
              </a:rPr>
              <a:t>note:</a:t>
            </a:r>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previous declaration of 'x'</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20:7: </a:t>
            </a:r>
            <a:pPr indent="0" marL="0">
              <a:lnSpc>
                <a:spcPct val="105000"/>
              </a:lnSpc>
              <a:buNone/>
            </a:pPr>
            <a:r>
              <a:rPr lang="en-US" sz="1100" dirty="0">
                <a:solidFill>
                  <a:srgbClr val="FF6F6B"/>
                </a:solidFill>
                <a:latin typeface="Consolas" pitchFamily="34" charset="0"/>
                <a:ea typeface="Consolas" pitchFamily="34" charset="-122"/>
                <a:cs typeface="Consolas" pitchFamily="34" charset="-120"/>
              </a:rPr>
              <a:t>error:</a:t>
            </a:r>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'add' expects 2 arguments,</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but got 1</a:t>
            </a:r>
            <a:endParaRPr lang="en-US" sz="1100" dirty="0"/>
          </a:p>
          <a:p>
            <a:pPr indent="0" marL="0">
              <a:lnSpc>
                <a:spcPct val="105000"/>
              </a:lnSpc>
              <a:buNone/>
            </a:pPr>
            <a:r>
              <a:rPr lang="en-US" sz="1100" dirty="0">
                <a:solidFill>
                  <a:srgbClr val="8A8E96"/>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F6F6B"/>
                </a:solidFill>
                <a:latin typeface="Consolas" pitchFamily="34" charset="0"/>
                <a:ea typeface="Consolas" pitchFamily="34" charset="-122"/>
                <a:cs typeface="Consolas" pitchFamily="34" charset="-120"/>
              </a:rPr>
              <a:t>8 errors; no output written</a:t>
            </a:r>
            <a:endParaRPr lang="en-US" sz="1100" dirty="0"/>
          </a:p>
        </p:txBody>
      </p:sp>
      <p:sp>
        <p:nvSpPr>
          <p:cNvPr id="6" name="Text 4"/>
          <p:cNvSpPr txBox="1"/>
          <p:nvPr/>
        </p:nvSpPr>
        <p:spPr>
          <a:xfrm>
            <a:off x="5852160" y="1325880"/>
            <a:ext cx="2743200" cy="228600"/>
          </a:xfrm>
          <a:prstGeom prst="rect">
            <a:avLst/>
          </a:prstGeom>
          <a:noFill/>
          <a:ln/>
        </p:spPr>
        <p:txBody>
          <a:bodyPr wrap="square" lIns="0" tIns="0" rIns="0" bIns="0" rtlCol="0" anchor="t"/>
          <a:lstStyle/>
          <a:p>
            <a:pPr indent="0" marL="0">
              <a:buNone/>
            </a:pPr>
            <a:r>
              <a:rPr lang="en-US" sz="1400" b="1" dirty="0">
                <a:solidFill>
                  <a:schemeClr val="tx1"/>
                </a:solidFill>
              </a:rPr>
              <a:t>Scoped symbol table</a:t>
            </a:r>
            <a:endParaRPr lang="en-US" sz="1400" dirty="0"/>
          </a:p>
        </p:txBody>
      </p:sp>
      <p:sp>
        <p:nvSpPr>
          <p:cNvPr id="7" name="Text 5"/>
          <p:cNvSpPr txBox="1"/>
          <p:nvPr/>
        </p:nvSpPr>
        <p:spPr>
          <a:xfrm>
            <a:off x="5852160" y="1572768"/>
            <a:ext cx="2743200" cy="457200"/>
          </a:xfrm>
          <a:prstGeom prst="rect">
            <a:avLst/>
          </a:prstGeom>
          <a:noFill/>
          <a:ln/>
        </p:spPr>
        <p:txBody>
          <a:bodyPr wrap="square" lIns="0" tIns="0" rIns="0" bIns="0" rtlCol="0" anchor="t"/>
          <a:lstStyle/>
          <a:p>
            <a:pPr indent="0" marL="0">
              <a:buNone/>
            </a:pPr>
            <a:r>
              <a:rPr lang="en-US" sz="1250" dirty="0">
                <a:solidFill>
                  <a:schemeClr val="tx2"/>
                </a:solidFill>
              </a:rPr>
              <a:t>shadowing in a block is legal; redeclaring in one scope is an error</a:t>
            </a:r>
            <a:endParaRPr lang="en-US" sz="1250" dirty="0"/>
          </a:p>
        </p:txBody>
      </p:sp>
      <p:sp>
        <p:nvSpPr>
          <p:cNvPr id="8" name="Text 6"/>
          <p:cNvSpPr txBox="1"/>
          <p:nvPr/>
        </p:nvSpPr>
        <p:spPr>
          <a:xfrm>
            <a:off x="5852160" y="2103120"/>
            <a:ext cx="2743200" cy="228600"/>
          </a:xfrm>
          <a:prstGeom prst="rect">
            <a:avLst/>
          </a:prstGeom>
          <a:noFill/>
          <a:ln/>
        </p:spPr>
        <p:txBody>
          <a:bodyPr wrap="square" lIns="0" tIns="0" rIns="0" bIns="0" rtlCol="0" anchor="t"/>
          <a:lstStyle/>
          <a:p>
            <a:pPr indent="0" marL="0">
              <a:buNone/>
            </a:pPr>
            <a:r>
              <a:rPr lang="en-US" sz="1400" b="1" dirty="0">
                <a:solidFill>
                  <a:schemeClr val="tx1"/>
                </a:solidFill>
              </a:rPr>
              <a:t>Five FR-S2 checks</a:t>
            </a:r>
            <a:endParaRPr lang="en-US" sz="1400" dirty="0"/>
          </a:p>
        </p:txBody>
      </p:sp>
      <p:sp>
        <p:nvSpPr>
          <p:cNvPr id="9" name="Text 7"/>
          <p:cNvSpPr txBox="1"/>
          <p:nvPr/>
        </p:nvSpPr>
        <p:spPr>
          <a:xfrm>
            <a:off x="5852160" y="2350008"/>
            <a:ext cx="2743200" cy="457200"/>
          </a:xfrm>
          <a:prstGeom prst="rect">
            <a:avLst/>
          </a:prstGeom>
          <a:noFill/>
          <a:ln/>
        </p:spPr>
        <p:txBody>
          <a:bodyPr wrap="square" lIns="0" tIns="0" rIns="0" bIns="0" rtlCol="0" anchor="t"/>
          <a:lstStyle/>
          <a:p>
            <a:pPr indent="0" marL="0">
              <a:buNone/>
            </a:pPr>
            <a:r>
              <a:rPr lang="en-US" sz="1250" dirty="0">
                <a:solidFill>
                  <a:schemeClr val="tx2"/>
                </a:solidFill>
              </a:rPr>
              <a:t>operands, conditions, argument count and type, missing return</a:t>
            </a:r>
            <a:endParaRPr lang="en-US" sz="1250" dirty="0"/>
          </a:p>
        </p:txBody>
      </p:sp>
      <p:sp>
        <p:nvSpPr>
          <p:cNvPr id="10" name="Text 8"/>
          <p:cNvSpPr txBox="1"/>
          <p:nvPr/>
        </p:nvSpPr>
        <p:spPr>
          <a:xfrm>
            <a:off x="5852160" y="2880360"/>
            <a:ext cx="2743200" cy="228600"/>
          </a:xfrm>
          <a:prstGeom prst="rect">
            <a:avLst/>
          </a:prstGeom>
          <a:noFill/>
          <a:ln/>
        </p:spPr>
        <p:txBody>
          <a:bodyPr wrap="square" lIns="0" tIns="0" rIns="0" bIns="0" rtlCol="0" anchor="t"/>
          <a:lstStyle/>
          <a:p>
            <a:pPr indent="0" marL="0">
              <a:buNone/>
            </a:pPr>
            <a:r>
              <a:rPr lang="en-US" sz="1400" b="1" dirty="0">
                <a:solidFill>
                  <a:schemeClr val="tx1"/>
                </a:solidFill>
              </a:rPr>
              <a:t>Notes point back</a:t>
            </a:r>
            <a:endParaRPr lang="en-US" sz="1400" dirty="0"/>
          </a:p>
        </p:txBody>
      </p:sp>
      <p:sp>
        <p:nvSpPr>
          <p:cNvPr id="11" name="Text 9"/>
          <p:cNvSpPr txBox="1"/>
          <p:nvPr/>
        </p:nvSpPr>
        <p:spPr>
          <a:xfrm>
            <a:off x="5852160" y="3127248"/>
            <a:ext cx="2743200" cy="457200"/>
          </a:xfrm>
          <a:prstGeom prst="rect">
            <a:avLst/>
          </a:prstGeom>
          <a:noFill/>
          <a:ln/>
        </p:spPr>
        <p:txBody>
          <a:bodyPr wrap="square" lIns="0" tIns="0" rIns="0" bIns="0" rtlCol="0" anchor="t"/>
          <a:lstStyle/>
          <a:p>
            <a:pPr indent="0" marL="0">
              <a:buNone/>
            </a:pPr>
            <a:r>
              <a:rPr lang="en-US" sz="1250" dirty="0">
                <a:solidFill>
                  <a:schemeClr val="tx2"/>
                </a:solidFill>
              </a:rPr>
              <a:t>e.g. to the first declaration of 'x'</a:t>
            </a:r>
            <a:endParaRPr lang="en-US" sz="1250" dirty="0"/>
          </a:p>
        </p:txBody>
      </p:sp>
      <p:sp>
        <p:nvSpPr>
          <p:cNvPr id="12" name="Text 10"/>
          <p:cNvSpPr txBox="1"/>
          <p:nvPr/>
        </p:nvSpPr>
        <p:spPr>
          <a:xfrm>
            <a:off x="5852160" y="3611880"/>
            <a:ext cx="2743200" cy="228600"/>
          </a:xfrm>
          <a:prstGeom prst="rect">
            <a:avLst/>
          </a:prstGeom>
          <a:noFill/>
          <a:ln/>
        </p:spPr>
        <p:txBody>
          <a:bodyPr wrap="square" lIns="0" tIns="0" rIns="0" bIns="0" rtlCol="0" anchor="t"/>
          <a:lstStyle/>
          <a:p>
            <a:pPr indent="0" marL="0">
              <a:buNone/>
            </a:pPr>
            <a:r>
              <a:rPr lang="en-US" sz="1400" b="1" dirty="0">
                <a:solidFill>
                  <a:schemeClr val="tx1"/>
                </a:solidFill>
              </a:rPr>
              <a:t>No cascades</a:t>
            </a:r>
            <a:endParaRPr lang="en-US" sz="1400" dirty="0"/>
          </a:p>
        </p:txBody>
      </p:sp>
      <p:sp>
        <p:nvSpPr>
          <p:cNvPr id="13" name="Text 11"/>
          <p:cNvSpPr txBox="1"/>
          <p:nvPr/>
        </p:nvSpPr>
        <p:spPr>
          <a:xfrm>
            <a:off x="5852160" y="3858768"/>
            <a:ext cx="2743200" cy="457200"/>
          </a:xfrm>
          <a:prstGeom prst="rect">
            <a:avLst/>
          </a:prstGeom>
          <a:noFill/>
          <a:ln/>
        </p:spPr>
        <p:txBody>
          <a:bodyPr wrap="square" lIns="0" tIns="0" rIns="0" bIns="0" rtlCol="0" anchor="t"/>
          <a:lstStyle/>
          <a:p>
            <a:pPr indent="0" marL="0">
              <a:buNone/>
            </a:pPr>
            <a:r>
              <a:rPr lang="en-US" sz="1250" dirty="0">
                <a:solidFill>
                  <a:schemeClr val="tx2"/>
                </a:solidFill>
              </a:rPr>
              <a:t>a broken expression gets an error type that is accepted everywhere</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03-checker</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Scopes, and one subtle bug avoided</a:t>
            </a:r>
            <a:endParaRPr lang="en-US" sz="2800" dirty="0"/>
          </a:p>
        </p:txBody>
      </p:sp>
      <p:sp>
        <p:nvSpPr>
          <p:cNvPr id="4" name="scope"/>
          <p:cNvSpPr/>
          <p:nvPr/>
        </p:nvSpPr>
        <p:spPr>
          <a:xfrm>
            <a:off x="1417320" y="1371600"/>
            <a:ext cx="2377440" cy="566928"/>
          </a:xfrm>
          <a:prstGeom prst="rect">
            <a:avLst/>
          </a:prstGeom>
          <a:solidFill>
            <a:srgbClr val="18191D"/>
          </a:solidFill>
          <a:ln w="12700">
            <a:solidFill>
              <a:srgbClr val="4A4E55"/>
            </a:solidFill>
            <a:prstDash val="solid"/>
          </a:ln>
        </p:spPr>
      </p:sp>
      <p:sp>
        <p:nvSpPr>
          <p:cNvPr id="5" name="Text 3"/>
          <p:cNvSpPr txBox="1"/>
          <p:nvPr/>
        </p:nvSpPr>
        <p:spPr>
          <a:xfrm>
            <a:off x="1527048" y="1371600"/>
            <a:ext cx="2157984" cy="566928"/>
          </a:xfrm>
          <a:prstGeom prst="rect">
            <a:avLst/>
          </a:prstGeom>
          <a:noFill/>
          <a:ln/>
        </p:spPr>
        <p:txBody>
          <a:bodyPr wrap="square" lIns="0" tIns="0" rIns="0" bIns="0" rtlCol="0" anchor="ctr"/>
          <a:lstStyle/>
          <a:p>
            <a:pPr indent="0" marL="0">
              <a:buNone/>
            </a:pPr>
            <a:r>
              <a:rPr lang="en-US" sz="1300" b="1" dirty="0">
                <a:solidFill>
                  <a:schemeClr val="tx1"/>
                </a:solidFill>
              </a:rPr>
              <a:t>global</a:t>
            </a:r>
            <a:endParaRPr lang="en-US" sz="1300" dirty="0"/>
          </a:p>
          <a:p>
            <a:pPr indent="0" marL="0">
              <a:buNone/>
            </a:pPr>
            <a:r>
              <a:rPr lang="en-US" sz="1100" dirty="0">
                <a:solidFill>
                  <a:srgbClr val="A9ACB2"/>
                </a:solidFill>
              </a:rPr>
              <a:t>every function, collected first</a:t>
            </a:r>
            <a:endParaRPr lang="en-US" sz="1300" dirty="0"/>
          </a:p>
        </p:txBody>
      </p:sp>
      <p:sp>
        <p:nvSpPr>
          <p:cNvPr id="6" name="scope"/>
          <p:cNvSpPr/>
          <p:nvPr/>
        </p:nvSpPr>
        <p:spPr>
          <a:xfrm>
            <a:off x="548640" y="2377440"/>
            <a:ext cx="1920240" cy="566928"/>
          </a:xfrm>
          <a:prstGeom prst="rect">
            <a:avLst/>
          </a:prstGeom>
          <a:solidFill>
            <a:srgbClr val="0F1012"/>
          </a:solidFill>
          <a:ln w="12700">
            <a:solidFill>
              <a:srgbClr val="4A4E55"/>
            </a:solidFill>
            <a:prstDash val="solid"/>
          </a:ln>
        </p:spPr>
      </p:sp>
      <p:sp>
        <p:nvSpPr>
          <p:cNvPr id="7" name="Text 5"/>
          <p:cNvSpPr txBox="1"/>
          <p:nvPr/>
        </p:nvSpPr>
        <p:spPr>
          <a:xfrm>
            <a:off x="658368" y="2377440"/>
            <a:ext cx="1700784" cy="566928"/>
          </a:xfrm>
          <a:prstGeom prst="rect">
            <a:avLst/>
          </a:prstGeom>
          <a:noFill/>
          <a:ln/>
        </p:spPr>
        <p:txBody>
          <a:bodyPr wrap="square" lIns="0" tIns="0" rIns="0" bIns="0" rtlCol="0" anchor="ctr"/>
          <a:lstStyle/>
          <a:p>
            <a:pPr indent="0" marL="0">
              <a:buNone/>
            </a:pPr>
            <a:r>
              <a:rPr lang="en-US" sz="1300" b="1" dirty="0">
                <a:solidFill>
                  <a:schemeClr val="tx1"/>
                </a:solidFill>
              </a:rPr>
              <a:t>main</a:t>
            </a:r>
            <a:endParaRPr lang="en-US" sz="1300" dirty="0"/>
          </a:p>
          <a:p>
            <a:pPr indent="0" marL="0">
              <a:buNone/>
            </a:pPr>
            <a:r>
              <a:rPr lang="en-US" sz="1100" dirty="0">
                <a:solidFill>
                  <a:srgbClr val="A9ACB2"/>
                </a:solidFill>
              </a:rPr>
              <a:t>top-level let</a:t>
            </a:r>
            <a:endParaRPr lang="en-US" sz="1300" dirty="0"/>
          </a:p>
        </p:txBody>
      </p:sp>
      <p:sp>
        <p:nvSpPr>
          <p:cNvPr id="8" name="scope"/>
          <p:cNvSpPr/>
          <p:nvPr/>
        </p:nvSpPr>
        <p:spPr>
          <a:xfrm>
            <a:off x="2743200" y="2377440"/>
            <a:ext cx="1920240" cy="566928"/>
          </a:xfrm>
          <a:prstGeom prst="rect">
            <a:avLst/>
          </a:prstGeom>
          <a:solidFill>
            <a:srgbClr val="0F1012"/>
          </a:solidFill>
          <a:ln w="12700">
            <a:solidFill>
              <a:srgbClr val="4A4E55"/>
            </a:solidFill>
            <a:prstDash val="solid"/>
          </a:ln>
        </p:spPr>
      </p:sp>
      <p:sp>
        <p:nvSpPr>
          <p:cNvPr id="9" name="Text 7"/>
          <p:cNvSpPr txBox="1"/>
          <p:nvPr/>
        </p:nvSpPr>
        <p:spPr>
          <a:xfrm>
            <a:off x="2852928" y="2377440"/>
            <a:ext cx="1700784" cy="566928"/>
          </a:xfrm>
          <a:prstGeom prst="rect">
            <a:avLst/>
          </a:prstGeom>
          <a:noFill/>
          <a:ln/>
        </p:spPr>
        <p:txBody>
          <a:bodyPr wrap="square" lIns="0" tIns="0" rIns="0" bIns="0" rtlCol="0" anchor="ctr"/>
          <a:lstStyle/>
          <a:p>
            <a:pPr indent="0" marL="0">
              <a:buNone/>
            </a:pPr>
            <a:r>
              <a:rPr lang="en-US" sz="1300" b="1" dirty="0">
                <a:solidFill>
                  <a:schemeClr val="tx1"/>
                </a:solidFill>
              </a:rPr>
              <a:t>fn f</a:t>
            </a:r>
            <a:endParaRPr lang="en-US" sz="1300" dirty="0"/>
          </a:p>
          <a:p>
            <a:pPr indent="0" marL="0">
              <a:buNone/>
            </a:pPr>
            <a:r>
              <a:rPr lang="en-US" sz="1100" dirty="0">
                <a:solidFill>
                  <a:srgbClr val="A9ACB2"/>
                </a:solidFill>
              </a:rPr>
              <a:t>parameters and locals</a:t>
            </a:r>
            <a:endParaRPr lang="en-US" sz="1300" dirty="0"/>
          </a:p>
        </p:txBody>
      </p:sp>
      <p:sp>
        <p:nvSpPr>
          <p:cNvPr id="10" name="scope"/>
          <p:cNvSpPr/>
          <p:nvPr/>
        </p:nvSpPr>
        <p:spPr>
          <a:xfrm>
            <a:off x="548640" y="3383280"/>
            <a:ext cx="1920240" cy="566928"/>
          </a:xfrm>
          <a:prstGeom prst="rect">
            <a:avLst/>
          </a:prstGeom>
          <a:solidFill>
            <a:srgbClr val="0F1012"/>
          </a:solidFill>
          <a:ln w="12700">
            <a:solidFill>
              <a:srgbClr val="4A4E55"/>
            </a:solidFill>
            <a:prstDash val="solid"/>
          </a:ln>
        </p:spPr>
      </p:sp>
      <p:sp>
        <p:nvSpPr>
          <p:cNvPr id="11" name="Text 9"/>
          <p:cNvSpPr txBox="1"/>
          <p:nvPr/>
        </p:nvSpPr>
        <p:spPr>
          <a:xfrm>
            <a:off x="658368" y="3383280"/>
            <a:ext cx="1700784" cy="566928"/>
          </a:xfrm>
          <a:prstGeom prst="rect">
            <a:avLst/>
          </a:prstGeom>
          <a:noFill/>
          <a:ln/>
        </p:spPr>
        <p:txBody>
          <a:bodyPr wrap="square" lIns="0" tIns="0" rIns="0" bIns="0" rtlCol="0" anchor="ctr"/>
          <a:lstStyle/>
          <a:p>
            <a:pPr indent="0" marL="0">
              <a:buNone/>
            </a:pPr>
            <a:r>
              <a:rPr lang="en-US" sz="1300" b="1" dirty="0">
                <a:solidFill>
                  <a:schemeClr val="tx1"/>
                </a:solidFill>
              </a:rPr>
              <a:t>blocks</a:t>
            </a:r>
            <a:endParaRPr lang="en-US" sz="1300" dirty="0"/>
          </a:p>
          <a:p>
            <a:pPr indent="0" marL="0">
              <a:buNone/>
            </a:pPr>
            <a:r>
              <a:rPr lang="en-US" sz="1100" dirty="0">
                <a:solidFill>
                  <a:srgbClr val="A9ACB2"/>
                </a:solidFill>
              </a:rPr>
              <a:t>nested scopes</a:t>
            </a:r>
            <a:endParaRPr lang="en-US" sz="1300" dirty="0"/>
          </a:p>
        </p:txBody>
      </p:sp>
      <p:sp>
        <p:nvSpPr>
          <p:cNvPr id="12" name="scope"/>
          <p:cNvSpPr/>
          <p:nvPr/>
        </p:nvSpPr>
        <p:spPr>
          <a:xfrm>
            <a:off x="2743200" y="3383280"/>
            <a:ext cx="1920240" cy="566928"/>
          </a:xfrm>
          <a:prstGeom prst="rect">
            <a:avLst/>
          </a:prstGeom>
          <a:solidFill>
            <a:srgbClr val="0F1012"/>
          </a:solidFill>
          <a:ln w="12700">
            <a:solidFill>
              <a:srgbClr val="4A4E55"/>
            </a:solidFill>
            <a:prstDash val="solid"/>
          </a:ln>
        </p:spPr>
      </p:sp>
      <p:sp>
        <p:nvSpPr>
          <p:cNvPr id="13" name="Text 11"/>
          <p:cNvSpPr txBox="1"/>
          <p:nvPr/>
        </p:nvSpPr>
        <p:spPr>
          <a:xfrm>
            <a:off x="2852928" y="3383280"/>
            <a:ext cx="1700784" cy="566928"/>
          </a:xfrm>
          <a:prstGeom prst="rect">
            <a:avLst/>
          </a:prstGeom>
          <a:noFill/>
          <a:ln/>
        </p:spPr>
        <p:txBody>
          <a:bodyPr wrap="square" lIns="0" tIns="0" rIns="0" bIns="0" rtlCol="0" anchor="ctr"/>
          <a:lstStyle/>
          <a:p>
            <a:pPr indent="0" marL="0">
              <a:buNone/>
            </a:pPr>
            <a:r>
              <a:rPr lang="en-US" sz="1300" b="1" dirty="0">
                <a:solidFill>
                  <a:schemeClr val="tx1"/>
                </a:solidFill>
              </a:rPr>
              <a:t>blocks</a:t>
            </a:r>
            <a:endParaRPr lang="en-US" sz="1300" dirty="0"/>
          </a:p>
          <a:p>
            <a:pPr indent="0" marL="0">
              <a:buNone/>
            </a:pPr>
            <a:r>
              <a:rPr lang="en-US" sz="1100" dirty="0">
                <a:solidFill>
                  <a:srgbClr val="A9ACB2"/>
                </a:solidFill>
              </a:rPr>
              <a:t>nested scopes</a:t>
            </a:r>
            <a:endParaRPr lang="en-US" sz="1300" dirty="0"/>
          </a:p>
        </p:txBody>
      </p:sp>
      <p:sp>
        <p:nvSpPr>
          <p:cNvPr id="14" name="edge"/>
          <p:cNvSpPr/>
          <p:nvPr/>
        </p:nvSpPr>
        <p:spPr>
          <a:xfrm flipH="1">
            <a:off x="1508760" y="1938528"/>
            <a:ext cx="1097280" cy="438912"/>
          </a:xfrm>
          <a:prstGeom prst="line">
            <a:avLst/>
          </a:prstGeom>
          <a:noFill/>
          <a:ln w="12700">
            <a:solidFill>
              <a:srgbClr val="5A5E66"/>
            </a:solidFill>
            <a:prstDash val="solid"/>
          </a:ln>
        </p:spPr>
      </p:sp>
      <p:sp>
        <p:nvSpPr>
          <p:cNvPr id="15" name="edge"/>
          <p:cNvSpPr/>
          <p:nvPr/>
        </p:nvSpPr>
        <p:spPr>
          <a:xfrm>
            <a:off x="2606040" y="1938528"/>
            <a:ext cx="1097280" cy="438912"/>
          </a:xfrm>
          <a:prstGeom prst="line">
            <a:avLst/>
          </a:prstGeom>
          <a:noFill/>
          <a:ln w="12700">
            <a:solidFill>
              <a:srgbClr val="5A5E66"/>
            </a:solidFill>
            <a:prstDash val="solid"/>
          </a:ln>
        </p:spPr>
      </p:sp>
      <p:sp>
        <p:nvSpPr>
          <p:cNvPr id="16" name="edge"/>
          <p:cNvSpPr/>
          <p:nvPr/>
        </p:nvSpPr>
        <p:spPr>
          <a:xfrm>
            <a:off x="1508760" y="2944368"/>
            <a:ext cx="914" cy="438912"/>
          </a:xfrm>
          <a:prstGeom prst="line">
            <a:avLst/>
          </a:prstGeom>
          <a:noFill/>
          <a:ln w="12700">
            <a:solidFill>
              <a:srgbClr val="5A5E66"/>
            </a:solidFill>
            <a:prstDash val="solid"/>
          </a:ln>
        </p:spPr>
      </p:sp>
      <p:sp>
        <p:nvSpPr>
          <p:cNvPr id="17" name="edge"/>
          <p:cNvSpPr/>
          <p:nvPr/>
        </p:nvSpPr>
        <p:spPr>
          <a:xfrm>
            <a:off x="3703320" y="2944368"/>
            <a:ext cx="914" cy="438912"/>
          </a:xfrm>
          <a:prstGeom prst="line">
            <a:avLst/>
          </a:prstGeom>
          <a:noFill/>
          <a:ln w="12700">
            <a:solidFill>
              <a:srgbClr val="5A5E66"/>
            </a:solidFill>
            <a:prstDash val="solid"/>
          </a:ln>
        </p:spPr>
      </p:sp>
      <p:sp>
        <p:nvSpPr>
          <p:cNvPr id="18" name="Text 16"/>
          <p:cNvSpPr txBox="1"/>
          <p:nvPr/>
        </p:nvSpPr>
        <p:spPr>
          <a:xfrm>
            <a:off x="548640" y="4114800"/>
            <a:ext cx="4206240" cy="502920"/>
          </a:xfrm>
          <a:prstGeom prst="rect">
            <a:avLst/>
          </a:prstGeom>
          <a:noFill/>
          <a:ln/>
        </p:spPr>
        <p:txBody>
          <a:bodyPr wrap="square" lIns="0" tIns="0" rIns="0" bIns="0" rtlCol="0" anchor="t"/>
          <a:lstStyle/>
          <a:p>
            <a:pPr indent="0" marL="0">
              <a:buNone/>
            </a:pPr>
            <a:r>
              <a:rPr lang="en-US" sz="1200" i="1" dirty="0">
                <a:solidFill>
                  <a:schemeClr val="tx2"/>
                </a:solidFill>
              </a:rPr>
              <a:t>Functions see other functions, their parameters and their own locals, not top-level variables: no closures.</a:t>
            </a:r>
            <a:endParaRPr lang="en-US" sz="1200" dirty="0"/>
          </a:p>
        </p:txBody>
      </p:sp>
      <p:sp>
        <p:nvSpPr>
          <p:cNvPr id="19" name="Text 17"/>
          <p:cNvSpPr txBox="1"/>
          <p:nvPr/>
        </p:nvSpPr>
        <p:spPr>
          <a:xfrm>
            <a:off x="5120640" y="1371600"/>
            <a:ext cx="3474720" cy="228600"/>
          </a:xfrm>
          <a:prstGeom prst="rect">
            <a:avLst/>
          </a:prstGeom>
          <a:noFill/>
          <a:ln/>
        </p:spPr>
        <p:txBody>
          <a:bodyPr wrap="square" lIns="0" tIns="0" rIns="0" bIns="0" rtlCol="0" anchor="t"/>
          <a:lstStyle/>
          <a:p>
            <a:pPr indent="0" marL="0">
              <a:buNone/>
            </a:pPr>
            <a:r>
              <a:rPr lang="en-US" sz="1200" b="1" dirty="0">
                <a:solidFill>
                  <a:schemeClr val="tx2"/>
                </a:solidFill>
              </a:rPr>
              <a:t>Tether</a:t>
            </a:r>
            <a:endParaRPr lang="en-US" sz="1200" dirty="0"/>
          </a:p>
        </p:txBody>
      </p:sp>
      <p:sp>
        <p:nvSpPr>
          <p:cNvPr id="20" name="code"/>
          <p:cNvSpPr/>
          <p:nvPr/>
        </p:nvSpPr>
        <p:spPr>
          <a:xfrm>
            <a:off x="5120640" y="1645920"/>
            <a:ext cx="3474720" cy="822960"/>
          </a:xfrm>
          <a:prstGeom prst="rect">
            <a:avLst/>
          </a:prstGeom>
          <a:solidFill>
            <a:srgbClr val="1E2025"/>
          </a:solidFill>
          <a:ln w="9525">
            <a:solidFill>
              <a:srgbClr val="2E3138"/>
            </a:solidFill>
          </a:ln>
        </p:spPr>
      </p:sp>
      <p:sp>
        <p:nvSpPr>
          <p:cNvPr id="21" name="Text 19"/>
          <p:cNvSpPr txBox="1"/>
          <p:nvPr/>
        </p:nvSpPr>
        <p:spPr>
          <a:xfrm>
            <a:off x="5303520" y="1792224"/>
            <a:ext cx="3108960" cy="530352"/>
          </a:xfrm>
          <a:prstGeom prst="rect">
            <a:avLst/>
          </a:prstGeom>
          <a:noFill/>
          <a:ln/>
        </p:spPr>
        <p:txBody>
          <a:bodyPr wrap="square" lIns="0" tIns="0" rIns="0" bIns="0" rtlCol="0" anchor="t"/>
          <a:lstStyle/>
          <a:p>
            <a:pPr indent="0" marL="0">
              <a:lnSpc>
                <a:spcPct val="105000"/>
              </a:lnSpc>
              <a:buNone/>
            </a:pPr>
            <a:r>
              <a:rPr lang="en-US" sz="1300" dirty="0">
                <a:solidFill>
                  <a:srgbClr val="E4E4E2"/>
                </a:solidFill>
                <a:latin typeface="Consolas" pitchFamily="34" charset="0"/>
                <a:ea typeface="Consolas" pitchFamily="34" charset="-122"/>
                <a:cs typeface="Consolas" pitchFamily="34" charset="-120"/>
              </a:rPr>
              <a:t>let x = 1;</a:t>
            </a:r>
            <a:endParaRPr lang="en-US" sz="1300" dirty="0"/>
          </a:p>
          <a:p>
            <a:pPr indent="0" marL="0">
              <a:lnSpc>
                <a:spcPct val="105000"/>
              </a:lnSpc>
              <a:buNone/>
            </a:pPr>
            <a:r>
              <a:rPr lang="en-US" sz="1300" dirty="0">
                <a:solidFill>
                  <a:srgbClr val="E4E4E2"/>
                </a:solidFill>
                <a:latin typeface="Consolas" pitchFamily="34" charset="0"/>
                <a:ea typeface="Consolas" pitchFamily="34" charset="-122"/>
                <a:cs typeface="Consolas" pitchFamily="34" charset="-120"/>
              </a:rPr>
              <a:t>{ let x = </a:t>
            </a:r>
            <a:pPr indent="0" marL="0">
              <a:lnSpc>
                <a:spcPct val="105000"/>
              </a:lnSpc>
              <a:buNone/>
            </a:pPr>
            <a:r>
              <a:rPr lang="en-US" sz="1300" dirty="0">
                <a:solidFill>
                  <a:srgbClr val="F0B54A"/>
                </a:solidFill>
                <a:latin typeface="Consolas" pitchFamily="34" charset="0"/>
                <a:ea typeface="Consolas" pitchFamily="34" charset="-122"/>
                <a:cs typeface="Consolas" pitchFamily="34" charset="-120"/>
              </a:rPr>
              <a:t>x</a:t>
            </a:r>
            <a:pPr indent="0" marL="0">
              <a:lnSpc>
                <a:spcPct val="105000"/>
              </a:lnSpc>
              <a:buNone/>
            </a:pPr>
            <a:r>
              <a:rPr lang="en-US" sz="1300" dirty="0">
                <a:solidFill>
                  <a:srgbClr val="E4E4E2"/>
                </a:solidFill>
                <a:latin typeface="Consolas" pitchFamily="34" charset="0"/>
                <a:ea typeface="Consolas" pitchFamily="34" charset="-122"/>
                <a:cs typeface="Consolas" pitchFamily="34" charset="-120"/>
              </a:rPr>
              <a:t> + 1; }</a:t>
            </a:r>
            <a:endParaRPr lang="en-US" sz="1300" dirty="0"/>
          </a:p>
        </p:txBody>
      </p:sp>
      <p:sp>
        <p:nvSpPr>
          <p:cNvPr id="22" name="Text 20"/>
          <p:cNvSpPr txBox="1"/>
          <p:nvPr/>
        </p:nvSpPr>
        <p:spPr>
          <a:xfrm>
            <a:off x="5120640" y="2651760"/>
            <a:ext cx="3474720" cy="228600"/>
          </a:xfrm>
          <a:prstGeom prst="rect">
            <a:avLst/>
          </a:prstGeom>
          <a:noFill/>
          <a:ln/>
        </p:spPr>
        <p:txBody>
          <a:bodyPr wrap="square" lIns="0" tIns="0" rIns="0" bIns="0" rtlCol="0" anchor="t"/>
          <a:lstStyle/>
          <a:p>
            <a:pPr indent="0" marL="0">
              <a:buNone/>
            </a:pPr>
            <a:r>
              <a:rPr lang="en-US" sz="1200" b="1" dirty="0">
                <a:solidFill>
                  <a:schemeClr val="tx2"/>
                </a:solidFill>
              </a:rPr>
              <a:t>JavaScript Tether emits</a:t>
            </a:r>
            <a:endParaRPr lang="en-US" sz="1200" dirty="0"/>
          </a:p>
        </p:txBody>
      </p:sp>
      <p:sp>
        <p:nvSpPr>
          <p:cNvPr id="23" name="code"/>
          <p:cNvSpPr/>
          <p:nvPr/>
        </p:nvSpPr>
        <p:spPr>
          <a:xfrm>
            <a:off x="5120640" y="2926080"/>
            <a:ext cx="3474720" cy="822960"/>
          </a:xfrm>
          <a:prstGeom prst="rect">
            <a:avLst/>
          </a:prstGeom>
          <a:solidFill>
            <a:srgbClr val="1E2025"/>
          </a:solidFill>
          <a:ln w="9525">
            <a:solidFill>
              <a:srgbClr val="2E3138"/>
            </a:solidFill>
          </a:ln>
        </p:spPr>
      </p:sp>
      <p:sp>
        <p:nvSpPr>
          <p:cNvPr id="24" name="Text 22"/>
          <p:cNvSpPr txBox="1"/>
          <p:nvPr/>
        </p:nvSpPr>
        <p:spPr>
          <a:xfrm>
            <a:off x="5303520" y="3072384"/>
            <a:ext cx="3108960" cy="530352"/>
          </a:xfrm>
          <a:prstGeom prst="rect">
            <a:avLst/>
          </a:prstGeom>
          <a:noFill/>
          <a:ln/>
        </p:spPr>
        <p:txBody>
          <a:bodyPr wrap="square" lIns="0" tIns="0" rIns="0" bIns="0" rtlCol="0" anchor="t"/>
          <a:lstStyle/>
          <a:p>
            <a:pPr indent="0" marL="0">
              <a:lnSpc>
                <a:spcPct val="105000"/>
              </a:lnSpc>
              <a:buNone/>
            </a:pPr>
            <a:r>
              <a:rPr lang="en-US" sz="1300" dirty="0">
                <a:solidFill>
                  <a:srgbClr val="E4E4E2"/>
                </a:solidFill>
                <a:latin typeface="Consolas" pitchFamily="34" charset="0"/>
                <a:ea typeface="Consolas" pitchFamily="34" charset="-122"/>
                <a:cs typeface="Consolas" pitchFamily="34" charset="-120"/>
              </a:rPr>
              <a:t>let x = 1;</a:t>
            </a:r>
            <a:endParaRPr lang="en-US" sz="1300" dirty="0"/>
          </a:p>
          <a:p>
            <a:pPr indent="0" marL="0">
              <a:lnSpc>
                <a:spcPct val="105000"/>
              </a:lnSpc>
              <a:buNone/>
            </a:pPr>
            <a:r>
              <a:rPr lang="en-US" sz="1300" dirty="0">
                <a:solidFill>
                  <a:srgbClr val="E4E4E2"/>
                </a:solidFill>
                <a:latin typeface="Consolas" pitchFamily="34" charset="0"/>
                <a:ea typeface="Consolas" pitchFamily="34" charset="-122"/>
                <a:cs typeface="Consolas" pitchFamily="34" charset="-120"/>
              </a:rPr>
              <a:t>{ let </a:t>
            </a:r>
            <a:pPr indent="0" marL="0">
              <a:lnSpc>
                <a:spcPct val="105000"/>
              </a:lnSpc>
              <a:buNone/>
            </a:pPr>
            <a:r>
              <a:rPr lang="en-US" sz="1300" dirty="0">
                <a:solidFill>
                  <a:srgbClr val="F0B54A"/>
                </a:solidFill>
                <a:latin typeface="Consolas" pitchFamily="34" charset="0"/>
                <a:ea typeface="Consolas" pitchFamily="34" charset="-122"/>
                <a:cs typeface="Consolas" pitchFamily="34" charset="-120"/>
              </a:rPr>
              <a:t>x$1</a:t>
            </a:r>
            <a:pPr indent="0" marL="0">
              <a:lnSpc>
                <a:spcPct val="105000"/>
              </a:lnSpc>
              <a:buNone/>
            </a:pPr>
            <a:r>
              <a:rPr lang="en-US" sz="1300" dirty="0">
                <a:solidFill>
                  <a:srgbClr val="E4E4E2"/>
                </a:solidFill>
                <a:latin typeface="Consolas" pitchFamily="34" charset="0"/>
                <a:ea typeface="Consolas" pitchFamily="34" charset="-122"/>
                <a:cs typeface="Consolas" pitchFamily="34" charset="-120"/>
              </a:rPr>
              <a:t> = x + 1; }</a:t>
            </a:r>
            <a:endParaRPr lang="en-US" sz="1300" dirty="0"/>
          </a:p>
        </p:txBody>
      </p:sp>
      <p:sp>
        <p:nvSpPr>
          <p:cNvPr id="25" name="Text 23"/>
          <p:cNvSpPr txBox="1"/>
          <p:nvPr/>
        </p:nvSpPr>
        <p:spPr>
          <a:xfrm>
            <a:off x="5120640" y="3886200"/>
            <a:ext cx="3474720" cy="731520"/>
          </a:xfrm>
          <a:prstGeom prst="rect">
            <a:avLst/>
          </a:prstGeom>
          <a:noFill/>
          <a:ln/>
        </p:spPr>
        <p:txBody>
          <a:bodyPr wrap="square" lIns="0" tIns="0" rIns="0" bIns="0" rtlCol="0" anchor="t"/>
          <a:lstStyle/>
          <a:p>
            <a:pPr indent="0" marL="0">
              <a:buNone/>
            </a:pPr>
            <a:r>
              <a:rPr lang="en-US" sz="1200" dirty="0">
                <a:solidFill>
                  <a:schemeClr val="tx2"/>
                </a:solidFill>
              </a:rPr>
              <a:t>Copying the code literally would crash JavaScript's temporal dead zone. The shadowing name is renamed instead; '$' cannot appear in Tether names.</a:t>
            </a:r>
            <a:endParaRPr lang="en-US" sz="12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04-lower · milestone 4</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Lowering: a smaller language, same spans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297680" cy="914400"/>
        </p:xfrm>
        <a:graphic>
          <a:graphicData uri="http://schemas.openxmlformats.org/drawingml/2006/table">
            <a:tbl>
              <a:tblPr/>
              <a:tblGrid>
                <a:gridCol w="1691640"/>
                <a:gridCol w="2606040"/>
              </a:tblGrid>
              <a:tr h="384048">
                <a:tc>
                  <a:txBody>
                    <a:bodyPr/>
                    <a:lstStyle/>
                    <a:p>
                      <a:pPr indent="0" marL="0">
                        <a:buNone/>
                      </a:pPr>
                      <a:r>
                        <a:rPr lang="en-US" sz="1100" b="1" dirty="0">
                          <a:solidFill>
                            <a:srgbClr val="A9ACB2"/>
                          </a:solidFill>
                        </a:rPr>
                        <a:t>Tether</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Core form after lowering</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r>
              <a:tr h="384048">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for (i; c; u) B</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 i; while (c) { B; u; } }</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84048">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x += e</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x = x + e</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84048">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a &amp;&amp; b</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a ? b : false</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84048">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a || b</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00" dirty="0">
                          <a:solidFill>
                            <a:srgbClr val="E4E4E2"/>
                          </a:solidFill>
                          <a:latin typeface="Consolas" pitchFamily="34" charset="0"/>
                          <a:ea typeface="Consolas" pitchFamily="34" charset="-122"/>
                          <a:cs typeface="Consolas" pitchFamily="34" charset="-120"/>
                        </a:rPr>
                        <a:t>a ? true : b</a:t>
                      </a:r>
                      <a:endParaRPr lang="en-US" sz="11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bl>
          </a:graphicData>
        </a:graphic>
      </p:graphicFrame>
      <p:sp>
        <p:nvSpPr>
          <p:cNvPr id="5" name="Text 2"/>
          <p:cNvSpPr txBox="1"/>
          <p:nvPr/>
        </p:nvSpPr>
        <p:spPr>
          <a:xfrm>
            <a:off x="548640" y="3429000"/>
            <a:ext cx="4023360" cy="731520"/>
          </a:xfrm>
          <a:prstGeom prst="rect">
            <a:avLst/>
          </a:prstGeom>
          <a:noFill/>
          <a:ln/>
        </p:spPr>
        <p:txBody>
          <a:bodyPr wrap="square" lIns="0" tIns="0" rIns="0" bIns="0" rtlCol="0" anchor="t"/>
          <a:lstStyle/>
          <a:p>
            <a:pPr indent="0" marL="0">
              <a:buNone/>
            </a:pPr>
            <a:r>
              <a:rPr lang="en-US" sz="1300" dirty="0">
                <a:solidFill>
                  <a:schemeClr val="tx1"/>
                </a:solidFill>
              </a:rPr>
              <a:t>Every new node keeps the span of the code that caused it (FR-M2), so stepping through it still lands on the right line.</a:t>
            </a:r>
            <a:endParaRPr lang="en-US" sz="1300" dirty="0"/>
          </a:p>
        </p:txBody>
      </p:sp>
      <p:sp>
        <p:nvSpPr>
          <p:cNvPr id="6" name="Text 3"/>
          <p:cNvSpPr txBox="1"/>
          <p:nvPr/>
        </p:nvSpPr>
        <p:spPr>
          <a:xfrm>
            <a:off x="5029200" y="1298448"/>
            <a:ext cx="3566160" cy="201168"/>
          </a:xfrm>
          <a:prstGeom prst="rect">
            <a:avLst/>
          </a:prstGeom>
          <a:noFill/>
          <a:ln/>
        </p:spPr>
        <p:txBody>
          <a:bodyPr wrap="square" lIns="0" tIns="0" rIns="0" bIns="0" rtlCol="0" anchor="t"/>
          <a:lstStyle/>
          <a:p>
            <a:pPr indent="0" marL="0">
              <a:buNone/>
            </a:pPr>
            <a:r>
              <a:rPr lang="en-US" sz="1050" dirty="0">
                <a:solidFill>
                  <a:schemeClr val="tx2"/>
                </a:solidFill>
                <a:latin typeface="Consolas" pitchFamily="34" charset="0"/>
                <a:ea typeface="Consolas" pitchFamily="34" charset="-122"/>
                <a:cs typeface="Consolas" pitchFamily="34" charset="-120"/>
              </a:rPr>
              <a:t>$ tether build fib.tth --dump-core</a:t>
            </a:r>
            <a:endParaRPr lang="en-US" sz="1050" dirty="0"/>
          </a:p>
        </p:txBody>
      </p:sp>
      <p:sp>
        <p:nvSpPr>
          <p:cNvPr id="7" name="code"/>
          <p:cNvSpPr/>
          <p:nvPr/>
        </p:nvSpPr>
        <p:spPr>
          <a:xfrm>
            <a:off x="5029200" y="1554480"/>
            <a:ext cx="3566160" cy="3017520"/>
          </a:xfrm>
          <a:prstGeom prst="rect">
            <a:avLst/>
          </a:prstGeom>
          <a:solidFill>
            <a:srgbClr val="1E2025"/>
          </a:solidFill>
          <a:ln w="9525">
            <a:solidFill>
              <a:srgbClr val="2E3138"/>
            </a:solidFill>
          </a:ln>
        </p:spPr>
      </p:sp>
      <p:sp>
        <p:nvSpPr>
          <p:cNvPr id="8" name="Text 5"/>
          <p:cNvSpPr txBox="1"/>
          <p:nvPr/>
        </p:nvSpPr>
        <p:spPr>
          <a:xfrm>
            <a:off x="5212080" y="1700784"/>
            <a:ext cx="3200400" cy="2724912"/>
          </a:xfrm>
          <a:prstGeom prst="rect">
            <a:avLst/>
          </a:prstGeom>
          <a:noFill/>
          <a:ln/>
        </p:spPr>
        <p:txBody>
          <a:bodyPr wrap="square" lIns="0" tIns="0" rIns="0" bIns="0" rtlCol="0" anchor="t"/>
          <a:lstStyle/>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Block @13:3+83 </a:t>
            </a:r>
            <a:pPr indent="0" marL="0">
              <a:lnSpc>
                <a:spcPct val="105000"/>
              </a:lnSpc>
              <a:buNone/>
            </a:pPr>
            <a:r>
              <a:rPr lang="en-US" sz="1050" dirty="0">
                <a:solidFill>
                  <a:srgbClr val="F0B54A"/>
                </a:solidFill>
                <a:latin typeface="Consolas" pitchFamily="34" charset="0"/>
                <a:ea typeface="Consolas" pitchFamily="34" charset="-122"/>
                <a:cs typeface="Consolas" pitchFamily="34" charset="-120"/>
              </a:rPr>
              <a:t>[lowered]</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Let @13:8+9</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While @13:3+83 </a:t>
            </a:r>
            <a:pPr indent="0" marL="0">
              <a:lnSpc>
                <a:spcPct val="105000"/>
              </a:lnSpc>
              <a:buNone/>
            </a:pPr>
            <a:r>
              <a:rPr lang="en-US" sz="1050" dirty="0">
                <a:solidFill>
                  <a:srgbClr val="F0B54A"/>
                </a:solidFill>
                <a:latin typeface="Consolas" pitchFamily="34" charset="0"/>
                <a:ea typeface="Consolas" pitchFamily="34" charset="-122"/>
                <a:cs typeface="Consolas" pitchFamily="34" charset="-120"/>
              </a:rPr>
              <a:t>[lowered]</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cond: Binary &lt; @13:19+5</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body: Block @13:34+52</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Let @14:5+17</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Assign = @15:5+6</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Assign = @16:5+9</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Assign = @13:26+6 </a:t>
            </a:r>
            <a:pPr indent="0" marL="0">
              <a:lnSpc>
                <a:spcPct val="105000"/>
              </a:lnSpc>
              <a:buNone/>
            </a:pPr>
            <a:r>
              <a:rPr lang="en-US" sz="1050" dirty="0">
                <a:solidFill>
                  <a:srgbClr val="F0B54A"/>
                </a:solidFill>
                <a:latin typeface="Consolas" pitchFamily="34" charset="0"/>
                <a:ea typeface="Consolas" pitchFamily="34" charset="-122"/>
                <a:cs typeface="Consolas" pitchFamily="34" charset="-120"/>
              </a:rPr>
              <a:t>[lowered]</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Binary + @13:26+6 </a:t>
            </a:r>
            <a:pPr indent="0" marL="0">
              <a:lnSpc>
                <a:spcPct val="105000"/>
              </a:lnSpc>
              <a:buNone/>
            </a:pPr>
            <a:r>
              <a:rPr lang="en-US" sz="1050" dirty="0">
                <a:solidFill>
                  <a:srgbClr val="F0B54A"/>
                </a:solidFill>
                <a:latin typeface="Consolas" pitchFamily="34" charset="0"/>
                <a:ea typeface="Consolas" pitchFamily="34" charset="-122"/>
                <a:cs typeface="Consolas" pitchFamily="34" charset="-120"/>
              </a:rPr>
              <a:t>[lowered]</a:t>
            </a:r>
            <a:endParaRPr lang="en-US" sz="10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04-emit · milestone 4</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Readable JavaScript, written through one path</a:t>
            </a:r>
            <a:endParaRPr lang="en-US" sz="2800" dirty="0"/>
          </a:p>
        </p:txBody>
      </p:sp>
      <p:sp>
        <p:nvSpPr>
          <p:cNvPr id="4" name="code"/>
          <p:cNvSpPr/>
          <p:nvPr/>
        </p:nvSpPr>
        <p:spPr>
          <a:xfrm>
            <a:off x="548640" y="1280160"/>
            <a:ext cx="4480560" cy="3291840"/>
          </a:xfrm>
          <a:prstGeom prst="rect">
            <a:avLst/>
          </a:prstGeom>
          <a:solidFill>
            <a:srgbClr val="1E2025"/>
          </a:solidFill>
          <a:ln w="9525">
            <a:solidFill>
              <a:srgbClr val="2E3138"/>
            </a:solidFill>
          </a:ln>
        </p:spPr>
      </p:sp>
      <p:sp>
        <p:nvSpPr>
          <p:cNvPr id="5" name="Text 3"/>
          <p:cNvSpPr txBox="1"/>
          <p:nvPr/>
        </p:nvSpPr>
        <p:spPr>
          <a:xfrm>
            <a:off x="731520" y="1426464"/>
            <a:ext cx="4114800" cy="2999232"/>
          </a:xfrm>
          <a:prstGeom prst="rect">
            <a:avLst/>
          </a:prstGeom>
          <a:noFill/>
          <a:ln/>
        </p:spPr>
        <p:txBody>
          <a:bodyPr wrap="square" lIns="0" tIns="0" rIns="0" bIns="0" rtlCol="0" anchor="t"/>
          <a:lstStyle/>
          <a:p>
            <a:pPr indent="0" marL="0">
              <a:lnSpc>
                <a:spcPct val="105000"/>
              </a:lnSpc>
              <a:buNone/>
            </a:pPr>
            <a:r>
              <a:rPr lang="en-US" sz="1100" dirty="0">
                <a:solidFill>
                  <a:srgbClr val="8A8E96"/>
                </a:solidFill>
                <a:latin typeface="Consolas" pitchFamily="34" charset="0"/>
                <a:ea typeface="Consolas" pitchFamily="34" charset="-122"/>
                <a:cs typeface="Consolas" pitchFamily="34" charset="-120"/>
              </a:rPr>
              <a:t>"use strict";</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function fizzbuzz(n) {</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let </a:t>
            </a:r>
            <a:pPr indent="0" marL="0">
              <a:lnSpc>
                <a:spcPct val="105000"/>
              </a:lnSpc>
              <a:buNone/>
            </a:pPr>
            <a:r>
              <a:rPr lang="en-US" sz="1100" dirty="0">
                <a:solidFill>
                  <a:srgbClr val="F0B54A"/>
                </a:solidFill>
                <a:latin typeface="Consolas" pitchFamily="34" charset="0"/>
                <a:ea typeface="Consolas" pitchFamily="34" charset="-122"/>
                <a:cs typeface="Consolas" pitchFamily="34" charset="-120"/>
              </a:rPr>
              <a:t>var$</a:t>
            </a:r>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 "";</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if (divides(3, n) ? divides(5, n)</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 false) {</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var$ = "FizzBuzz";</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 else if (divides(3, n)) {</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var$ = "Fizz";</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return var$;</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8A8E96"/>
                </a:solidFill>
                <a:latin typeface="Consolas" pitchFamily="34" charset="0"/>
                <a:ea typeface="Consolas" pitchFamily="34" charset="-122"/>
                <a:cs typeface="Consolas" pitchFamily="34" charset="-120"/>
              </a:rPr>
              <a:t>//# sourceMappingURL=fizzbuzz.js.map</a:t>
            </a:r>
            <a:endParaRPr lang="en-US" sz="1100" dirty="0"/>
          </a:p>
        </p:txBody>
      </p:sp>
      <p:sp>
        <p:nvSpPr>
          <p:cNvPr id="6" name="Text 4"/>
          <p:cNvSpPr txBox="1"/>
          <p:nvPr/>
        </p:nvSpPr>
        <p:spPr>
          <a:xfrm>
            <a:off x="5303520" y="1325880"/>
            <a:ext cx="3291840" cy="228600"/>
          </a:xfrm>
          <a:prstGeom prst="rect">
            <a:avLst/>
          </a:prstGeom>
          <a:noFill/>
          <a:ln/>
        </p:spPr>
        <p:txBody>
          <a:bodyPr wrap="square" lIns="0" tIns="0" rIns="0" bIns="0" rtlCol="0" anchor="t"/>
          <a:lstStyle/>
          <a:p>
            <a:pPr indent="0" marL="0">
              <a:buNone/>
            </a:pPr>
            <a:r>
              <a:rPr lang="en-US" sz="1400" b="1" dirty="0">
                <a:solidFill>
                  <a:schemeClr val="tx1"/>
                </a:solidFill>
              </a:rPr>
              <a:t>One write path (FR-G2)</a:t>
            </a:r>
            <a:endParaRPr lang="en-US" sz="1400" dirty="0"/>
          </a:p>
        </p:txBody>
      </p:sp>
      <p:sp>
        <p:nvSpPr>
          <p:cNvPr id="7" name="Text 5"/>
          <p:cNvSpPr txBox="1"/>
          <p:nvPr/>
        </p:nvSpPr>
        <p:spPr>
          <a:xfrm>
            <a:off x="5303520" y="1572768"/>
            <a:ext cx="3291840" cy="457200"/>
          </a:xfrm>
          <a:prstGeom prst="rect">
            <a:avLst/>
          </a:prstGeom>
          <a:noFill/>
          <a:ln/>
        </p:spPr>
        <p:txBody>
          <a:bodyPr wrap="square" lIns="0" tIns="0" rIns="0" bIns="0" rtlCol="0" anchor="t"/>
          <a:lstStyle/>
          <a:p>
            <a:pPr indent="0" marL="0">
              <a:buNone/>
            </a:pPr>
            <a:r>
              <a:rPr lang="en-US" sz="1250" dirty="0">
                <a:solidFill>
                  <a:schemeClr val="tx2"/>
                </a:solidFill>
              </a:rPr>
              <a:t>every write updates the line and column; checked against the final text</a:t>
            </a:r>
            <a:endParaRPr lang="en-US" sz="1250" dirty="0"/>
          </a:p>
        </p:txBody>
      </p:sp>
      <p:sp>
        <p:nvSpPr>
          <p:cNvPr id="8" name="Text 6"/>
          <p:cNvSpPr txBox="1"/>
          <p:nvPr/>
        </p:nvSpPr>
        <p:spPr>
          <a:xfrm>
            <a:off x="5303520" y="2057400"/>
            <a:ext cx="3291840" cy="228600"/>
          </a:xfrm>
          <a:prstGeom prst="rect">
            <a:avLst/>
          </a:prstGeom>
          <a:noFill/>
          <a:ln/>
        </p:spPr>
        <p:txBody>
          <a:bodyPr wrap="square" lIns="0" tIns="0" rIns="0" bIns="0" rtlCol="0" anchor="t"/>
          <a:lstStyle/>
          <a:p>
            <a:pPr indent="0" marL="0">
              <a:buNone/>
            </a:pPr>
            <a:r>
              <a:rPr lang="en-US" sz="1400" b="1" dirty="0">
                <a:solidFill>
                  <a:schemeClr val="tx1"/>
                </a:solidFill>
              </a:rPr>
              <a:t>Reserved words renamed (FR-G3)</a:t>
            </a:r>
            <a:endParaRPr lang="en-US" sz="1400" dirty="0"/>
          </a:p>
        </p:txBody>
      </p:sp>
      <p:sp>
        <p:nvSpPr>
          <p:cNvPr id="9" name="Text 7"/>
          <p:cNvSpPr txBox="1"/>
          <p:nvPr/>
        </p:nvSpPr>
        <p:spPr>
          <a:xfrm>
            <a:off x="5303520" y="2304288"/>
            <a:ext cx="3291840" cy="457200"/>
          </a:xfrm>
          <a:prstGeom prst="rect">
            <a:avLst/>
          </a:prstGeom>
          <a:noFill/>
          <a:ln/>
        </p:spPr>
        <p:txBody>
          <a:bodyPr wrap="square" lIns="0" tIns="0" rIns="0" bIns="0" rtlCol="0" anchor="t"/>
          <a:lstStyle/>
          <a:p>
            <a:pPr indent="0" marL="0">
              <a:buNone/>
            </a:pPr>
            <a:r>
              <a:rPr lang="en-US" sz="1250" dirty="0">
                <a:solidFill>
                  <a:schemeClr val="tx2"/>
                </a:solidFill>
              </a:rPr>
              <a:t>var becomes var$; the map keeps the name var</a:t>
            </a:r>
            <a:endParaRPr lang="en-US" sz="1250" dirty="0"/>
          </a:p>
        </p:txBody>
      </p:sp>
      <p:sp>
        <p:nvSpPr>
          <p:cNvPr id="10" name="Text 8"/>
          <p:cNvSpPr txBox="1"/>
          <p:nvPr/>
        </p:nvSpPr>
        <p:spPr>
          <a:xfrm>
            <a:off x="5303520" y="2788920"/>
            <a:ext cx="3291840" cy="228600"/>
          </a:xfrm>
          <a:prstGeom prst="rect">
            <a:avLst/>
          </a:prstGeom>
          <a:noFill/>
          <a:ln/>
        </p:spPr>
        <p:txBody>
          <a:bodyPr wrap="square" lIns="0" tIns="0" rIns="0" bIns="0" rtlCol="0" anchor="t"/>
          <a:lstStyle/>
          <a:p>
            <a:pPr indent="0" marL="0">
              <a:buNone/>
            </a:pPr>
            <a:r>
              <a:rPr lang="en-US" sz="1400" b="1" dirty="0">
                <a:solidFill>
                  <a:schemeClr val="tx1"/>
                </a:solidFill>
              </a:rPr>
              <a:t>Tether semantics kept</a:t>
            </a:r>
            <a:endParaRPr lang="en-US" sz="1400" dirty="0"/>
          </a:p>
        </p:txBody>
      </p:sp>
      <p:sp>
        <p:nvSpPr>
          <p:cNvPr id="11" name="Text 9"/>
          <p:cNvSpPr txBox="1"/>
          <p:nvPr/>
        </p:nvSpPr>
        <p:spPr>
          <a:xfrm>
            <a:off x="5303520" y="3035808"/>
            <a:ext cx="3291840" cy="457200"/>
          </a:xfrm>
          <a:prstGeom prst="rect">
            <a:avLst/>
          </a:prstGeom>
          <a:noFill/>
          <a:ln/>
        </p:spPr>
        <p:txBody>
          <a:bodyPr wrap="square" lIns="0" tIns="0" rIns="0" bIns="0" rtlCol="0" anchor="t"/>
          <a:lstStyle/>
          <a:p>
            <a:pPr indent="0" marL="0">
              <a:buNone/>
            </a:pPr>
            <a:r>
              <a:rPr lang="en-US" sz="1250" dirty="0">
                <a:solidFill>
                  <a:schemeClr val="tx2"/>
                </a:solidFill>
              </a:rPr>
              <a:t>/ becomes Math.trunc(a / b); == becomes ===</a:t>
            </a:r>
            <a:endParaRPr lang="en-US" sz="1250" dirty="0"/>
          </a:p>
        </p:txBody>
      </p:sp>
      <p:sp>
        <p:nvSpPr>
          <p:cNvPr id="12" name="Text 10"/>
          <p:cNvSpPr txBox="1"/>
          <p:nvPr/>
        </p:nvSpPr>
        <p:spPr>
          <a:xfrm>
            <a:off x="5303520" y="3520440"/>
            <a:ext cx="3291840" cy="228600"/>
          </a:xfrm>
          <a:prstGeom prst="rect">
            <a:avLst/>
          </a:prstGeom>
          <a:noFill/>
          <a:ln/>
        </p:spPr>
        <p:txBody>
          <a:bodyPr wrap="square" lIns="0" tIns="0" rIns="0" bIns="0" rtlCol="0" anchor="t"/>
          <a:lstStyle/>
          <a:p>
            <a:pPr indent="0" marL="0">
              <a:buNone/>
            </a:pPr>
            <a:r>
              <a:rPr lang="en-US" sz="1400" b="1" dirty="0">
                <a:solidFill>
                  <a:schemeClr val="tx1"/>
                </a:solidFill>
              </a:rPr>
              <a:t>AC-1 met</a:t>
            </a:r>
            <a:endParaRPr lang="en-US" sz="1400" dirty="0"/>
          </a:p>
        </p:txBody>
      </p:sp>
      <p:sp>
        <p:nvSpPr>
          <p:cNvPr id="13" name="Text 11"/>
          <p:cNvSpPr txBox="1"/>
          <p:nvPr/>
        </p:nvSpPr>
        <p:spPr>
          <a:xfrm>
            <a:off x="5303520" y="3767328"/>
            <a:ext cx="3291840" cy="457200"/>
          </a:xfrm>
          <a:prstGeom prst="rect">
            <a:avLst/>
          </a:prstGeom>
          <a:noFill/>
          <a:ln/>
        </p:spPr>
        <p:txBody>
          <a:bodyPr wrap="square" lIns="0" tIns="0" rIns="0" bIns="0" rtlCol="0" anchor="t"/>
          <a:lstStyle/>
          <a:p>
            <a:pPr indent="0" marL="0">
              <a:buNone/>
            </a:pPr>
            <a:r>
              <a:rPr lang="en-US" sz="1250" dirty="0">
                <a:solidFill>
                  <a:schemeClr val="tx2"/>
                </a:solidFill>
              </a:rPr>
              <a:t>all four benchmarks print exactly their expected output</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05-vlq · milestone 5</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Base64 VLQ, the number format inside a map</a:t>
            </a:r>
            <a:endParaRPr lang="en-US" sz="2800" dirty="0"/>
          </a:p>
        </p:txBody>
      </p:sp>
      <p:sp>
        <p:nvSpPr>
          <p:cNvPr id="4" name="Text 2"/>
          <p:cNvSpPr txBox="1"/>
          <p:nvPr/>
        </p:nvSpPr>
        <p:spPr>
          <a:xfrm>
            <a:off x="548640" y="1271016"/>
            <a:ext cx="411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a:t>
            </a:r>
            <a:endParaRPr lang="en-US" sz="3000" dirty="0"/>
          </a:p>
        </p:txBody>
      </p:sp>
      <p:sp>
        <p:nvSpPr>
          <p:cNvPr id="5" name="Text 3"/>
          <p:cNvSpPr txBox="1"/>
          <p:nvPr/>
        </p:nvSpPr>
        <p:spPr>
          <a:xfrm>
            <a:off x="1051560" y="1325880"/>
            <a:ext cx="3566160" cy="228600"/>
          </a:xfrm>
          <a:prstGeom prst="rect">
            <a:avLst/>
          </a:prstGeom>
          <a:noFill/>
          <a:ln/>
        </p:spPr>
        <p:txBody>
          <a:bodyPr wrap="square" lIns="0" tIns="0" rIns="0" bIns="0" rtlCol="0" anchor="t"/>
          <a:lstStyle/>
          <a:p>
            <a:pPr indent="0" marL="0">
              <a:buNone/>
            </a:pPr>
            <a:r>
              <a:rPr lang="en-US" sz="1400" b="1" dirty="0">
                <a:solidFill>
                  <a:schemeClr val="tx1"/>
                </a:solidFill>
              </a:rPr>
              <a:t>Sign into the lowest bit</a:t>
            </a:r>
            <a:endParaRPr lang="en-US" sz="1400" dirty="0"/>
          </a:p>
        </p:txBody>
      </p:sp>
      <p:sp>
        <p:nvSpPr>
          <p:cNvPr id="6" name="Text 4"/>
          <p:cNvSpPr txBox="1"/>
          <p:nvPr/>
        </p:nvSpPr>
        <p:spPr>
          <a:xfrm>
            <a:off x="1051560" y="1572768"/>
            <a:ext cx="3566160" cy="457200"/>
          </a:xfrm>
          <a:prstGeom prst="rect">
            <a:avLst/>
          </a:prstGeom>
          <a:noFill/>
          <a:ln/>
        </p:spPr>
        <p:txBody>
          <a:bodyPr wrap="square" lIns="0" tIns="0" rIns="0" bIns="0" rtlCol="0" anchor="t"/>
          <a:lstStyle/>
          <a:p>
            <a:pPr indent="0" marL="0">
              <a:buNone/>
            </a:pPr>
            <a:r>
              <a:rPr lang="en-US" sz="1250" dirty="0">
                <a:solidFill>
                  <a:schemeClr val="tx2"/>
                </a:solidFill>
              </a:rPr>
              <a:t>n ≥ 0 becomes 2n; n &lt; 0 becomes 2|n| + 1</a:t>
            </a:r>
            <a:endParaRPr lang="en-US" sz="1250" dirty="0"/>
          </a:p>
        </p:txBody>
      </p:sp>
      <p:sp>
        <p:nvSpPr>
          <p:cNvPr id="7" name="Text 5"/>
          <p:cNvSpPr txBox="1"/>
          <p:nvPr/>
        </p:nvSpPr>
        <p:spPr>
          <a:xfrm>
            <a:off x="548640" y="2048256"/>
            <a:ext cx="411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8" name="Text 6"/>
          <p:cNvSpPr txBox="1"/>
          <p:nvPr/>
        </p:nvSpPr>
        <p:spPr>
          <a:xfrm>
            <a:off x="1051560" y="2103120"/>
            <a:ext cx="3566160" cy="228600"/>
          </a:xfrm>
          <a:prstGeom prst="rect">
            <a:avLst/>
          </a:prstGeom>
          <a:noFill/>
          <a:ln/>
        </p:spPr>
        <p:txBody>
          <a:bodyPr wrap="square" lIns="0" tIns="0" rIns="0" bIns="0" rtlCol="0" anchor="t"/>
          <a:lstStyle/>
          <a:p>
            <a:pPr indent="0" marL="0">
              <a:buNone/>
            </a:pPr>
            <a:r>
              <a:rPr lang="en-US" sz="1400" b="1" dirty="0">
                <a:solidFill>
                  <a:schemeClr val="tx1"/>
                </a:solidFill>
              </a:rPr>
              <a:t>Split into 5-bit groups</a:t>
            </a:r>
            <a:endParaRPr lang="en-US" sz="1400" dirty="0"/>
          </a:p>
        </p:txBody>
      </p:sp>
      <p:sp>
        <p:nvSpPr>
          <p:cNvPr id="9" name="Text 7"/>
          <p:cNvSpPr txBox="1"/>
          <p:nvPr/>
        </p:nvSpPr>
        <p:spPr>
          <a:xfrm>
            <a:off x="1051560" y="2350008"/>
            <a:ext cx="3566160" cy="457200"/>
          </a:xfrm>
          <a:prstGeom prst="rect">
            <a:avLst/>
          </a:prstGeom>
          <a:noFill/>
          <a:ln/>
        </p:spPr>
        <p:txBody>
          <a:bodyPr wrap="square" lIns="0" tIns="0" rIns="0" bIns="0" rtlCol="0" anchor="t"/>
          <a:lstStyle/>
          <a:p>
            <a:pPr indent="0" marL="0">
              <a:buNone/>
            </a:pPr>
            <a:r>
              <a:rPr lang="en-US" sz="1250" dirty="0">
                <a:solidFill>
                  <a:schemeClr val="tx2"/>
                </a:solidFill>
              </a:rPr>
              <a:t>least significant group first</a:t>
            </a:r>
            <a:endParaRPr lang="en-US" sz="1250" dirty="0"/>
          </a:p>
        </p:txBody>
      </p:sp>
      <p:sp>
        <p:nvSpPr>
          <p:cNvPr id="10" name="Text 8"/>
          <p:cNvSpPr txBox="1"/>
          <p:nvPr/>
        </p:nvSpPr>
        <p:spPr>
          <a:xfrm>
            <a:off x="548640" y="2825496"/>
            <a:ext cx="411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a:t>
            </a:r>
            <a:endParaRPr lang="en-US" sz="3000" dirty="0"/>
          </a:p>
        </p:txBody>
      </p:sp>
      <p:sp>
        <p:nvSpPr>
          <p:cNvPr id="11" name="Text 9"/>
          <p:cNvSpPr txBox="1"/>
          <p:nvPr/>
        </p:nvSpPr>
        <p:spPr>
          <a:xfrm>
            <a:off x="1051560" y="2880360"/>
            <a:ext cx="3566160" cy="228600"/>
          </a:xfrm>
          <a:prstGeom prst="rect">
            <a:avLst/>
          </a:prstGeom>
          <a:noFill/>
          <a:ln/>
        </p:spPr>
        <p:txBody>
          <a:bodyPr wrap="square" lIns="0" tIns="0" rIns="0" bIns="0" rtlCol="0" anchor="t"/>
          <a:lstStyle/>
          <a:p>
            <a:pPr indent="0" marL="0">
              <a:buNone/>
            </a:pPr>
            <a:r>
              <a:rPr lang="en-US" sz="1400" b="1" dirty="0">
                <a:solidFill>
                  <a:schemeClr val="tx1"/>
                </a:solidFill>
              </a:rPr>
              <a:t>Continuation bit</a:t>
            </a:r>
            <a:endParaRPr lang="en-US" sz="1400" dirty="0"/>
          </a:p>
        </p:txBody>
      </p:sp>
      <p:sp>
        <p:nvSpPr>
          <p:cNvPr id="12" name="Text 10"/>
          <p:cNvSpPr txBox="1"/>
          <p:nvPr/>
        </p:nvSpPr>
        <p:spPr>
          <a:xfrm>
            <a:off x="1051560" y="3127248"/>
            <a:ext cx="3566160" cy="457200"/>
          </a:xfrm>
          <a:prstGeom prst="rect">
            <a:avLst/>
          </a:prstGeom>
          <a:noFill/>
          <a:ln/>
        </p:spPr>
        <p:txBody>
          <a:bodyPr wrap="square" lIns="0" tIns="0" rIns="0" bIns="0" rtlCol="0" anchor="t"/>
          <a:lstStyle/>
          <a:p>
            <a:pPr indent="0" marL="0">
              <a:buNone/>
            </a:pPr>
            <a:r>
              <a:rPr lang="en-US" sz="1250" dirty="0">
                <a:solidFill>
                  <a:schemeClr val="tx2"/>
                </a:solidFill>
              </a:rPr>
              <a:t>add 32 to every group except the last</a:t>
            </a:r>
            <a:endParaRPr lang="en-US" sz="1250" dirty="0"/>
          </a:p>
        </p:txBody>
      </p:sp>
      <p:sp>
        <p:nvSpPr>
          <p:cNvPr id="13" name="Text 11"/>
          <p:cNvSpPr txBox="1"/>
          <p:nvPr/>
        </p:nvSpPr>
        <p:spPr>
          <a:xfrm>
            <a:off x="548640" y="3602736"/>
            <a:ext cx="411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4</a:t>
            </a:r>
            <a:endParaRPr lang="en-US" sz="3000" dirty="0"/>
          </a:p>
        </p:txBody>
      </p:sp>
      <p:sp>
        <p:nvSpPr>
          <p:cNvPr id="14" name="Text 12"/>
          <p:cNvSpPr txBox="1"/>
          <p:nvPr/>
        </p:nvSpPr>
        <p:spPr>
          <a:xfrm>
            <a:off x="1051560" y="3657600"/>
            <a:ext cx="3566160" cy="228600"/>
          </a:xfrm>
          <a:prstGeom prst="rect">
            <a:avLst/>
          </a:prstGeom>
          <a:noFill/>
          <a:ln/>
        </p:spPr>
        <p:txBody>
          <a:bodyPr wrap="square" lIns="0" tIns="0" rIns="0" bIns="0" rtlCol="0" anchor="t"/>
          <a:lstStyle/>
          <a:p>
            <a:pPr indent="0" marL="0">
              <a:buNone/>
            </a:pPr>
            <a:r>
              <a:rPr lang="en-US" sz="1400" b="1" dirty="0">
                <a:solidFill>
                  <a:schemeClr val="tx1"/>
                </a:solidFill>
              </a:rPr>
              <a:t>Base64 digit per group</a:t>
            </a:r>
            <a:endParaRPr lang="en-US" sz="1400" dirty="0"/>
          </a:p>
        </p:txBody>
      </p:sp>
      <p:sp>
        <p:nvSpPr>
          <p:cNvPr id="15" name="Text 13"/>
          <p:cNvSpPr txBox="1"/>
          <p:nvPr/>
        </p:nvSpPr>
        <p:spPr>
          <a:xfrm>
            <a:off x="1051560" y="3904488"/>
            <a:ext cx="3566160" cy="457200"/>
          </a:xfrm>
          <a:prstGeom prst="rect">
            <a:avLst/>
          </a:prstGeom>
          <a:noFill/>
          <a:ln/>
        </p:spPr>
        <p:txBody>
          <a:bodyPr wrap="square" lIns="0" tIns="0" rIns="0" bIns="0" rtlCol="0" anchor="t"/>
          <a:lstStyle/>
          <a:p>
            <a:pPr indent="0" marL="0">
              <a:buNone/>
            </a:pPr>
            <a:r>
              <a:rPr lang="en-US" sz="1250" dirty="0">
                <a:solidFill>
                  <a:schemeClr val="tx2"/>
                </a:solidFill>
              </a:rPr>
              <a:t>A–Z, a–z, 0–9, +, /</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120640" y="1325880"/>
          <a:ext cx="3474720" cy="914400"/>
        </p:xfrm>
        <a:graphic>
          <a:graphicData uri="http://schemas.openxmlformats.org/drawingml/2006/table">
            <a:tbl>
              <a:tblPr/>
              <a:tblGrid>
                <a:gridCol w="822960"/>
                <a:gridCol w="1645920"/>
                <a:gridCol w="1005840"/>
              </a:tblGrid>
              <a:tr h="329184">
                <a:tc>
                  <a:txBody>
                    <a:bodyPr/>
                    <a:lstStyle/>
                    <a:p>
                      <a:pPr indent="0" marL="0">
                        <a:buNone/>
                      </a:pPr>
                      <a:r>
                        <a:rPr lang="en-US" sz="1100" b="1" dirty="0">
                          <a:solidFill>
                            <a:srgbClr val="A9ACB2"/>
                          </a:solidFill>
                        </a:rPr>
                        <a:t>Value</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After step 1</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VLQ</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r>
              <a:tr h="329184">
                <a:tc>
                  <a:txBody>
                    <a:bodyPr/>
                    <a:lstStyle/>
                    <a:p>
                      <a:pPr indent="0" marL="0">
                        <a:buNone/>
                      </a:pPr>
                      <a:r>
                        <a:rPr lang="en-US" sz="1250" dirty="0">
                          <a:solidFill>
                            <a:srgbClr val="E4E4E2"/>
                          </a:solidFill>
                        </a:rPr>
                        <a:t>0</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0</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E4E4E2"/>
                          </a:solidFill>
                          <a:latin typeface="Consolas" pitchFamily="34" charset="0"/>
                          <a:ea typeface="Consolas" pitchFamily="34" charset="-122"/>
                          <a:cs typeface="Consolas" pitchFamily="34" charset="-120"/>
                        </a:rPr>
                        <a:t>A</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29184">
                <a:tc>
                  <a:txBody>
                    <a:bodyPr/>
                    <a:lstStyle/>
                    <a:p>
                      <a:pPr indent="0" marL="0">
                        <a:buNone/>
                      </a:pPr>
                      <a:r>
                        <a:rPr lang="en-US" sz="1250" dirty="0">
                          <a:solidFill>
                            <a:srgbClr val="E4E4E2"/>
                          </a:solidFill>
                        </a:rPr>
                        <a:t>1</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2</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E4E4E2"/>
                          </a:solidFill>
                          <a:latin typeface="Consolas" pitchFamily="34" charset="0"/>
                          <a:ea typeface="Consolas" pitchFamily="34" charset="-122"/>
                          <a:cs typeface="Consolas" pitchFamily="34" charset="-120"/>
                        </a:rPr>
                        <a:t>C</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29184">
                <a:tc>
                  <a:txBody>
                    <a:bodyPr/>
                    <a:lstStyle/>
                    <a:p>
                      <a:pPr indent="0" marL="0">
                        <a:buNone/>
                      </a:pPr>
                      <a:r>
                        <a:rPr lang="en-US" sz="1250" dirty="0">
                          <a:solidFill>
                            <a:srgbClr val="E4E4E2"/>
                          </a:solidFill>
                        </a:rPr>
                        <a:t>−1</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3</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E4E4E2"/>
                          </a:solidFill>
                          <a:latin typeface="Consolas" pitchFamily="34" charset="0"/>
                          <a:ea typeface="Consolas" pitchFamily="34" charset="-122"/>
                          <a:cs typeface="Consolas" pitchFamily="34" charset="-120"/>
                        </a:rPr>
                        <a:t>D</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29184">
                <a:tc>
                  <a:txBody>
                    <a:bodyPr/>
                    <a:lstStyle/>
                    <a:p>
                      <a:pPr indent="0" marL="0">
                        <a:buNone/>
                      </a:pPr>
                      <a:r>
                        <a:rPr lang="en-US" sz="1250" dirty="0">
                          <a:solidFill>
                            <a:srgbClr val="E4E4E2"/>
                          </a:solidFill>
                        </a:rPr>
                        <a:t>15</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30</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E4E4E2"/>
                          </a:solidFill>
                          <a:latin typeface="Consolas" pitchFamily="34" charset="0"/>
                          <a:ea typeface="Consolas" pitchFamily="34" charset="-122"/>
                          <a:cs typeface="Consolas" pitchFamily="34" charset="-120"/>
                        </a:rPr>
                        <a:t>e</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29184">
                <a:tc>
                  <a:txBody>
                    <a:bodyPr/>
                    <a:lstStyle/>
                    <a:p>
                      <a:pPr indent="0" marL="0">
                        <a:buNone/>
                      </a:pPr>
                      <a:r>
                        <a:rPr lang="en-US" sz="1250" dirty="0">
                          <a:solidFill>
                            <a:srgbClr val="E4E4E2"/>
                          </a:solidFill>
                        </a:rPr>
                        <a:t>16</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32 → 0+32, 1</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E4E4E2"/>
                          </a:solidFill>
                          <a:latin typeface="Consolas" pitchFamily="34" charset="0"/>
                          <a:ea typeface="Consolas" pitchFamily="34" charset="-122"/>
                          <a:cs typeface="Consolas" pitchFamily="34" charset="-120"/>
                        </a:rPr>
                        <a:t>gB</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29184">
                <a:tc>
                  <a:txBody>
                    <a:bodyPr/>
                    <a:lstStyle/>
                    <a:p>
                      <a:pPr indent="0" marL="0">
                        <a:buNone/>
                      </a:pPr>
                      <a:r>
                        <a:rPr lang="en-US" sz="1250" dirty="0">
                          <a:solidFill>
                            <a:srgbClr val="E4E4E2"/>
                          </a:solidFill>
                        </a:rPr>
                        <a:t>−5</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dirty="0">
                          <a:solidFill>
                            <a:srgbClr val="E4E4E2"/>
                          </a:solidFill>
                        </a:rPr>
                        <a:t>11</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E4E4E2"/>
                          </a:solidFill>
                          <a:latin typeface="Consolas" pitchFamily="34" charset="0"/>
                          <a:ea typeface="Consolas" pitchFamily="34" charset="-122"/>
                          <a:cs typeface="Consolas" pitchFamily="34" charset="-120"/>
                        </a:rPr>
                        <a:t>L</a:t>
                      </a:r>
                      <a:endParaRPr lang="en-US" sz="12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bl>
          </a:graphicData>
        </a:graphic>
      </p:graphicFrame>
      <p:sp>
        <p:nvSpPr>
          <p:cNvPr id="17" name="Text 14"/>
          <p:cNvSpPr txBox="1"/>
          <p:nvPr/>
        </p:nvSpPr>
        <p:spPr>
          <a:xfrm>
            <a:off x="5120640" y="3840480"/>
            <a:ext cx="3474720" cy="548640"/>
          </a:xfrm>
          <a:prstGeom prst="rect">
            <a:avLst/>
          </a:prstGeom>
          <a:noFill/>
          <a:ln/>
        </p:spPr>
        <p:txBody>
          <a:bodyPr wrap="square" lIns="0" tIns="0" rIns="0" bIns="0" rtlCol="0" anchor="t"/>
          <a:lstStyle/>
          <a:p>
            <a:pPr indent="0" marL="0">
              <a:buNone/>
            </a:pPr>
            <a:r>
              <a:rPr lang="en-US" sz="1200" i="1" dirty="0">
                <a:solidFill>
                  <a:schemeClr val="tx2"/>
                </a:solidFill>
              </a:rPr>
              <a:t>Tested on these vectors, 5,000 random values, and cross-checked with Node’s own decoder.</a:t>
            </a:r>
            <a:endParaRPr lang="en-US" sz="12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06-sourcemap · milestone 6</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The source map file</a:t>
            </a:r>
            <a:endParaRPr lang="en-US" sz="2800" dirty="0"/>
          </a:p>
        </p:txBody>
      </p:sp>
      <p:sp>
        <p:nvSpPr>
          <p:cNvPr id="4" name="code"/>
          <p:cNvSpPr/>
          <p:nvPr/>
        </p:nvSpPr>
        <p:spPr>
          <a:xfrm>
            <a:off x="548640" y="1280160"/>
            <a:ext cx="4297680" cy="2286000"/>
          </a:xfrm>
          <a:prstGeom prst="rect">
            <a:avLst/>
          </a:prstGeom>
          <a:solidFill>
            <a:srgbClr val="1E2025"/>
          </a:solidFill>
          <a:ln w="9525">
            <a:solidFill>
              <a:srgbClr val="2E3138"/>
            </a:solidFill>
          </a:ln>
        </p:spPr>
      </p:sp>
      <p:sp>
        <p:nvSpPr>
          <p:cNvPr id="5" name="Text 3"/>
          <p:cNvSpPr txBox="1"/>
          <p:nvPr/>
        </p:nvSpPr>
        <p:spPr>
          <a:xfrm>
            <a:off x="731520" y="1426464"/>
            <a:ext cx="3931920" cy="1993392"/>
          </a:xfrm>
          <a:prstGeom prst="rect">
            <a:avLst/>
          </a:prstGeom>
          <a:noFill/>
          <a:ln/>
        </p:spPr>
        <p:txBody>
          <a:bodyPr wrap="square" lIns="0" tIns="0" rIns="0" bIns="0" rtlCol="0" anchor="t"/>
          <a:lstStyle/>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"version": 3,</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"file": "fib.js",</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"sources": ["../examples/fib.tth"],</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"sourcesContent": ["// Fibonacci…"],</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"names": ["fib","n","fibIter",…],</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  "mappings": "</a:t>
            </a:r>
            <a:pPr indent="0" marL="0">
              <a:lnSpc>
                <a:spcPct val="105000"/>
              </a:lnSpc>
              <a:buNone/>
            </a:pPr>
            <a:r>
              <a:rPr lang="en-US" sz="1100" dirty="0">
                <a:solidFill>
                  <a:srgbClr val="F0B54A"/>
                </a:solidFill>
                <a:latin typeface="Consolas" pitchFamily="34" charset="0"/>
                <a:ea typeface="Consolas" pitchFamily="34" charset="-122"/>
                <a:cs typeface="Consolas" pitchFamily="34" charset="-120"/>
              </a:rPr>
              <a:t>;AAEA,SAAGA,IAAIC;</a:t>
            </a:r>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EACL…"</a:t>
            </a:r>
            <a:endParaRPr lang="en-US" sz="1100" dirty="0"/>
          </a:p>
          <a:p>
            <a:pPr indent="0" marL="0">
              <a:lnSpc>
                <a:spcPct val="105000"/>
              </a:lnSpc>
              <a:buNone/>
            </a:pPr>
            <a:r>
              <a:rPr lang="en-US" sz="1100" dirty="0">
                <a:solidFill>
                  <a:srgbClr val="E4E4E2"/>
                </a:solidFill>
                <a:latin typeface="Consolas" pitchFamily="34" charset="0"/>
                <a:ea typeface="Consolas" pitchFamily="34" charset="-122"/>
                <a:cs typeface="Consolas" pitchFamily="34" charset="-120"/>
              </a:rPr>
              <a:t>}</a:t>
            </a:r>
            <a:endParaRPr lang="en-US" sz="1100" dirty="0"/>
          </a:p>
        </p:txBody>
      </p:sp>
      <p:sp>
        <p:nvSpPr>
          <p:cNvPr id="6" name="Text 4"/>
          <p:cNvSpPr txBox="1"/>
          <p:nvPr/>
        </p:nvSpPr>
        <p:spPr>
          <a:xfrm>
            <a:off x="548640" y="3630168"/>
            <a:ext cx="4297680" cy="201168"/>
          </a:xfrm>
          <a:prstGeom prst="rect">
            <a:avLst/>
          </a:prstGeom>
          <a:noFill/>
          <a:ln/>
        </p:spPr>
        <p:txBody>
          <a:bodyPr wrap="square" lIns="0" tIns="0" rIns="0" bIns="0" rtlCol="0" anchor="t"/>
          <a:lstStyle/>
          <a:p>
            <a:pPr indent="0" marL="0">
              <a:buNone/>
            </a:pPr>
            <a:r>
              <a:rPr lang="en-US" sz="1050" i="1" dirty="0">
                <a:solidFill>
                  <a:schemeClr val="accent5"/>
                </a:solidFill>
              </a:rPr>
              <a:t>out/fib.js.map (shortened)</a:t>
            </a:r>
            <a:endParaRPr lang="en-US" sz="1050" dirty="0"/>
          </a:p>
        </p:txBody>
      </p:sp>
      <p:sp>
        <p:nvSpPr>
          <p:cNvPr id="7" name="Text 5"/>
          <p:cNvSpPr txBox="1"/>
          <p:nvPr/>
        </p:nvSpPr>
        <p:spPr>
          <a:xfrm>
            <a:off x="5120640" y="1325880"/>
            <a:ext cx="3474720" cy="228600"/>
          </a:xfrm>
          <a:prstGeom prst="rect">
            <a:avLst/>
          </a:prstGeom>
          <a:noFill/>
          <a:ln/>
        </p:spPr>
        <p:txBody>
          <a:bodyPr wrap="square" lIns="0" tIns="0" rIns="0" bIns="0" rtlCol="0" anchor="t"/>
          <a:lstStyle/>
          <a:p>
            <a:pPr indent="0" marL="0">
              <a:buNone/>
            </a:pPr>
            <a:r>
              <a:rPr lang="en-US" sz="1400" b="1" dirty="0">
                <a:solidFill>
                  <a:schemeClr val="tx1"/>
                </a:solidFill>
              </a:rPr>
              <a:t>Delta encoding (FR-X3)</a:t>
            </a:r>
            <a:endParaRPr lang="en-US" sz="1400" dirty="0"/>
          </a:p>
        </p:txBody>
      </p:sp>
      <p:sp>
        <p:nvSpPr>
          <p:cNvPr id="8" name="Text 6"/>
          <p:cNvSpPr txBox="1"/>
          <p:nvPr/>
        </p:nvSpPr>
        <p:spPr>
          <a:xfrm>
            <a:off x="5120640" y="1572768"/>
            <a:ext cx="3474720" cy="457200"/>
          </a:xfrm>
          <a:prstGeom prst="rect">
            <a:avLst/>
          </a:prstGeom>
          <a:noFill/>
          <a:ln/>
        </p:spPr>
        <p:txBody>
          <a:bodyPr wrap="square" lIns="0" tIns="0" rIns="0" bIns="0" rtlCol="0" anchor="t"/>
          <a:lstStyle/>
          <a:p>
            <a:pPr indent="0" marL="0">
              <a:buNone/>
            </a:pPr>
            <a:r>
              <a:rPr lang="en-US" sz="1250" dirty="0">
                <a:solidFill>
                  <a:schemeClr val="tx2"/>
                </a:solidFill>
              </a:rPr>
              <a:t>the generated column restarts each line; the other fields carry on across the file</a:t>
            </a:r>
            <a:endParaRPr lang="en-US" sz="1250" dirty="0"/>
          </a:p>
        </p:txBody>
      </p:sp>
      <p:sp>
        <p:nvSpPr>
          <p:cNvPr id="9" name="Text 7"/>
          <p:cNvSpPr txBox="1"/>
          <p:nvPr/>
        </p:nvSpPr>
        <p:spPr>
          <a:xfrm>
            <a:off x="5120640" y="2103120"/>
            <a:ext cx="3474720" cy="228600"/>
          </a:xfrm>
          <a:prstGeom prst="rect">
            <a:avLst/>
          </a:prstGeom>
          <a:noFill/>
          <a:ln/>
        </p:spPr>
        <p:txBody>
          <a:bodyPr wrap="square" lIns="0" tIns="0" rIns="0" bIns="0" rtlCol="0" anchor="t"/>
          <a:lstStyle/>
          <a:p>
            <a:pPr indent="0" marL="0">
              <a:buNone/>
            </a:pPr>
            <a:r>
              <a:rPr lang="en-US" sz="1400" b="1" dirty="0">
                <a:solidFill>
                  <a:schemeClr val="tx1"/>
                </a:solidFill>
              </a:rPr>
              <a:t>Names (FR-G3)</a:t>
            </a:r>
            <a:endParaRPr lang="en-US" sz="1400" dirty="0"/>
          </a:p>
        </p:txBody>
      </p:sp>
      <p:sp>
        <p:nvSpPr>
          <p:cNvPr id="10" name="Text 8"/>
          <p:cNvSpPr txBox="1"/>
          <p:nvPr/>
        </p:nvSpPr>
        <p:spPr>
          <a:xfrm>
            <a:off x="5120640" y="2350008"/>
            <a:ext cx="3474720" cy="457200"/>
          </a:xfrm>
          <a:prstGeom prst="rect">
            <a:avLst/>
          </a:prstGeom>
          <a:noFill/>
          <a:ln/>
        </p:spPr>
        <p:txBody>
          <a:bodyPr wrap="square" lIns="0" tIns="0" rIns="0" bIns="0" rtlCol="0" anchor="t"/>
          <a:lstStyle/>
          <a:p>
            <a:pPr indent="0" marL="0">
              <a:buNone/>
            </a:pPr>
            <a:r>
              <a:rPr lang="en-US" sz="1250" dirty="0">
                <a:solidFill>
                  <a:schemeClr val="tx2"/>
                </a:solidFill>
              </a:rPr>
              <a:t>identifier segments carry the original name, so var$ shows as var</a:t>
            </a:r>
            <a:endParaRPr lang="en-US" sz="1250" dirty="0"/>
          </a:p>
        </p:txBody>
      </p:sp>
      <p:sp>
        <p:nvSpPr>
          <p:cNvPr id="11" name="Text 9"/>
          <p:cNvSpPr txBox="1"/>
          <p:nvPr/>
        </p:nvSpPr>
        <p:spPr>
          <a:xfrm>
            <a:off x="5120640" y="2880360"/>
            <a:ext cx="3474720" cy="228600"/>
          </a:xfrm>
          <a:prstGeom prst="rect">
            <a:avLst/>
          </a:prstGeom>
          <a:noFill/>
          <a:ln/>
        </p:spPr>
        <p:txBody>
          <a:bodyPr wrap="square" lIns="0" tIns="0" rIns="0" bIns="0" rtlCol="0" anchor="t"/>
          <a:lstStyle/>
          <a:p>
            <a:pPr indent="0" marL="0">
              <a:buNone/>
            </a:pPr>
            <a:r>
              <a:rPr lang="en-US" sz="1400" b="1" dirty="0">
                <a:solidFill>
                  <a:schemeClr val="tx1"/>
                </a:solidFill>
              </a:rPr>
              <a:t>Self-contained (FR-X5)</a:t>
            </a:r>
            <a:endParaRPr lang="en-US" sz="1400" dirty="0"/>
          </a:p>
        </p:txBody>
      </p:sp>
      <p:sp>
        <p:nvSpPr>
          <p:cNvPr id="12" name="Text 10"/>
          <p:cNvSpPr txBox="1"/>
          <p:nvPr/>
        </p:nvSpPr>
        <p:spPr>
          <a:xfrm>
            <a:off x="5120640" y="3127248"/>
            <a:ext cx="3474720" cy="457200"/>
          </a:xfrm>
          <a:prstGeom prst="rect">
            <a:avLst/>
          </a:prstGeom>
          <a:noFill/>
          <a:ln/>
        </p:spPr>
        <p:txBody>
          <a:bodyPr wrap="square" lIns="0" tIns="0" rIns="0" bIns="0" rtlCol="0" anchor="t"/>
          <a:lstStyle/>
          <a:p>
            <a:pPr indent="0" marL="0">
              <a:buNone/>
            </a:pPr>
            <a:r>
              <a:rPr lang="en-US" sz="1250" dirty="0">
                <a:solidFill>
                  <a:schemeClr val="tx2"/>
                </a:solidFill>
              </a:rPr>
              <a:t>sourcesContent embeds the original text</a:t>
            </a:r>
            <a:endParaRPr lang="en-US" sz="1250" dirty="0"/>
          </a:p>
        </p:txBody>
      </p:sp>
      <p:sp>
        <p:nvSpPr>
          <p:cNvPr id="13" name="rule"/>
          <p:cNvSpPr/>
          <p:nvPr/>
        </p:nvSpPr>
        <p:spPr>
          <a:xfrm>
            <a:off x="548640" y="4023360"/>
            <a:ext cx="8046720" cy="0"/>
          </a:xfrm>
          <a:prstGeom prst="line">
            <a:avLst/>
          </a:prstGeom>
          <a:noFill/>
          <a:ln w="9525">
            <a:solidFill>
              <a:srgbClr val="2A2D33"/>
            </a:solidFill>
            <a:prstDash val="solid"/>
          </a:ln>
        </p:spPr>
      </p:sp>
      <p:sp>
        <p:nvSpPr>
          <p:cNvPr id="14" name="Text 12"/>
          <p:cNvSpPr txBox="1"/>
          <p:nvPr/>
        </p:nvSpPr>
        <p:spPr>
          <a:xfrm>
            <a:off x="548640" y="4133088"/>
            <a:ext cx="8046720" cy="457200"/>
          </a:xfrm>
          <a:prstGeom prst="rect">
            <a:avLst/>
          </a:prstGeom>
          <a:noFill/>
          <a:ln/>
        </p:spPr>
        <p:txBody>
          <a:bodyPr wrap="square" lIns="0" tIns="0" rIns="0" bIns="0" rtlCol="0" anchor="t"/>
          <a:lstStyle/>
          <a:p>
            <a:pPr indent="0" marL="0">
              <a:buNone/>
            </a:pPr>
            <a:r>
              <a:rPr lang="en-US" sz="1350" b="1" dirty="0">
                <a:solidFill>
                  <a:schemeClr val="tx1"/>
                </a:solidFill>
                <a:latin typeface="Consolas" pitchFamily="34" charset="0"/>
                <a:ea typeface="Consolas" pitchFamily="34" charset="-122"/>
                <a:cs typeface="Consolas" pitchFamily="34" charset="-120"/>
              </a:rPr>
              <a:t>AAEA,SAAGA,IAAIC</a:t>
            </a:r>
            <a:pPr indent="0" marL="0">
              <a:buNone/>
            </a:pPr>
            <a:r>
              <a:rPr lang="en-US" sz="1350" dirty="0">
                <a:solidFill>
                  <a:schemeClr val="tx1"/>
                </a:solidFill>
              </a:rPr>
              <a:t> is exactly the example worked out by hand in the Review 1 report, and a test checks it.</a:t>
            </a:r>
            <a:endParaRPr lang="en-US" sz="13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06-verify</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An independent decoder agrees 100%</a:t>
            </a:r>
            <a:endParaRPr lang="en-US" sz="2800" dirty="0"/>
          </a:p>
        </p:txBody>
      </p:sp>
      <p:sp>
        <p:nvSpPr>
          <p:cNvPr id="4" name="Text 2"/>
          <p:cNvSpPr txBox="1"/>
          <p:nvPr/>
        </p:nvSpPr>
        <p:spPr>
          <a:xfrm>
            <a:off x="548640" y="1234440"/>
            <a:ext cx="3657600" cy="914400"/>
          </a:xfrm>
          <a:prstGeom prst="rect">
            <a:avLst/>
          </a:prstGeom>
          <a:noFill/>
          <a:ln/>
        </p:spPr>
        <p:txBody>
          <a:bodyPr wrap="square" lIns="0" tIns="0" rIns="0" bIns="0" rtlCol="0" anchor="t"/>
          <a:lstStyle/>
          <a:p>
            <a:pPr indent="0" marL="0">
              <a:buNone/>
            </a:pPr>
            <a:r>
              <a:rPr lang="en-US" sz="6000" b="1" dirty="0">
                <a:solidFill>
                  <a:schemeClr val="tx1"/>
                </a:solidFill>
                <a:latin typeface="Cambria" pitchFamily="34" charset="0"/>
                <a:ea typeface="Cambria" pitchFamily="34" charset="-122"/>
                <a:cs typeface="Cambria" pitchFamily="34" charset="-120"/>
              </a:rPr>
              <a:t>186/186</a:t>
            </a:r>
            <a:endParaRPr lang="en-US" sz="6000" dirty="0"/>
          </a:p>
        </p:txBody>
      </p:sp>
      <p:sp>
        <p:nvSpPr>
          <p:cNvPr id="5" name="Text 3"/>
          <p:cNvSpPr txBox="1"/>
          <p:nvPr/>
        </p:nvSpPr>
        <p:spPr>
          <a:xfrm>
            <a:off x="548640" y="2194560"/>
            <a:ext cx="3749040" cy="914400"/>
          </a:xfrm>
          <a:prstGeom prst="rect">
            <a:avLst/>
          </a:prstGeom>
          <a:noFill/>
          <a:ln/>
        </p:spPr>
        <p:txBody>
          <a:bodyPr wrap="square" lIns="0" tIns="0" rIns="0" bIns="0" rtlCol="0" anchor="t"/>
          <a:lstStyle/>
          <a:p>
            <a:pPr indent="0" marL="0">
              <a:buNone/>
            </a:pPr>
            <a:r>
              <a:rPr lang="en-US" sz="1300" dirty="0">
                <a:solidFill>
                  <a:schemeClr val="tx2"/>
                </a:solidFill>
              </a:rPr>
              <a:t>mapping entries across the four benchmarks, looked up in Node's built-in SourceMap decoder, give back the same original line, column and name (AC-3)</a:t>
            </a:r>
            <a:endParaRPr lang="en-US" sz="1300" dirty="0"/>
          </a:p>
        </p:txBody>
      </p:sp>
      <p:sp>
        <p:nvSpPr>
          <p:cNvPr id="6" name="Text 4"/>
          <p:cNvSpPr txBox="1"/>
          <p:nvPr/>
        </p:nvSpPr>
        <p:spPr>
          <a:xfrm>
            <a:off x="548640" y="3291840"/>
            <a:ext cx="3749040" cy="1097280"/>
          </a:xfrm>
          <a:prstGeom prst="rect">
            <a:avLst/>
          </a:prstGeom>
          <a:noFill/>
          <a:ln/>
        </p:spPr>
        <p:txBody>
          <a:bodyPr wrap="square" lIns="0" tIns="0" rIns="0" bIns="0" rtlCol="0" anchor="t"/>
          <a:lstStyle/>
          <a:p>
            <a:pPr indent="0" marL="0">
              <a:buNone/>
            </a:pPr>
            <a:r>
              <a:rPr lang="en-US" sz="1250" i="1" dirty="0">
                <a:solidFill>
                  <a:schemeClr val="tx1"/>
                </a:solidFill>
              </a:rPr>
              <a:t>Why a separate decoder? A self-consistent encoder can still be wrong (NFR-4). Node’s decoder is not part of this project, so it is a real check, and it adds no dependency.</a:t>
            </a:r>
            <a:endParaRPr lang="en-US" sz="1250" dirty="0"/>
          </a:p>
        </p:txBody>
      </p:sp>
      <p:sp>
        <p:nvSpPr>
          <p:cNvPr id="7" name="Text 5"/>
          <p:cNvSpPr txBox="1"/>
          <p:nvPr/>
        </p:nvSpPr>
        <p:spPr>
          <a:xfrm>
            <a:off x="4754880" y="1325880"/>
            <a:ext cx="3840480" cy="274320"/>
          </a:xfrm>
          <a:prstGeom prst="rect">
            <a:avLst/>
          </a:prstGeom>
          <a:noFill/>
          <a:ln/>
        </p:spPr>
        <p:txBody>
          <a:bodyPr wrap="square" lIns="0" tIns="0" rIns="0" bIns="0" rtlCol="0" anchor="t"/>
          <a:lstStyle/>
          <a:p>
            <a:pPr indent="0" marL="0">
              <a:buNone/>
            </a:pPr>
            <a:r>
              <a:rPr lang="en-US" sz="1400" b="1" dirty="0">
                <a:solidFill>
                  <a:schemeClr val="tx1"/>
                </a:solidFill>
              </a:rPr>
              <a:t>Also checked for every benchmark</a:t>
            </a:r>
            <a:endParaRPr lang="en-US" sz="1400" dirty="0"/>
          </a:p>
        </p:txBody>
      </p:sp>
      <p:sp>
        <p:nvSpPr>
          <p:cNvPr id="8" name="Text 6"/>
          <p:cNvSpPr txBox="1"/>
          <p:nvPr/>
        </p:nvSpPr>
        <p:spPr>
          <a:xfrm>
            <a:off x="4754880" y="1691640"/>
            <a:ext cx="3840480" cy="2743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Every segment has 4 or 5 fields</a:t>
            </a:r>
            <a:endParaRPr lang="en-US" sz="1300" dirty="0"/>
          </a:p>
          <a:p>
            <a:pPr marL="177800" indent="-177800">
              <a:spcAft>
                <a:spcPts val="600"/>
              </a:spcAft>
              <a:buSzPct val="100000"/>
              <a:buChar char="•"/>
            </a:pPr>
            <a:r>
              <a:rPr lang="en-US" sz="1300" dirty="0">
                <a:solidFill>
                  <a:schemeClr val="tx2"/>
                </a:solidFill>
              </a:rPr>
              <a:t>Every segment points at a real source position</a:t>
            </a:r>
            <a:endParaRPr lang="en-US" sz="1300" dirty="0"/>
          </a:p>
          <a:p>
            <a:pPr marL="177800" indent="-177800">
              <a:spcAft>
                <a:spcPts val="600"/>
              </a:spcAft>
              <a:buSzPct val="100000"/>
              <a:buChar char="•"/>
            </a:pPr>
            <a:r>
              <a:rPr lang="en-US" sz="1300" dirty="0">
                <a:solidFill>
                  <a:schemeClr val="tx2"/>
                </a:solidFill>
              </a:rPr>
              <a:t>Every name index is inside names</a:t>
            </a:r>
            <a:endParaRPr lang="en-US" sz="1300" dirty="0"/>
          </a:p>
          <a:p>
            <a:pPr marL="177800" indent="-177800">
              <a:spcAft>
                <a:spcPts val="600"/>
              </a:spcAft>
              <a:buSzPct val="100000"/>
              <a:buChar char="•"/>
            </a:pPr>
            <a:r>
              <a:rPr lang="en-US" sz="1300" dirty="0">
                <a:solidFill>
                  <a:schemeClr val="tx2"/>
                </a:solidFill>
              </a:rPr>
              <a:t>Every statement and identifier has a mapping (FR-X4)</a:t>
            </a:r>
            <a:endParaRPr lang="en-US" sz="1300" dirty="0"/>
          </a:p>
          <a:p>
            <a:pPr marL="177800" indent="-177800">
              <a:spcAft>
                <a:spcPts val="600"/>
              </a:spcAft>
              <a:buSzPct val="100000"/>
              <a:buChar char="•"/>
            </a:pPr>
            <a:r>
              <a:rPr lang="en-US" sz="1300" dirty="0">
                <a:solidFill>
                  <a:schemeClr val="tx2"/>
                </a:solidFill>
              </a:rPr>
              <a:t>sourceMappingURL and sources resolve on disk</a:t>
            </a:r>
            <a:endParaRPr lang="en-US" sz="1300" dirty="0"/>
          </a:p>
          <a:p>
            <a:pPr marL="177800" indent="-177800">
              <a:spcAft>
                <a:spcPts val="600"/>
              </a:spcAft>
              <a:buSzPct val="100000"/>
              <a:buChar char="•"/>
            </a:pPr>
            <a:r>
              <a:rPr lang="en-US" sz="1300" dirty="0">
                <a:solidFill>
                  <a:schemeClr val="tx2"/>
                </a:solidFill>
              </a:rPr>
              <a:t>Output is byte-identical between runs (NFR-2)</a:t>
            </a:r>
            <a:endParaRPr lang="en-US" sz="13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06-payoff</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The payoff: errors point at the original source</a:t>
            </a:r>
            <a:endParaRPr lang="en-US" sz="2800" dirty="0"/>
          </a:p>
        </p:txBody>
      </p:sp>
      <p:sp>
        <p:nvSpPr>
          <p:cNvPr id="4" name="Text 2"/>
          <p:cNvSpPr txBox="1"/>
          <p:nvPr/>
        </p:nvSpPr>
        <p:spPr>
          <a:xfrm>
            <a:off x="548640" y="1298448"/>
            <a:ext cx="3840480" cy="228600"/>
          </a:xfrm>
          <a:prstGeom prst="rect">
            <a:avLst/>
          </a:prstGeom>
          <a:noFill/>
          <a:ln/>
        </p:spPr>
        <p:txBody>
          <a:bodyPr wrap="square" lIns="0" tIns="0" rIns="0" bIns="0" rtlCol="0" anchor="t"/>
          <a:lstStyle/>
          <a:p>
            <a:pPr indent="0" marL="0">
              <a:buNone/>
            </a:pPr>
            <a:r>
              <a:rPr lang="en-US" sz="1300" b="1" dirty="0">
                <a:solidFill>
                  <a:schemeClr val="tx2"/>
                </a:solidFill>
              </a:rPr>
              <a:t>Without the map</a:t>
            </a:r>
            <a:endParaRPr lang="en-US" sz="1300" dirty="0"/>
          </a:p>
        </p:txBody>
      </p:sp>
      <p:sp>
        <p:nvSpPr>
          <p:cNvPr id="5" name="code"/>
          <p:cNvSpPr/>
          <p:nvPr/>
        </p:nvSpPr>
        <p:spPr>
          <a:xfrm>
            <a:off x="548640" y="1600200"/>
            <a:ext cx="3840480" cy="1463040"/>
          </a:xfrm>
          <a:prstGeom prst="rect">
            <a:avLst/>
          </a:prstGeom>
          <a:solidFill>
            <a:srgbClr val="1E2025"/>
          </a:solidFill>
          <a:ln w="9525">
            <a:solidFill>
              <a:srgbClr val="2E3138"/>
            </a:solidFill>
          </a:ln>
        </p:spPr>
      </p:sp>
      <p:sp>
        <p:nvSpPr>
          <p:cNvPr id="6" name="Text 4"/>
          <p:cNvSpPr txBox="1"/>
          <p:nvPr/>
        </p:nvSpPr>
        <p:spPr>
          <a:xfrm>
            <a:off x="731520" y="1746504"/>
            <a:ext cx="3474720" cy="1170432"/>
          </a:xfrm>
          <a:prstGeom prst="rect">
            <a:avLst/>
          </a:prstGeom>
          <a:noFill/>
          <a:ln/>
        </p:spPr>
        <p:txBody>
          <a:bodyPr wrap="square" lIns="0" tIns="0" rIns="0" bIns="0" rtlCol="0" anchor="t"/>
          <a:lstStyle/>
          <a:p>
            <a:pPr indent="0" marL="0">
              <a:lnSpc>
                <a:spcPct val="105000"/>
              </a:lnSpc>
              <a:buNone/>
            </a:pPr>
            <a:r>
              <a:rPr lang="en-US" sz="1050" dirty="0">
                <a:solidFill>
                  <a:srgbClr val="8A8E96"/>
                </a:solidFill>
                <a:latin typeface="Consolas" pitchFamily="34" charset="0"/>
                <a:ea typeface="Consolas" pitchFamily="34" charset="-122"/>
                <a:cs typeface="Consolas" pitchFamily="34" charset="-120"/>
              </a:rPr>
              <a:t>$ node out/stack-overflow.js</a:t>
            </a:r>
            <a:endParaRPr lang="en-US" sz="1050" dirty="0"/>
          </a:p>
          <a:p>
            <a:pPr indent="0" marL="0">
              <a:lnSpc>
                <a:spcPct val="105000"/>
              </a:lnSpc>
              <a:buNone/>
            </a:pPr>
            <a:r>
              <a:rPr lang="en-US" sz="1050" dirty="0">
                <a:solidFill>
                  <a:srgbClr val="FF6F6B"/>
                </a:solidFill>
                <a:latin typeface="Consolas" pitchFamily="34" charset="0"/>
                <a:ea typeface="Consolas" pitchFamily="34" charset="-122"/>
                <a:cs typeface="Consolas" pitchFamily="34" charset="-120"/>
              </a:rPr>
              <a:t>RangeError: Maximum call stack</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at down (</a:t>
            </a:r>
            <a:pPr indent="0" marL="0">
              <a:lnSpc>
                <a:spcPct val="105000"/>
              </a:lnSpc>
              <a:buNone/>
            </a:pPr>
            <a:r>
              <a:rPr lang="en-US" sz="1050" dirty="0">
                <a:solidFill>
                  <a:srgbClr val="F0B54A"/>
                </a:solidFill>
                <a:latin typeface="Consolas" pitchFamily="34" charset="0"/>
                <a:ea typeface="Consolas" pitchFamily="34" charset="-122"/>
                <a:cs typeface="Consolas" pitchFamily="34" charset="-120"/>
              </a:rPr>
              <a:t>out/stack-overflow.js:3:10</a:t>
            </a:r>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at down (out/stack-overflow.js:3:10)</a:t>
            </a:r>
            <a:endParaRPr lang="en-US" sz="1050" dirty="0"/>
          </a:p>
        </p:txBody>
      </p:sp>
      <p:sp>
        <p:nvSpPr>
          <p:cNvPr id="7" name="Text 5"/>
          <p:cNvSpPr txBox="1"/>
          <p:nvPr/>
        </p:nvSpPr>
        <p:spPr>
          <a:xfrm>
            <a:off x="4754880" y="1298448"/>
            <a:ext cx="3840480" cy="228600"/>
          </a:xfrm>
          <a:prstGeom prst="rect">
            <a:avLst/>
          </a:prstGeom>
          <a:noFill/>
          <a:ln/>
        </p:spPr>
        <p:txBody>
          <a:bodyPr wrap="square" lIns="0" tIns="0" rIns="0" bIns="0" rtlCol="0" anchor="t"/>
          <a:lstStyle/>
          <a:p>
            <a:pPr indent="0" marL="0">
              <a:buNone/>
            </a:pPr>
            <a:r>
              <a:rPr lang="en-US" sz="1300" b="1" dirty="0">
                <a:solidFill>
                  <a:schemeClr val="tx1"/>
                </a:solidFill>
              </a:rPr>
              <a:t>With the map</a:t>
            </a:r>
            <a:endParaRPr lang="en-US" sz="1300" dirty="0"/>
          </a:p>
        </p:txBody>
      </p:sp>
      <p:sp>
        <p:nvSpPr>
          <p:cNvPr id="8" name="code"/>
          <p:cNvSpPr/>
          <p:nvPr/>
        </p:nvSpPr>
        <p:spPr>
          <a:xfrm>
            <a:off x="4754880" y="1600200"/>
            <a:ext cx="3840480" cy="1463040"/>
          </a:xfrm>
          <a:prstGeom prst="rect">
            <a:avLst/>
          </a:prstGeom>
          <a:solidFill>
            <a:srgbClr val="1E2025"/>
          </a:solidFill>
          <a:ln w="9525">
            <a:solidFill>
              <a:srgbClr val="2E3138"/>
            </a:solidFill>
          </a:ln>
        </p:spPr>
      </p:sp>
      <p:sp>
        <p:nvSpPr>
          <p:cNvPr id="9" name="Text 7"/>
          <p:cNvSpPr txBox="1"/>
          <p:nvPr/>
        </p:nvSpPr>
        <p:spPr>
          <a:xfrm>
            <a:off x="4937760" y="1746504"/>
            <a:ext cx="3474720" cy="1170432"/>
          </a:xfrm>
          <a:prstGeom prst="rect">
            <a:avLst/>
          </a:prstGeom>
          <a:noFill/>
          <a:ln/>
        </p:spPr>
        <p:txBody>
          <a:bodyPr wrap="square" lIns="0" tIns="0" rIns="0" bIns="0" rtlCol="0" anchor="t"/>
          <a:lstStyle/>
          <a:p>
            <a:pPr indent="0" marL="0">
              <a:lnSpc>
                <a:spcPct val="105000"/>
              </a:lnSpc>
              <a:buNone/>
            </a:pPr>
            <a:r>
              <a:rPr lang="en-US" sz="1050" dirty="0">
                <a:solidFill>
                  <a:srgbClr val="8A8E96"/>
                </a:solidFill>
                <a:latin typeface="Consolas" pitchFamily="34" charset="0"/>
                <a:ea typeface="Consolas" pitchFamily="34" charset="-122"/>
                <a:cs typeface="Consolas" pitchFamily="34" charset="-120"/>
              </a:rPr>
              <a:t>$ node --enable-source-maps …</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return down(n + 1) + 1;</a:t>
            </a:r>
            <a:endParaRPr lang="en-US" sz="1050" dirty="0"/>
          </a:p>
          <a:p>
            <a:pPr indent="0" marL="0">
              <a:lnSpc>
                <a:spcPct val="105000"/>
              </a:lnSpc>
              <a:buNone/>
            </a:pPr>
            <a:r>
              <a:rPr lang="en-US" sz="1050" dirty="0">
                <a:solidFill>
                  <a:srgbClr val="FF6F6B"/>
                </a:solidFill>
                <a:latin typeface="Consolas" pitchFamily="34" charset="0"/>
                <a:ea typeface="Consolas" pitchFamily="34" charset="-122"/>
                <a:cs typeface="Consolas" pitchFamily="34" charset="-120"/>
              </a:rPr>
              <a:t>RangeError: Maximum call stack</a:t>
            </a:r>
            <a:endParaRPr lang="en-US" sz="1050" dirty="0"/>
          </a:p>
          <a:p>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    at down (</a:t>
            </a:r>
            <a:pPr indent="0" marL="0">
              <a:lnSpc>
                <a:spcPct val="105000"/>
              </a:lnSpc>
              <a:buNone/>
            </a:pPr>
            <a:r>
              <a:rPr lang="en-US" sz="1050" dirty="0">
                <a:solidFill>
                  <a:srgbClr val="F0B54A"/>
                </a:solidFill>
                <a:latin typeface="Consolas" pitchFamily="34" charset="0"/>
                <a:ea typeface="Consolas" pitchFamily="34" charset="-122"/>
                <a:cs typeface="Consolas" pitchFamily="34" charset="-120"/>
              </a:rPr>
              <a:t>stack-overflow.tth:6:10</a:t>
            </a:r>
            <a:pPr indent="0" marL="0">
              <a:lnSpc>
                <a:spcPct val="105000"/>
              </a:lnSpc>
              <a:buNone/>
            </a:pPr>
            <a:r>
              <a:rPr lang="en-US" sz="1050" dirty="0">
                <a:solidFill>
                  <a:srgbClr val="E4E4E2"/>
                </a:solidFill>
                <a:latin typeface="Consolas" pitchFamily="34" charset="0"/>
                <a:ea typeface="Consolas" pitchFamily="34" charset="-122"/>
                <a:cs typeface="Consolas" pitchFamily="34" charset="-120"/>
              </a:rPr>
              <a:t>)</a:t>
            </a:r>
            <a:endParaRPr lang="en-US" sz="1050" dirty="0"/>
          </a:p>
        </p:txBody>
      </p:sp>
      <p:sp>
        <p:nvSpPr>
          <p:cNvPr id="10" name="Text 8"/>
          <p:cNvSpPr txBox="1"/>
          <p:nvPr/>
        </p:nvSpPr>
        <p:spPr>
          <a:xfrm>
            <a:off x="548640" y="3337560"/>
            <a:ext cx="8046720" cy="548640"/>
          </a:xfrm>
          <a:prstGeom prst="rect">
            <a:avLst/>
          </a:prstGeom>
          <a:noFill/>
          <a:ln/>
        </p:spPr>
        <p:txBody>
          <a:bodyPr wrap="square" lIns="0" tIns="0" rIns="0" bIns="0" rtlCol="0" anchor="t"/>
          <a:lstStyle/>
          <a:p>
            <a:pPr indent="0" marL="0">
              <a:buNone/>
            </a:pPr>
            <a:r>
              <a:rPr lang="en-US" sz="1400" dirty="0">
                <a:solidFill>
                  <a:schemeClr val="tx1"/>
                </a:solidFill>
              </a:rPr>
              <a:t>Line 6, column 10 is the exact recursive call in the .tth file, and Node even prints the original source line.</a:t>
            </a:r>
            <a:endParaRPr lang="en-US" sz="1400" dirty="0"/>
          </a:p>
        </p:txBody>
      </p:sp>
      <p:sp>
        <p:nvSpPr>
          <p:cNvPr id="11" name="Text 9"/>
          <p:cNvSpPr txBox="1"/>
          <p:nvPr/>
        </p:nvSpPr>
        <p:spPr>
          <a:xfrm>
            <a:off x="548640" y="4114800"/>
            <a:ext cx="8046720" cy="274320"/>
          </a:xfrm>
          <a:prstGeom prst="rect">
            <a:avLst/>
          </a:prstGeom>
          <a:noFill/>
          <a:ln/>
        </p:spPr>
        <p:txBody>
          <a:bodyPr wrap="square" lIns="0" tIns="0" rIns="0" bIns="0" rtlCol="0" anchor="t"/>
          <a:lstStyle/>
          <a:p>
            <a:pPr indent="0" marL="0">
              <a:buNone/>
            </a:pPr>
            <a:r>
              <a:rPr lang="en-US" sz="1200" i="1" dirty="0">
                <a:solidFill>
                  <a:schemeClr val="accent5"/>
                </a:solidFill>
              </a:rPr>
              <a:t>The same check in Chrome DevTools, with screenshots, is milestone 7.</a:t>
            </a:r>
            <a:endParaRPr lang="en-US" sz="12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tests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151 tests, all passing</a:t>
            </a:r>
            <a:endParaRPr lang="en-US" sz="2800" dirty="0"/>
          </a:p>
        </p:txBody>
      </p:sp>
      <p:graphicFrame>
        <p:nvGraphicFramePr>
          <p:cNvPr id="4" name="Chart 0" descr=""/>
          <p:cNvGraphicFramePr/>
          <p:nvPr/>
        </p:nvGraphicFramePr>
        <p:xfrm>
          <a:off x="457200" y="123444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852160" y="1371600"/>
            <a:ext cx="2743200" cy="228600"/>
          </a:xfrm>
          <a:prstGeom prst="rect">
            <a:avLst/>
          </a:prstGeom>
          <a:noFill/>
          <a:ln/>
        </p:spPr>
        <p:txBody>
          <a:bodyPr wrap="square" lIns="0" tIns="0" rIns="0" bIns="0" rtlCol="0" anchor="t"/>
          <a:lstStyle/>
          <a:p>
            <a:pPr indent="0" marL="0">
              <a:buNone/>
            </a:pPr>
            <a:r>
              <a:rPr lang="en-US" sz="1400" b="1" dirty="0">
                <a:solidFill>
                  <a:schemeClr val="tx1"/>
                </a:solidFill>
              </a:rPr>
              <a:t>88 new since Review 1</a:t>
            </a:r>
            <a:endParaRPr lang="en-US" sz="1400" dirty="0"/>
          </a:p>
        </p:txBody>
      </p:sp>
      <p:sp>
        <p:nvSpPr>
          <p:cNvPr id="6" name="Text 3"/>
          <p:cNvSpPr txBox="1"/>
          <p:nvPr/>
        </p:nvSpPr>
        <p:spPr>
          <a:xfrm>
            <a:off x="5852160" y="1618488"/>
            <a:ext cx="2743200" cy="457200"/>
          </a:xfrm>
          <a:prstGeom prst="rect">
            <a:avLst/>
          </a:prstGeom>
          <a:noFill/>
          <a:ln/>
        </p:spPr>
        <p:txBody>
          <a:bodyPr wrap="square" lIns="0" tIns="0" rIns="0" bIns="0" rtlCol="0" anchor="t"/>
          <a:lstStyle/>
          <a:p>
            <a:pPr indent="0" marL="0">
              <a:buNone/>
            </a:pPr>
            <a:r>
              <a:rPr lang="en-US" sz="1250" dirty="0">
                <a:solidFill>
                  <a:schemeClr val="tx2"/>
                </a:solidFill>
              </a:rPr>
              <a:t>one test file per new phase</a:t>
            </a:r>
            <a:endParaRPr lang="en-US" sz="1250" dirty="0"/>
          </a:p>
        </p:txBody>
      </p:sp>
      <p:sp>
        <p:nvSpPr>
          <p:cNvPr id="7" name="Text 4"/>
          <p:cNvSpPr txBox="1"/>
          <p:nvPr/>
        </p:nvSpPr>
        <p:spPr>
          <a:xfrm>
            <a:off x="5852160" y="2148840"/>
            <a:ext cx="2743200" cy="228600"/>
          </a:xfrm>
          <a:prstGeom prst="rect">
            <a:avLst/>
          </a:prstGeom>
          <a:noFill/>
          <a:ln/>
        </p:spPr>
        <p:txBody>
          <a:bodyPr wrap="square" lIns="0" tIns="0" rIns="0" bIns="0" rtlCol="0" anchor="t"/>
          <a:lstStyle/>
          <a:p>
            <a:pPr indent="0" marL="0">
              <a:buNone/>
            </a:pPr>
            <a:r>
              <a:rPr lang="en-US" sz="1400" b="1" dirty="0">
                <a:solidFill>
                  <a:schemeClr val="tx1"/>
                </a:solidFill>
              </a:rPr>
              <a:t>Golden files</a:t>
            </a:r>
            <a:endParaRPr lang="en-US" sz="1400" dirty="0"/>
          </a:p>
        </p:txBody>
      </p:sp>
      <p:sp>
        <p:nvSpPr>
          <p:cNvPr id="8" name="Text 5"/>
          <p:cNvSpPr txBox="1"/>
          <p:nvPr/>
        </p:nvSpPr>
        <p:spPr>
          <a:xfrm>
            <a:off x="5852160" y="2395728"/>
            <a:ext cx="2743200" cy="457200"/>
          </a:xfrm>
          <a:prstGeom prst="rect">
            <a:avLst/>
          </a:prstGeom>
          <a:noFill/>
          <a:ln/>
        </p:spPr>
        <p:txBody>
          <a:bodyPr wrap="square" lIns="0" tIns="0" rIns="0" bIns="0" rtlCol="0" anchor="t"/>
          <a:lstStyle/>
          <a:p>
            <a:pPr indent="0" marL="0">
              <a:buNone/>
            </a:pPr>
            <a:r>
              <a:rPr lang="en-US" sz="1250" dirty="0">
                <a:solidFill>
                  <a:schemeClr val="tx2"/>
                </a:solidFill>
              </a:rPr>
              <a:t>generated .js, .js.map, core tree and mappings compared byte for byte</a:t>
            </a:r>
            <a:endParaRPr lang="en-US" sz="1250" dirty="0"/>
          </a:p>
        </p:txBody>
      </p:sp>
      <p:sp>
        <p:nvSpPr>
          <p:cNvPr id="9" name="Text 6"/>
          <p:cNvSpPr txBox="1"/>
          <p:nvPr/>
        </p:nvSpPr>
        <p:spPr>
          <a:xfrm>
            <a:off x="5852160" y="3108960"/>
            <a:ext cx="2743200" cy="228600"/>
          </a:xfrm>
          <a:prstGeom prst="rect">
            <a:avLst/>
          </a:prstGeom>
          <a:noFill/>
          <a:ln/>
        </p:spPr>
        <p:txBody>
          <a:bodyPr wrap="square" lIns="0" tIns="0" rIns="0" bIns="0" rtlCol="0" anchor="t"/>
          <a:lstStyle/>
          <a:p>
            <a:pPr indent="0" marL="0">
              <a:buNone/>
            </a:pPr>
            <a:r>
              <a:rPr lang="en-US" sz="1400" b="1" dirty="0">
                <a:solidFill>
                  <a:schemeClr val="tx1"/>
                </a:solidFill>
              </a:rPr>
              <a:t>Expected output</a:t>
            </a:r>
            <a:endParaRPr lang="en-US" sz="1400" dirty="0"/>
          </a:p>
        </p:txBody>
      </p:sp>
      <p:sp>
        <p:nvSpPr>
          <p:cNvPr id="10" name="Text 7"/>
          <p:cNvSpPr txBox="1"/>
          <p:nvPr/>
        </p:nvSpPr>
        <p:spPr>
          <a:xfrm>
            <a:off x="5852160" y="3355848"/>
            <a:ext cx="2743200" cy="457200"/>
          </a:xfrm>
          <a:prstGeom prst="rect">
            <a:avLst/>
          </a:prstGeom>
          <a:noFill/>
          <a:ln/>
        </p:spPr>
        <p:txBody>
          <a:bodyPr wrap="square" lIns="0" tIns="0" rIns="0" bIns="0" rtlCol="0" anchor="t"/>
          <a:lstStyle/>
          <a:p>
            <a:pPr indent="0" marL="0">
              <a:buNone/>
            </a:pPr>
            <a:r>
              <a:rPr lang="en-US" sz="1250" dirty="0">
                <a:solidFill>
                  <a:schemeClr val="tx2"/>
                </a:solidFill>
              </a:rPr>
              <a:t>computed by a separate plain JavaScript program, not by Tether</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requirements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28 of 31 functional requirements done</a:t>
            </a:r>
            <a:endParaRPr lang="en-US" sz="2800" dirty="0"/>
          </a:p>
        </p:txBody>
      </p:sp>
      <p:graphicFrame>
        <p:nvGraphicFramePr>
          <p:cNvPr id="4" name="Chart 0" descr=""/>
          <p:cNvGraphicFramePr/>
          <p:nvPr/>
        </p:nvGraphicFramePr>
        <p:xfrm>
          <a:off x="457200" y="1188720"/>
          <a:ext cx="8229600" cy="1051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8046720" cy="914400"/>
        </p:xfrm>
        <a:graphic>
          <a:graphicData uri="http://schemas.openxmlformats.org/drawingml/2006/table">
            <a:tbl>
              <a:tblPr/>
              <a:tblGrid>
                <a:gridCol w="4023360"/>
                <a:gridCol w="2926080"/>
                <a:gridCol w="1097280"/>
              </a:tblGrid>
              <a:tr h="310896">
                <a:tc>
                  <a:txBody>
                    <a:bodyPr/>
                    <a:lstStyle/>
                    <a:p>
                      <a:pPr indent="0" marL="0">
                        <a:buNone/>
                      </a:pPr>
                      <a:r>
                        <a:rPr lang="en-US" sz="1100" b="1" dirty="0">
                          <a:solidFill>
                            <a:srgbClr val="A9ACB2"/>
                          </a:solidFill>
                        </a:rPr>
                        <a:t>Area</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Requirements</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c>
                  <a:txBody>
                    <a:bodyPr/>
                    <a:lstStyle/>
                    <a:p>
                      <a:pPr indent="0" marL="0">
                        <a:buNone/>
                      </a:pPr>
                      <a:r>
                        <a:rPr lang="en-US" sz="1100" b="1" dirty="0">
                          <a:solidFill>
                            <a:srgbClr val="A9ACB2"/>
                          </a:solidFill>
                        </a:rPr>
                        <a:t>Status</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4A4E55"/>
                      </a:solidFill>
                      <a:prstDash val="solid"/>
                      <a:round/>
                      <a:headEnd type="none" w="med" len="med"/>
                      <a:tailEnd type="none" w="med" len="med"/>
                    </a:lnB>
                  </a:tcPr>
                </a:tc>
              </a:tr>
              <a:tr h="310896">
                <a:tc>
                  <a:txBody>
                    <a:bodyPr/>
                    <a:lstStyle/>
                    <a:p>
                      <a:pPr indent="0" marL="0">
                        <a:buNone/>
                      </a:pPr>
                      <a:r>
                        <a:rPr lang="en-US" sz="1250" dirty="0">
                          <a:solidFill>
                            <a:srgbClr val="E4E4E2"/>
                          </a:solidFill>
                        </a:rPr>
                        <a:t>Lexing, parsing, diagnostics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50" dirty="0">
                          <a:solidFill>
                            <a:srgbClr val="E4E4E2"/>
                          </a:solidFill>
                          <a:latin typeface="Consolas" pitchFamily="34" charset="0"/>
                          <a:ea typeface="Consolas" pitchFamily="34" charset="-122"/>
                          <a:cs typeface="Consolas" pitchFamily="34" charset="-120"/>
                        </a:rPr>
                        <a:t>FR-L1–L5, FR-P1–P4, FR-S3</a:t>
                      </a:r>
                      <a:endParaRPr lang="en-US" sz="11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done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10896">
                <a:tc>
                  <a:txBody>
                    <a:bodyPr/>
                    <a:lstStyle/>
                    <a:p>
                      <a:pPr indent="0" marL="0">
                        <a:buNone/>
                      </a:pPr>
                      <a:r>
                        <a:rPr lang="en-US" sz="1250" dirty="0">
                          <a:solidFill>
                            <a:srgbClr val="E4E4E2"/>
                          </a:solidFill>
                        </a:rPr>
                        <a:t>Scopes and types; no output on error</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50" dirty="0">
                          <a:solidFill>
                            <a:srgbClr val="E4E4E2"/>
                          </a:solidFill>
                          <a:latin typeface="Consolas" pitchFamily="34" charset="0"/>
                          <a:ea typeface="Consolas" pitchFamily="34" charset="-122"/>
                          <a:cs typeface="Consolas" pitchFamily="34" charset="-120"/>
                        </a:rPr>
                        <a:t>FR-S1, S2, S4</a:t>
                      </a:r>
                      <a:endParaRPr lang="en-US" sz="11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done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10896">
                <a:tc>
                  <a:txBody>
                    <a:bodyPr/>
                    <a:lstStyle/>
                    <a:p>
                      <a:pPr indent="0" marL="0">
                        <a:buNone/>
                      </a:pPr>
                      <a:r>
                        <a:rPr lang="en-US" sz="1250" dirty="0">
                          <a:solidFill>
                            <a:srgbClr val="E4E4E2"/>
                          </a:solidFill>
                        </a:rPr>
                        <a:t>Lowering and JavaScript emission</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50" dirty="0">
                          <a:solidFill>
                            <a:srgbClr val="E4E4E2"/>
                          </a:solidFill>
                          <a:latin typeface="Consolas" pitchFamily="34" charset="0"/>
                          <a:ea typeface="Consolas" pitchFamily="34" charset="-122"/>
                          <a:cs typeface="Consolas" pitchFamily="34" charset="-120"/>
                        </a:rPr>
                        <a:t>FR-M1–M3, FR-G1–G4</a:t>
                      </a:r>
                      <a:endParaRPr lang="en-US" sz="11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done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10896">
                <a:tc>
                  <a:txBody>
                    <a:bodyPr/>
                    <a:lstStyle/>
                    <a:p>
                      <a:pPr indent="0" marL="0">
                        <a:buNone/>
                      </a:pPr>
                      <a:r>
                        <a:rPr lang="en-US" sz="1250" dirty="0">
                          <a:solidFill>
                            <a:srgbClr val="E4E4E2"/>
                          </a:solidFill>
                        </a:rPr>
                        <a:t>Source map</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50" dirty="0">
                          <a:solidFill>
                            <a:srgbClr val="E4E4E2"/>
                          </a:solidFill>
                          <a:latin typeface="Consolas" pitchFamily="34" charset="0"/>
                          <a:ea typeface="Consolas" pitchFamily="34" charset="-122"/>
                          <a:cs typeface="Consolas" pitchFamily="34" charset="-120"/>
                        </a:rPr>
                        <a:t>FR-X1–X5</a:t>
                      </a:r>
                      <a:endParaRPr lang="en-US" sz="11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done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10896">
                <a:tc>
                  <a:txBody>
                    <a:bodyPr/>
                    <a:lstStyle/>
                    <a:p>
                      <a:pPr indent="0" marL="0">
                        <a:buNone/>
                      </a:pPr>
                      <a:r>
                        <a:rPr lang="en-US" sz="1250" dirty="0">
                          <a:solidFill>
                            <a:srgbClr val="E4E4E2"/>
                          </a:solidFill>
                        </a:rPr>
                        <a:t>Command line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50" dirty="0">
                          <a:solidFill>
                            <a:srgbClr val="E4E4E2"/>
                          </a:solidFill>
                          <a:latin typeface="Consolas" pitchFamily="34" charset="0"/>
                          <a:ea typeface="Consolas" pitchFamily="34" charset="-122"/>
                          <a:cs typeface="Consolas" pitchFamily="34" charset="-120"/>
                        </a:rPr>
                        <a:t>FR-C1–C3</a:t>
                      </a:r>
                      <a:endParaRPr lang="en-US" sz="11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5CC98A"/>
                          </a:solidFill>
                        </a:rPr>
                        <a:t>done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r h="310896">
                <a:tc>
                  <a:txBody>
                    <a:bodyPr/>
                    <a:lstStyle/>
                    <a:p>
                      <a:pPr indent="0" marL="0">
                        <a:buNone/>
                      </a:pPr>
                      <a:r>
                        <a:rPr lang="en-US" sz="1250" dirty="0">
                          <a:solidFill>
                            <a:srgbClr val="A9ACB2"/>
                          </a:solidFill>
                        </a:rPr>
                        <a:t>-O1 and fidelity report</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150" dirty="0">
                          <a:solidFill>
                            <a:srgbClr val="A9ACB2"/>
                          </a:solidFill>
                          <a:latin typeface="Consolas" pitchFamily="34" charset="0"/>
                          <a:ea typeface="Consolas" pitchFamily="34" charset="-122"/>
                          <a:cs typeface="Consolas" pitchFamily="34" charset="-120"/>
                        </a:rPr>
                        <a:t>FR-O1–O3</a:t>
                      </a:r>
                      <a:endParaRPr lang="en-US" sz="115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c>
                  <a:txBody>
                    <a:bodyPr/>
                    <a:lstStyle/>
                    <a:p>
                      <a:pPr indent="0" marL="0">
                        <a:buNone/>
                      </a:pPr>
                      <a:r>
                        <a:rPr lang="en-US" sz="1250" b="1" dirty="0">
                          <a:solidFill>
                            <a:srgbClr val="868A91"/>
                          </a:solidFill>
                        </a:rPr>
                        <a:t>M8</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2A2D3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playground</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Playground: every phase, live</a:t>
            </a:r>
            <a:endParaRPr lang="en-US" sz="2800" dirty="0"/>
          </a:p>
        </p:txBody>
      </p:sp>
      <p:pic>
        <p:nvPicPr>
          <p:cNvPr id="4" name="screenshot" descr="/private/tmp/claude-502/-Users-antrasingh-tether/be361dc7-4260-4b5b-a606-d36c35a7a730/scratchpad/deck/img/pg-fizzbuzz.png">    </p:cNvPr>
          <p:cNvPicPr>
            <a:picLocks noChangeAspect="1"/>
          </p:cNvPicPr>
          <p:nvPr/>
        </p:nvPicPr>
        <p:blipFill>
          <a:blip r:embed="rId1"/>
          <a:stretch>
            <a:fillRect/>
          </a:stretch>
        </p:blipFill>
        <p:spPr>
          <a:xfrm>
            <a:off x="548640" y="1280160"/>
            <a:ext cx="5620215" cy="3291840"/>
          </a:xfrm>
          <a:prstGeom prst="rect">
            <a:avLst/>
          </a:prstGeom>
        </p:spPr>
      </p:pic>
      <p:sp>
        <p:nvSpPr>
          <p:cNvPr id="5" name="frame"/>
          <p:cNvSpPr/>
          <p:nvPr/>
        </p:nvSpPr>
        <p:spPr>
          <a:xfrm>
            <a:off x="548640" y="1280160"/>
            <a:ext cx="5620215" cy="3291840"/>
          </a:xfrm>
          <a:prstGeom prst="rect">
            <a:avLst/>
          </a:prstGeom>
          <a:ln w="9525">
            <a:solidFill>
              <a:srgbClr val="3A3D44"/>
            </a:solidFill>
            <a:prstDash val="solid"/>
          </a:ln>
        </p:spPr>
      </p:sp>
      <p:sp>
        <p:nvSpPr>
          <p:cNvPr id="6" name="Text 3"/>
          <p:cNvSpPr txBox="1"/>
          <p:nvPr/>
        </p:nvSpPr>
        <p:spPr>
          <a:xfrm>
            <a:off x="6443175" y="1325880"/>
            <a:ext cx="2152185" cy="228600"/>
          </a:xfrm>
          <a:prstGeom prst="rect">
            <a:avLst/>
          </a:prstGeom>
          <a:noFill/>
          <a:ln/>
        </p:spPr>
        <p:txBody>
          <a:bodyPr wrap="square" lIns="0" tIns="0" rIns="0" bIns="0" rtlCol="0" anchor="t"/>
          <a:lstStyle/>
          <a:p>
            <a:pPr indent="0" marL="0">
              <a:buNone/>
            </a:pPr>
            <a:r>
              <a:rPr lang="en-US" sz="1400" b="1" dirty="0">
                <a:solidFill>
                  <a:schemeClr val="tx1"/>
                </a:solidFill>
              </a:rPr>
              <a:t>Six phases, one pipeline</a:t>
            </a:r>
            <a:endParaRPr lang="en-US" sz="1400" dirty="0"/>
          </a:p>
        </p:txBody>
      </p:sp>
      <p:sp>
        <p:nvSpPr>
          <p:cNvPr id="7" name="Text 4"/>
          <p:cNvSpPr txBox="1"/>
          <p:nvPr/>
        </p:nvSpPr>
        <p:spPr>
          <a:xfrm>
            <a:off x="6443175" y="1572768"/>
            <a:ext cx="2152185" cy="457200"/>
          </a:xfrm>
          <a:prstGeom prst="rect">
            <a:avLst/>
          </a:prstGeom>
          <a:noFill/>
          <a:ln/>
        </p:spPr>
        <p:txBody>
          <a:bodyPr wrap="square" lIns="0" tIns="0" rIns="0" bIns="0" rtlCol="0" anchor="t"/>
          <a:lstStyle/>
          <a:p>
            <a:pPr indent="0" marL="0">
              <a:buNone/>
            </a:pPr>
            <a:r>
              <a:rPr lang="en-US" sz="1250" dirty="0">
                <a:solidFill>
                  <a:schemeClr val="tx2"/>
                </a:solidFill>
              </a:rPr>
              <a:t>click a phase to open what it produced</a:t>
            </a:r>
            <a:endParaRPr lang="en-US" sz="1250" dirty="0"/>
          </a:p>
        </p:txBody>
      </p:sp>
      <p:sp>
        <p:nvSpPr>
          <p:cNvPr id="8" name="Text 5"/>
          <p:cNvSpPr txBox="1"/>
          <p:nvPr/>
        </p:nvSpPr>
        <p:spPr>
          <a:xfrm>
            <a:off x="6443175" y="2194560"/>
            <a:ext cx="2152185" cy="228600"/>
          </a:xfrm>
          <a:prstGeom prst="rect">
            <a:avLst/>
          </a:prstGeom>
          <a:noFill/>
          <a:ln/>
        </p:spPr>
        <p:txBody>
          <a:bodyPr wrap="square" lIns="0" tIns="0" rIns="0" bIns="0" rtlCol="0" anchor="t"/>
          <a:lstStyle/>
          <a:p>
            <a:pPr indent="0" marL="0">
              <a:buNone/>
            </a:pPr>
            <a:r>
              <a:rPr lang="en-US" sz="1400" b="1" dirty="0">
                <a:solidFill>
                  <a:schemeClr val="tx1"/>
                </a:solidFill>
              </a:rPr>
              <a:t>Hover a JS segment</a:t>
            </a:r>
            <a:endParaRPr lang="en-US" sz="1400" dirty="0"/>
          </a:p>
        </p:txBody>
      </p:sp>
      <p:sp>
        <p:nvSpPr>
          <p:cNvPr id="9" name="Text 6"/>
          <p:cNvSpPr txBox="1"/>
          <p:nvPr/>
        </p:nvSpPr>
        <p:spPr>
          <a:xfrm>
            <a:off x="6443175" y="2441448"/>
            <a:ext cx="2152185" cy="457200"/>
          </a:xfrm>
          <a:prstGeom prst="rect">
            <a:avLst/>
          </a:prstGeom>
          <a:noFill/>
          <a:ln/>
        </p:spPr>
        <p:txBody>
          <a:bodyPr wrap="square" lIns="0" tIns="0" rIns="0" bIns="0" rtlCol="0" anchor="t"/>
          <a:lstStyle/>
          <a:p>
            <a:pPr indent="0" marL="0">
              <a:buNone/>
            </a:pPr>
            <a:r>
              <a:rPr lang="en-US" sz="1250" dirty="0">
                <a:solidFill>
                  <a:schemeClr val="tx2"/>
                </a:solidFill>
              </a:rPr>
              <a:t>var$ lights up var; the status bar shows both positions</a:t>
            </a:r>
            <a:endParaRPr lang="en-US" sz="1250" dirty="0"/>
          </a:p>
        </p:txBody>
      </p:sp>
      <p:sp>
        <p:nvSpPr>
          <p:cNvPr id="10" name="Text 7"/>
          <p:cNvSpPr txBox="1"/>
          <p:nvPr/>
        </p:nvSpPr>
        <p:spPr>
          <a:xfrm>
            <a:off x="6443175" y="3063240"/>
            <a:ext cx="2152185" cy="228600"/>
          </a:xfrm>
          <a:prstGeom prst="rect">
            <a:avLst/>
          </a:prstGeom>
          <a:noFill/>
          <a:ln/>
        </p:spPr>
        <p:txBody>
          <a:bodyPr wrap="square" lIns="0" tIns="0" rIns="0" bIns="0" rtlCol="0" anchor="t"/>
          <a:lstStyle/>
          <a:p>
            <a:pPr indent="0" marL="0">
              <a:buNone/>
            </a:pPr>
            <a:r>
              <a:rPr lang="en-US" sz="1400" b="1" dirty="0">
                <a:solidFill>
                  <a:schemeClr val="tx1"/>
                </a:solidFill>
              </a:rPr>
              <a:t>Run</a:t>
            </a:r>
            <a:endParaRPr lang="en-US" sz="1400" dirty="0"/>
          </a:p>
        </p:txBody>
      </p:sp>
      <p:sp>
        <p:nvSpPr>
          <p:cNvPr id="11" name="Text 8"/>
          <p:cNvSpPr txBox="1"/>
          <p:nvPr/>
        </p:nvSpPr>
        <p:spPr>
          <a:xfrm>
            <a:off x="6443175" y="3310128"/>
            <a:ext cx="2152185" cy="457200"/>
          </a:xfrm>
          <a:prstGeom prst="rect">
            <a:avLst/>
          </a:prstGeom>
          <a:noFill/>
          <a:ln/>
        </p:spPr>
        <p:txBody>
          <a:bodyPr wrap="square" lIns="0" tIns="0" rIns="0" bIns="0" rtlCol="0" anchor="t"/>
          <a:lstStyle/>
          <a:p>
            <a:pPr indent="0" marL="0">
              <a:buNone/>
            </a:pPr>
            <a:r>
              <a:rPr lang="en-US" sz="1250" dirty="0">
                <a:solidFill>
                  <a:schemeClr val="tx2"/>
                </a:solidFill>
              </a:rPr>
              <a:t>executes the generated program in a worker</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plan</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The remaining 25%</a:t>
            </a:r>
            <a:endParaRPr lang="en-US" sz="2800" dirty="0"/>
          </a:p>
        </p:txBody>
      </p:sp>
      <p:sp>
        <p:nvSpPr>
          <p:cNvPr id="4" name="milestone"/>
          <p:cNvSpPr/>
          <p:nvPr/>
        </p:nvSpPr>
        <p:spPr>
          <a:xfrm>
            <a:off x="566928" y="1325880"/>
            <a:ext cx="969264" cy="329184"/>
          </a:xfrm>
          <a:prstGeom prst="rect">
            <a:avLst/>
          </a:prstGeom>
          <a:solidFill>
            <a:srgbClr val="1E2025"/>
          </a:solidFill>
          <a:ln w="9525">
            <a:solidFill>
              <a:srgbClr val="4A4E55"/>
            </a:solidFill>
            <a:prstDash val="solid"/>
          </a:ln>
        </p:spPr>
      </p:sp>
      <p:sp>
        <p:nvSpPr>
          <p:cNvPr id="5" name="Text 3"/>
          <p:cNvSpPr txBox="1"/>
          <p:nvPr/>
        </p:nvSpPr>
        <p:spPr>
          <a:xfrm>
            <a:off x="566928" y="1325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M1</a:t>
            </a:r>
            <a:endParaRPr lang="en-US" sz="1100" dirty="0"/>
          </a:p>
        </p:txBody>
      </p:sp>
      <p:sp>
        <p:nvSpPr>
          <p:cNvPr id="6" name="Text 4"/>
          <p:cNvSpPr txBox="1"/>
          <p:nvPr/>
        </p:nvSpPr>
        <p:spPr>
          <a:xfrm>
            <a:off x="548640" y="1737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Grammar, lexer</a:t>
            </a:r>
            <a:endParaRPr lang="en-US" sz="1100" dirty="0"/>
          </a:p>
        </p:txBody>
      </p:sp>
      <p:sp>
        <p:nvSpPr>
          <p:cNvPr id="7" name="milestone"/>
          <p:cNvSpPr/>
          <p:nvPr/>
        </p:nvSpPr>
        <p:spPr>
          <a:xfrm>
            <a:off x="1572768" y="1325880"/>
            <a:ext cx="969264" cy="329184"/>
          </a:xfrm>
          <a:prstGeom prst="rect">
            <a:avLst/>
          </a:prstGeom>
          <a:solidFill>
            <a:srgbClr val="1E2025"/>
          </a:solidFill>
          <a:ln w="9525">
            <a:solidFill>
              <a:srgbClr val="4A4E55"/>
            </a:solidFill>
            <a:prstDash val="solid"/>
          </a:ln>
        </p:spPr>
      </p:sp>
      <p:sp>
        <p:nvSpPr>
          <p:cNvPr id="8" name="Text 6"/>
          <p:cNvSpPr txBox="1"/>
          <p:nvPr/>
        </p:nvSpPr>
        <p:spPr>
          <a:xfrm>
            <a:off x="1572768" y="1325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M2</a:t>
            </a:r>
            <a:endParaRPr lang="en-US" sz="1100" dirty="0"/>
          </a:p>
        </p:txBody>
      </p:sp>
      <p:sp>
        <p:nvSpPr>
          <p:cNvPr id="9" name="Text 7"/>
          <p:cNvSpPr txBox="1"/>
          <p:nvPr/>
        </p:nvSpPr>
        <p:spPr>
          <a:xfrm>
            <a:off x="1554480" y="1737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Parser, AST</a:t>
            </a:r>
            <a:endParaRPr lang="en-US" sz="1100" dirty="0"/>
          </a:p>
        </p:txBody>
      </p:sp>
      <p:sp>
        <p:nvSpPr>
          <p:cNvPr id="10" name="milestone"/>
          <p:cNvSpPr/>
          <p:nvPr/>
        </p:nvSpPr>
        <p:spPr>
          <a:xfrm>
            <a:off x="2578608" y="1325880"/>
            <a:ext cx="969264" cy="329184"/>
          </a:xfrm>
          <a:prstGeom prst="rect">
            <a:avLst/>
          </a:prstGeom>
          <a:solidFill>
            <a:srgbClr val="1E2025"/>
          </a:solidFill>
          <a:ln w="9525">
            <a:solidFill>
              <a:srgbClr val="4A4E55"/>
            </a:solidFill>
            <a:prstDash val="solid"/>
          </a:ln>
        </p:spPr>
      </p:sp>
      <p:sp>
        <p:nvSpPr>
          <p:cNvPr id="11" name="Text 9"/>
          <p:cNvSpPr txBox="1"/>
          <p:nvPr/>
        </p:nvSpPr>
        <p:spPr>
          <a:xfrm>
            <a:off x="2578608" y="1325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M3</a:t>
            </a:r>
            <a:endParaRPr lang="en-US" sz="1100" dirty="0"/>
          </a:p>
        </p:txBody>
      </p:sp>
      <p:sp>
        <p:nvSpPr>
          <p:cNvPr id="12" name="Text 10"/>
          <p:cNvSpPr txBox="1"/>
          <p:nvPr/>
        </p:nvSpPr>
        <p:spPr>
          <a:xfrm>
            <a:off x="2560320" y="1737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Type checker</a:t>
            </a:r>
            <a:endParaRPr lang="en-US" sz="1100" dirty="0"/>
          </a:p>
        </p:txBody>
      </p:sp>
      <p:sp>
        <p:nvSpPr>
          <p:cNvPr id="13" name="milestone"/>
          <p:cNvSpPr/>
          <p:nvPr/>
        </p:nvSpPr>
        <p:spPr>
          <a:xfrm>
            <a:off x="3584448" y="1325880"/>
            <a:ext cx="969264" cy="329184"/>
          </a:xfrm>
          <a:prstGeom prst="rect">
            <a:avLst/>
          </a:prstGeom>
          <a:solidFill>
            <a:srgbClr val="1E2025"/>
          </a:solidFill>
          <a:ln w="9525">
            <a:solidFill>
              <a:srgbClr val="4A4E55"/>
            </a:solidFill>
            <a:prstDash val="solid"/>
          </a:ln>
        </p:spPr>
      </p:sp>
      <p:sp>
        <p:nvSpPr>
          <p:cNvPr id="14" name="Text 12"/>
          <p:cNvSpPr txBox="1"/>
          <p:nvPr/>
        </p:nvSpPr>
        <p:spPr>
          <a:xfrm>
            <a:off x="3584448" y="1325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M4</a:t>
            </a:r>
            <a:endParaRPr lang="en-US" sz="1100" dirty="0"/>
          </a:p>
        </p:txBody>
      </p:sp>
      <p:sp>
        <p:nvSpPr>
          <p:cNvPr id="15" name="Text 13"/>
          <p:cNvSpPr txBox="1"/>
          <p:nvPr/>
        </p:nvSpPr>
        <p:spPr>
          <a:xfrm>
            <a:off x="3566160" y="1737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Lowering, JS</a:t>
            </a:r>
            <a:endParaRPr lang="en-US" sz="1100" dirty="0"/>
          </a:p>
        </p:txBody>
      </p:sp>
      <p:sp>
        <p:nvSpPr>
          <p:cNvPr id="16" name="milestone"/>
          <p:cNvSpPr/>
          <p:nvPr/>
        </p:nvSpPr>
        <p:spPr>
          <a:xfrm>
            <a:off x="4590288" y="1325880"/>
            <a:ext cx="969264" cy="329184"/>
          </a:xfrm>
          <a:prstGeom prst="rect">
            <a:avLst/>
          </a:prstGeom>
          <a:solidFill>
            <a:srgbClr val="1E2025"/>
          </a:solidFill>
          <a:ln w="9525">
            <a:solidFill>
              <a:srgbClr val="4A4E55"/>
            </a:solidFill>
            <a:prstDash val="solid"/>
          </a:ln>
        </p:spPr>
      </p:sp>
      <p:sp>
        <p:nvSpPr>
          <p:cNvPr id="17" name="Text 15"/>
          <p:cNvSpPr txBox="1"/>
          <p:nvPr/>
        </p:nvSpPr>
        <p:spPr>
          <a:xfrm>
            <a:off x="4590288" y="1325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M5</a:t>
            </a:r>
            <a:endParaRPr lang="en-US" sz="1100" dirty="0"/>
          </a:p>
        </p:txBody>
      </p:sp>
      <p:sp>
        <p:nvSpPr>
          <p:cNvPr id="18" name="Text 16"/>
          <p:cNvSpPr txBox="1"/>
          <p:nvPr/>
        </p:nvSpPr>
        <p:spPr>
          <a:xfrm>
            <a:off x="4572000" y="1737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VLQ encoder</a:t>
            </a:r>
            <a:endParaRPr lang="en-US" sz="1100" dirty="0"/>
          </a:p>
        </p:txBody>
      </p:sp>
      <p:sp>
        <p:nvSpPr>
          <p:cNvPr id="19" name="milestone"/>
          <p:cNvSpPr/>
          <p:nvPr/>
        </p:nvSpPr>
        <p:spPr>
          <a:xfrm>
            <a:off x="5596128" y="1325880"/>
            <a:ext cx="969264" cy="329184"/>
          </a:xfrm>
          <a:prstGeom prst="rect">
            <a:avLst/>
          </a:prstGeom>
          <a:solidFill>
            <a:srgbClr val="1E2025"/>
          </a:solidFill>
          <a:ln w="9525">
            <a:solidFill>
              <a:srgbClr val="4A4E55"/>
            </a:solidFill>
            <a:prstDash val="solid"/>
          </a:ln>
        </p:spPr>
      </p:sp>
      <p:sp>
        <p:nvSpPr>
          <p:cNvPr id="20" name="Text 18"/>
          <p:cNvSpPr txBox="1"/>
          <p:nvPr/>
        </p:nvSpPr>
        <p:spPr>
          <a:xfrm>
            <a:off x="5596128" y="132588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M6</a:t>
            </a:r>
            <a:endParaRPr lang="en-US" sz="1100" dirty="0"/>
          </a:p>
        </p:txBody>
      </p:sp>
      <p:sp>
        <p:nvSpPr>
          <p:cNvPr id="21" name="Text 19"/>
          <p:cNvSpPr txBox="1"/>
          <p:nvPr/>
        </p:nvSpPr>
        <p:spPr>
          <a:xfrm>
            <a:off x="5577840" y="1737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Source map</a:t>
            </a:r>
            <a:endParaRPr lang="en-US" sz="1100" dirty="0"/>
          </a:p>
        </p:txBody>
      </p:sp>
      <p:sp>
        <p:nvSpPr>
          <p:cNvPr id="22" name="milestone"/>
          <p:cNvSpPr/>
          <p:nvPr/>
        </p:nvSpPr>
        <p:spPr>
          <a:xfrm>
            <a:off x="6601968" y="1325880"/>
            <a:ext cx="969264" cy="329184"/>
          </a:xfrm>
          <a:prstGeom prst="rect">
            <a:avLst/>
          </a:prstGeom>
          <a:solidFill>
            <a:schemeClr val="accent1"/>
          </a:solidFill>
          <a:ln w="9525">
            <a:solidFill>
              <a:srgbClr val="F0B54A"/>
            </a:solidFill>
            <a:prstDash val="solid"/>
          </a:ln>
        </p:spPr>
      </p:sp>
      <p:sp>
        <p:nvSpPr>
          <p:cNvPr id="23" name="Text 21"/>
          <p:cNvSpPr txBox="1"/>
          <p:nvPr/>
        </p:nvSpPr>
        <p:spPr>
          <a:xfrm>
            <a:off x="6601968" y="1325880"/>
            <a:ext cx="969264" cy="329184"/>
          </a:xfrm>
          <a:prstGeom prst="rect">
            <a:avLst/>
          </a:prstGeom>
          <a:noFill/>
          <a:ln/>
        </p:spPr>
        <p:txBody>
          <a:bodyPr wrap="square" lIns="0" tIns="0" rIns="0" bIns="0" rtlCol="0" anchor="ctr"/>
          <a:lstStyle/>
          <a:p>
            <a:pPr algn="ctr" indent="0" marL="0">
              <a:buNone/>
            </a:pPr>
            <a:r>
              <a:rPr lang="en-US" sz="1100" b="1" dirty="0">
                <a:solidFill>
                  <a:srgbClr val="1A1305"/>
                </a:solidFill>
                <a:latin typeface="Consolas" pitchFamily="34" charset="0"/>
                <a:ea typeface="Consolas" pitchFamily="34" charset="-122"/>
                <a:cs typeface="Consolas" pitchFamily="34" charset="-120"/>
              </a:rPr>
              <a:t>M7</a:t>
            </a:r>
            <a:endParaRPr lang="en-US" sz="1100" dirty="0"/>
          </a:p>
        </p:txBody>
      </p:sp>
      <p:sp>
        <p:nvSpPr>
          <p:cNvPr id="24" name="Text 22"/>
          <p:cNvSpPr txBox="1"/>
          <p:nvPr/>
        </p:nvSpPr>
        <p:spPr>
          <a:xfrm>
            <a:off x="6583680" y="173736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Browser proof</a:t>
            </a:r>
            <a:endParaRPr lang="en-US" sz="1100" dirty="0"/>
          </a:p>
        </p:txBody>
      </p:sp>
      <p:sp>
        <p:nvSpPr>
          <p:cNvPr id="25" name="milestone"/>
          <p:cNvSpPr/>
          <p:nvPr/>
        </p:nvSpPr>
        <p:spPr>
          <a:xfrm>
            <a:off x="7607808" y="1325880"/>
            <a:ext cx="969264" cy="329184"/>
          </a:xfrm>
          <a:prstGeom prst="rect">
            <a:avLst/>
          </a:prstGeom>
          <a:solidFill>
            <a:srgbClr val="0F1012"/>
          </a:solidFill>
          <a:ln w="9525">
            <a:solidFill>
              <a:srgbClr val="3A3D44"/>
            </a:solidFill>
            <a:prstDash val="solid"/>
          </a:ln>
        </p:spPr>
      </p:sp>
      <p:sp>
        <p:nvSpPr>
          <p:cNvPr id="26" name="Text 24"/>
          <p:cNvSpPr txBox="1"/>
          <p:nvPr/>
        </p:nvSpPr>
        <p:spPr>
          <a:xfrm>
            <a:off x="7607808" y="1325880"/>
            <a:ext cx="969264" cy="329184"/>
          </a:xfrm>
          <a:prstGeom prst="rect">
            <a:avLst/>
          </a:prstGeom>
          <a:noFill/>
          <a:ln/>
        </p:spPr>
        <p:txBody>
          <a:bodyPr wrap="square" lIns="0" tIns="0" rIns="0" bIns="0" rtlCol="0" anchor="ctr"/>
          <a:lstStyle/>
          <a:p>
            <a:pPr algn="ctr" indent="0" marL="0">
              <a:buNone/>
            </a:pPr>
            <a:r>
              <a:rPr lang="en-US" sz="1100" b="1" dirty="0">
                <a:solidFill>
                  <a:schemeClr val="accent5"/>
                </a:solidFill>
                <a:latin typeface="Consolas" pitchFamily="34" charset="0"/>
                <a:ea typeface="Consolas" pitchFamily="34" charset="-122"/>
                <a:cs typeface="Consolas" pitchFamily="34" charset="-120"/>
              </a:rPr>
              <a:t>M8</a:t>
            </a:r>
            <a:endParaRPr lang="en-US" sz="1100" dirty="0"/>
          </a:p>
        </p:txBody>
      </p:sp>
      <p:sp>
        <p:nvSpPr>
          <p:cNvPr id="27" name="Text 25"/>
          <p:cNvSpPr txBox="1"/>
          <p:nvPr/>
        </p:nvSpPr>
        <p:spPr>
          <a:xfrm>
            <a:off x="7589520" y="173736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-O1, report</a:t>
            </a:r>
            <a:endParaRPr lang="en-US" sz="1100" dirty="0"/>
          </a:p>
        </p:txBody>
      </p:sp>
      <p:sp>
        <p:nvSpPr>
          <p:cNvPr id="28" name="Text 26"/>
          <p:cNvSpPr txBox="1"/>
          <p:nvPr/>
        </p:nvSpPr>
        <p:spPr>
          <a:xfrm>
            <a:off x="548640" y="2331720"/>
            <a:ext cx="3840480" cy="274320"/>
          </a:xfrm>
          <a:prstGeom prst="rect">
            <a:avLst/>
          </a:prstGeom>
          <a:noFill/>
          <a:ln/>
        </p:spPr>
        <p:txBody>
          <a:bodyPr wrap="square" lIns="0" tIns="0" rIns="0" bIns="0" rtlCol="0" anchor="t"/>
          <a:lstStyle/>
          <a:p>
            <a:pPr indent="0" marL="0">
              <a:buNone/>
            </a:pPr>
            <a:r>
              <a:rPr lang="en-US" sz="1600" b="1" dirty="0">
                <a:solidFill>
                  <a:schemeClr val="tx1"/>
                </a:solidFill>
              </a:rPr>
              <a:t>M7  Browser verification</a:t>
            </a:r>
            <a:endParaRPr lang="en-US" sz="1600" dirty="0"/>
          </a:p>
        </p:txBody>
      </p:sp>
      <p:sp>
        <p:nvSpPr>
          <p:cNvPr id="29" name="Text 27"/>
          <p:cNvSpPr txBox="1"/>
          <p:nvPr/>
        </p:nvSpPr>
        <p:spPr>
          <a:xfrm>
            <a:off x="548640" y="2697480"/>
            <a:ext cx="384048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Set breakpoints on at least ten .tth statements in Chrome DevTools and show each one halts there (AC-2)</a:t>
            </a:r>
            <a:endParaRPr lang="en-US" sz="1300" dirty="0"/>
          </a:p>
          <a:p>
            <a:pPr marL="177800" indent="-177800">
              <a:spcAft>
                <a:spcPts val="600"/>
              </a:spcAft>
              <a:buSzPct val="100000"/>
              <a:buChar char="•"/>
            </a:pPr>
            <a:r>
              <a:rPr lang="en-US" sz="1300" dirty="0">
                <a:solidFill>
                  <a:schemeClr val="tx2"/>
                </a:solidFill>
              </a:rPr>
              <a:t>Show a runtime stack trace naming the .tth file and line in the browser (AC-5)</a:t>
            </a:r>
            <a:endParaRPr lang="en-US" sz="1300" dirty="0"/>
          </a:p>
          <a:p>
            <a:pPr marL="177800" indent="-177800">
              <a:spcAft>
                <a:spcPts val="600"/>
              </a:spcAft>
              <a:buSzPct val="100000"/>
              <a:buChar char="•"/>
            </a:pPr>
            <a:r>
              <a:rPr lang="en-US" sz="1300" dirty="0">
                <a:solidFill>
                  <a:schemeClr val="tx2"/>
                </a:solidFill>
              </a:rPr>
              <a:t>Screenshots and a written walkthrough</a:t>
            </a:r>
            <a:endParaRPr lang="en-US" sz="1300" dirty="0"/>
          </a:p>
        </p:txBody>
      </p:sp>
      <p:sp>
        <p:nvSpPr>
          <p:cNvPr id="30" name="Text 28"/>
          <p:cNvSpPr txBox="1"/>
          <p:nvPr/>
        </p:nvSpPr>
        <p:spPr>
          <a:xfrm>
            <a:off x="4754880" y="2331720"/>
            <a:ext cx="3840480" cy="274320"/>
          </a:xfrm>
          <a:prstGeom prst="rect">
            <a:avLst/>
          </a:prstGeom>
          <a:noFill/>
          <a:ln/>
        </p:spPr>
        <p:txBody>
          <a:bodyPr wrap="square" lIns="0" tIns="0" rIns="0" bIns="0" rtlCol="0" anchor="t"/>
          <a:lstStyle/>
          <a:p>
            <a:pPr indent="0" marL="0">
              <a:buNone/>
            </a:pPr>
            <a:r>
              <a:rPr lang="en-US" sz="1600" b="1" dirty="0">
                <a:solidFill>
                  <a:schemeClr val="tx1"/>
                </a:solidFill>
              </a:rPr>
              <a:t>M8  Optimisation and fidelity</a:t>
            </a:r>
            <a:endParaRPr lang="en-US" sz="1600" dirty="0"/>
          </a:p>
        </p:txBody>
      </p:sp>
      <p:sp>
        <p:nvSpPr>
          <p:cNvPr id="31" name="Text 29"/>
          <p:cNvSpPr txBox="1"/>
          <p:nvPr/>
        </p:nvSpPr>
        <p:spPr>
          <a:xfrm>
            <a:off x="4754880" y="2697480"/>
            <a:ext cx="384048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-O1: constant folding and dead-code removal (FR-O1)</a:t>
            </a:r>
            <a:endParaRPr lang="en-US" sz="1300" dirty="0"/>
          </a:p>
          <a:p>
            <a:pPr marL="177800" indent="-177800">
              <a:spcAft>
                <a:spcPts val="600"/>
              </a:spcAft>
              <a:buSzPct val="100000"/>
              <a:buChar char="•"/>
            </a:pPr>
            <a:r>
              <a:rPr lang="en-US" sz="1300" dirty="0">
                <a:solidFill>
                  <a:schemeClr val="tx2"/>
                </a:solidFill>
              </a:rPr>
              <a:t>A folded expression keeps the span of what it replaced (FR-O2)</a:t>
            </a:r>
            <a:endParaRPr lang="en-US" sz="1300" dirty="0"/>
          </a:p>
          <a:p>
            <a:pPr marL="177800" indent="-177800">
              <a:spcAft>
                <a:spcPts val="600"/>
              </a:spcAft>
              <a:buSzPct val="100000"/>
              <a:buChar char="•"/>
            </a:pPr>
            <a:r>
              <a:rPr lang="en-US" sz="1300" dirty="0">
                <a:solidFill>
                  <a:schemeClr val="tx2"/>
                </a:solidFill>
              </a:rPr>
              <a:t>--map-report: statements that keep a mapping at -O0 and -O1, for all four benchmarks (FR-O3, AC-6)</a:t>
            </a:r>
            <a:endParaRPr lang="en-US" sz="13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demo</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Live demo</a:t>
            </a:r>
            <a:endParaRPr lang="en-US" sz="2800" dirty="0"/>
          </a:p>
        </p:txBody>
      </p:sp>
      <p:sp>
        <p:nvSpPr>
          <p:cNvPr id="4" name="code"/>
          <p:cNvSpPr/>
          <p:nvPr/>
        </p:nvSpPr>
        <p:spPr>
          <a:xfrm>
            <a:off x="548640" y="1280160"/>
            <a:ext cx="8046720" cy="3017520"/>
          </a:xfrm>
          <a:prstGeom prst="rect">
            <a:avLst/>
          </a:prstGeom>
          <a:solidFill>
            <a:srgbClr val="1E2025"/>
          </a:solidFill>
          <a:ln w="9525">
            <a:solidFill>
              <a:srgbClr val="2E3138"/>
            </a:solidFill>
          </a:ln>
        </p:spPr>
      </p:sp>
      <p:sp>
        <p:nvSpPr>
          <p:cNvPr id="5" name="Text 3"/>
          <p:cNvSpPr txBox="1"/>
          <p:nvPr/>
        </p:nvSpPr>
        <p:spPr>
          <a:xfrm>
            <a:off x="731520" y="1426464"/>
            <a:ext cx="7680960" cy="2724912"/>
          </a:xfrm>
          <a:prstGeom prst="rect">
            <a:avLst/>
          </a:prstGeom>
          <a:noFill/>
          <a:ln/>
        </p:spPr>
        <p:txBody>
          <a:bodyPr wrap="square" lIns="0" tIns="0" rIns="0" bIns="0" rtlCol="0" anchor="t"/>
          <a:lstStyle/>
          <a:p>
            <a:pPr indent="0" marL="0">
              <a:lnSpc>
                <a:spcPct val="105000"/>
              </a:lnSpc>
              <a:buNone/>
            </a:pPr>
            <a:r>
              <a:rPr lang="en-US" sz="1250" dirty="0">
                <a:solidFill>
                  <a:srgbClr val="8A8E96"/>
                </a:solidFill>
                <a:latin typeface="Consolas" pitchFamily="34" charset="0"/>
                <a:ea typeface="Consolas" pitchFamily="34" charset="-122"/>
                <a:cs typeface="Consolas" pitchFamily="34" charset="-120"/>
              </a:rPr>
              <a:t># 1  compile and run</a:t>
            </a:r>
            <a:endParaRPr lang="en-US" sz="1250" dirty="0"/>
          </a:p>
          <a:p>
            <a:pPr indent="0" marL="0">
              <a:lnSpc>
                <a:spcPct val="105000"/>
              </a:lnSpc>
              <a:buNone/>
            </a:pPr>
            <a:r>
              <a:rPr lang="en-US" sz="1250" dirty="0">
                <a:solidFill>
                  <a:srgbClr val="E4E4E2"/>
                </a:solidFill>
                <a:latin typeface="Consolas" pitchFamily="34" charset="0"/>
                <a:ea typeface="Consolas" pitchFamily="34" charset="-122"/>
                <a:cs typeface="Consolas" pitchFamily="34" charset="-120"/>
              </a:rPr>
              <a:t>$ node bin/tether.js build examples/fib.tth &amp;&amp; node out/fib.js</a:t>
            </a:r>
            <a:endParaRPr lang="en-US" sz="1250" dirty="0"/>
          </a:p>
          <a:p>
            <a:pPr indent="0" marL="0">
              <a:lnSpc>
                <a:spcPct val="105000"/>
              </a:lnSpc>
              <a:buNone/>
            </a:pPr>
            <a:endParaRPr lang="en-US" sz="1250" dirty="0"/>
          </a:p>
          <a:p>
            <a:pPr indent="0" marL="0">
              <a:lnSpc>
                <a:spcPct val="105000"/>
              </a:lnSpc>
              <a:buNone/>
            </a:pPr>
            <a:r>
              <a:rPr lang="en-US" sz="1250" dirty="0">
                <a:solidFill>
                  <a:srgbClr val="8A8E96"/>
                </a:solidFill>
                <a:latin typeface="Consolas" pitchFamily="34" charset="0"/>
                <a:ea typeface="Consolas" pitchFamily="34" charset="-122"/>
                <a:cs typeface="Consolas" pitchFamily="34" charset="-120"/>
              </a:rPr>
              <a:t># 2  eight semantic errors in one run</a:t>
            </a:r>
            <a:endParaRPr lang="en-US" sz="1250" dirty="0"/>
          </a:p>
          <a:p>
            <a:pPr indent="0" marL="0">
              <a:lnSpc>
                <a:spcPct val="105000"/>
              </a:lnSpc>
              <a:buNone/>
            </a:pPr>
            <a:r>
              <a:rPr lang="en-US" sz="1250" dirty="0">
                <a:solidFill>
                  <a:srgbClr val="E4E4E2"/>
                </a:solidFill>
                <a:latin typeface="Consolas" pitchFamily="34" charset="0"/>
                <a:ea typeface="Consolas" pitchFamily="34" charset="-122"/>
                <a:cs typeface="Consolas" pitchFamily="34" charset="-120"/>
              </a:rPr>
              <a:t>$ node bin/tether.js build test/fixtures/semantic-errors.tth</a:t>
            </a:r>
            <a:endParaRPr lang="en-US" sz="1250" dirty="0"/>
          </a:p>
          <a:p>
            <a:pPr indent="0" marL="0">
              <a:lnSpc>
                <a:spcPct val="105000"/>
              </a:lnSpc>
              <a:buNone/>
            </a:pPr>
            <a:endParaRPr lang="en-US" sz="1250" dirty="0"/>
          </a:p>
          <a:p>
            <a:pPr indent="0" marL="0">
              <a:lnSpc>
                <a:spcPct val="105000"/>
              </a:lnSpc>
              <a:buNone/>
            </a:pPr>
            <a:r>
              <a:rPr lang="en-US" sz="1250" dirty="0">
                <a:solidFill>
                  <a:srgbClr val="8A8E96"/>
                </a:solidFill>
                <a:latin typeface="Consolas" pitchFamily="34" charset="0"/>
                <a:ea typeface="Consolas" pitchFamily="34" charset="-122"/>
                <a:cs typeface="Consolas" pitchFamily="34" charset="-120"/>
              </a:rPr>
              <a:t># 3  the lowered tree and the mapping table</a:t>
            </a:r>
            <a:endParaRPr lang="en-US" sz="1250" dirty="0"/>
          </a:p>
          <a:p>
            <a:pPr indent="0" marL="0">
              <a:lnSpc>
                <a:spcPct val="105000"/>
              </a:lnSpc>
              <a:buNone/>
            </a:pPr>
            <a:r>
              <a:rPr lang="en-US" sz="1250" dirty="0">
                <a:solidFill>
                  <a:srgbClr val="E4E4E2"/>
                </a:solidFill>
                <a:latin typeface="Consolas" pitchFamily="34" charset="0"/>
                <a:ea typeface="Consolas" pitchFamily="34" charset="-122"/>
                <a:cs typeface="Consolas" pitchFamily="34" charset="-120"/>
              </a:rPr>
              <a:t>$ node bin/tether.js build examples/fib.tth --dump-core</a:t>
            </a:r>
            <a:endParaRPr lang="en-US" sz="1250" dirty="0"/>
          </a:p>
          <a:p>
            <a:pPr indent="0" marL="0">
              <a:lnSpc>
                <a:spcPct val="105000"/>
              </a:lnSpc>
              <a:buNone/>
            </a:pPr>
            <a:endParaRPr lang="en-US" sz="1250" dirty="0"/>
          </a:p>
          <a:p>
            <a:pPr indent="0" marL="0">
              <a:lnSpc>
                <a:spcPct val="105000"/>
              </a:lnSpc>
              <a:buNone/>
            </a:pPr>
            <a:r>
              <a:rPr lang="en-US" sz="1250" dirty="0">
                <a:solidFill>
                  <a:srgbClr val="8A8E96"/>
                </a:solidFill>
                <a:latin typeface="Consolas" pitchFamily="34" charset="0"/>
                <a:ea typeface="Consolas" pitchFamily="34" charset="-122"/>
                <a:cs typeface="Consolas" pitchFamily="34" charset="-120"/>
              </a:rPr>
              <a:t># 4  a runtime error, reported in the original source</a:t>
            </a:r>
            <a:endParaRPr lang="en-US" sz="1250" dirty="0"/>
          </a:p>
          <a:p>
            <a:pPr indent="0" marL="0">
              <a:lnSpc>
                <a:spcPct val="105000"/>
              </a:lnSpc>
              <a:buNone/>
            </a:pPr>
            <a:r>
              <a:rPr lang="en-US" sz="1250" dirty="0">
                <a:solidFill>
                  <a:srgbClr val="E4E4E2"/>
                </a:solidFill>
                <a:latin typeface="Consolas" pitchFamily="34" charset="0"/>
                <a:ea typeface="Consolas" pitchFamily="34" charset="-122"/>
                <a:cs typeface="Consolas" pitchFamily="34" charset="-120"/>
              </a:rPr>
              <a:t>$ node --enable-source-maps out/stack-overflow.js</a:t>
            </a:r>
            <a:endParaRPr lang="en-US" sz="1250" dirty="0"/>
          </a:p>
        </p:txBody>
      </p:sp>
      <p:sp>
        <p:nvSpPr>
          <p:cNvPr id="6" name="Text 4"/>
          <p:cNvSpPr txBox="1"/>
          <p:nvPr/>
        </p:nvSpPr>
        <p:spPr>
          <a:xfrm>
            <a:off x="548640" y="4389120"/>
            <a:ext cx="8046720" cy="228600"/>
          </a:xfrm>
          <a:prstGeom prst="rect">
            <a:avLst/>
          </a:prstGeom>
          <a:noFill/>
          <a:ln/>
        </p:spPr>
        <p:txBody>
          <a:bodyPr wrap="square" lIns="0" tIns="0" rIns="0" bIns="0" rtlCol="0" anchor="t"/>
          <a:lstStyle/>
          <a:p>
            <a:pPr indent="0" marL="0">
              <a:buNone/>
            </a:pPr>
            <a:r>
              <a:rPr lang="en-US" sz="1200" i="1" dirty="0">
                <a:solidFill>
                  <a:schemeClr val="accent5"/>
                </a:solidFill>
              </a:rPr>
              <a:t>All commands are in REVIEW-DEMO.md.</a:t>
            </a:r>
            <a:endParaRPr lang="en-US" sz="12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68A91"/>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questions</a:t>
            </a:r>
            <a:endParaRPr lang="en-US" sz="1000" dirty="0"/>
          </a:p>
        </p:txBody>
      </p:sp>
      <p:sp>
        <p:nvSpPr>
          <p:cNvPr id="3" name="Text 0"/>
          <p:cNvSpPr/>
          <p:nvPr>
            <p:ph idx="101" type="title" hasCustomPrompt="1"/>
          </p:nvPr>
        </p:nvSpPr>
        <p:spPr>
          <a:xfrm>
            <a:off x="548640" y="960120"/>
            <a:ext cx="8046720" cy="914400"/>
          </a:xfrm>
          <a:prstGeom prst="rect">
            <a:avLst/>
          </a:prstGeom>
          <a:noFill/>
          <a:ln/>
        </p:spPr>
        <p:txBody>
          <a:bodyPr wrap="square" lIns="0" tIns="0" rIns="0" bIns="0" rtlCol="0" anchor="t"/>
          <a:lstStyle/>
          <a:p>
            <a:pPr algn="l" indent="0" marL="0">
              <a:buNone/>
            </a:pPr>
            <a:r>
              <a:rPr lang="en-US" sz="6000" b="1" dirty="0">
                <a:solidFill>
                  <a:schemeClr val="tx1"/>
                </a:solidFill>
              </a:rPr>
              <a:t>Questions?</a:t>
            </a:r>
            <a:endParaRPr lang="en-US" sz="6000" dirty="0"/>
          </a:p>
        </p:txBody>
      </p:sp>
      <p:sp>
        <p:nvSpPr>
          <p:cNvPr id="4" name="Text 0"/>
          <p:cNvSpPr/>
          <p:nvPr>
            <p:ph idx="102" type="body" hasCustomPrompt="1"/>
          </p:nvPr>
        </p:nvSpPr>
        <p:spPr>
          <a:xfrm>
            <a:off x="548640" y="1920240"/>
            <a:ext cx="8046720" cy="457200"/>
          </a:xfrm>
          <a:prstGeom prst="rect">
            <a:avLst/>
          </a:prstGeom>
          <a:noFill/>
          <a:ln/>
        </p:spPr>
        <p:txBody>
          <a:bodyPr wrap="square" lIns="0" tIns="0" rIns="0" bIns="0" rtlCol="0" anchor="t"/>
          <a:lstStyle/>
          <a:p>
            <a:pPr algn="l" indent="0" marL="0">
              <a:buNone/>
            </a:pPr>
            <a:r>
              <a:rPr lang="en-US" sz="2000" dirty="0">
                <a:solidFill>
                  <a:srgbClr val="B6B8BC"/>
                </a:solidFill>
              </a:rPr>
              <a:t>Antra  ·  24BDS0066</a:t>
            </a:r>
            <a:endParaRPr lang="en-US" sz="2000" dirty="0"/>
          </a:p>
        </p:txBody>
      </p:sp>
      <p:sp>
        <p:nvSpPr>
          <p:cNvPr id="5" name="span"/>
          <p:cNvSpPr/>
          <p:nvPr/>
        </p:nvSpPr>
        <p:spPr>
          <a:xfrm>
            <a:off x="1289304" y="3044952"/>
            <a:ext cx="1410462" cy="338328"/>
          </a:xfrm>
          <a:prstGeom prst="rect">
            <a:avLst/>
          </a:prstGeom>
          <a:solidFill>
            <a:schemeClr val="accent1"/>
          </a:solidFill>
          <a:ln/>
        </p:spPr>
      </p:sp>
      <p:sp>
        <p:nvSpPr>
          <p:cNvPr id="6" name="Text 4"/>
          <p:cNvSpPr txBox="1"/>
          <p:nvPr/>
        </p:nvSpPr>
        <p:spPr>
          <a:xfrm>
            <a:off x="548640" y="3063240"/>
            <a:ext cx="8046720" cy="365760"/>
          </a:xfrm>
          <a:prstGeom prst="rect">
            <a:avLst/>
          </a:prstGeom>
          <a:noFill/>
          <a:ln/>
        </p:spPr>
        <p:txBody>
          <a:bodyPr wrap="square" lIns="0" tIns="0" rIns="0" bIns="0" rtlCol="0" anchor="t"/>
          <a:lstStyle/>
          <a:p>
            <a:pPr indent="0" marL="0">
              <a:buNone/>
            </a:pPr>
            <a:r>
              <a:rPr lang="en-US" sz="1800" dirty="0">
                <a:solidFill>
                  <a:srgbClr val="E4E4E2"/>
                </a:solidFill>
                <a:latin typeface="Consolas" pitchFamily="34" charset="0"/>
                <a:ea typeface="Consolas" pitchFamily="34" charset="-122"/>
                <a:cs typeface="Consolas" pitchFamily="34" charset="-120"/>
              </a:rPr>
              <a:t>print(</a:t>
            </a:r>
            <a:pPr indent="0" marL="0">
              <a:buNone/>
            </a:pPr>
            <a:r>
              <a:rPr lang="en-US" sz="1800" dirty="0">
                <a:solidFill>
                  <a:srgbClr val="1A1305"/>
                </a:solidFill>
                <a:latin typeface="Consolas" pitchFamily="34" charset="0"/>
                <a:ea typeface="Consolas" pitchFamily="34" charset="-122"/>
                <a:cs typeface="Consolas" pitchFamily="34" charset="-120"/>
              </a:rPr>
              <a:t>"thank you"</a:t>
            </a:r>
            <a:pPr indent="0" marL="0">
              <a:buNone/>
            </a:pPr>
            <a:r>
              <a:rPr lang="en-US" sz="1800" dirty="0">
                <a:solidFill>
                  <a:srgbClr val="E4E4E2"/>
                </a:solidFill>
                <a:latin typeface="Consolas" pitchFamily="34" charset="0"/>
                <a:ea typeface="Consolas" pitchFamily="34" charset="-122"/>
                <a:cs typeface="Consolas" pitchFamily="34" charset="-120"/>
              </a:rPr>
              <a:t>);</a:t>
            </a:r>
            <a:endParaRPr lang="en-US" sz="1800" dirty="0"/>
          </a:p>
        </p:txBody>
      </p:sp>
      <p:sp>
        <p:nvSpPr>
          <p:cNvPr id="7" name="tick"/>
          <p:cNvSpPr/>
          <p:nvPr/>
        </p:nvSpPr>
        <p:spPr>
          <a:xfrm>
            <a:off x="1312164" y="2788920"/>
            <a:ext cx="0" cy="237744"/>
          </a:xfrm>
          <a:prstGeom prst="line">
            <a:avLst/>
          </a:prstGeom>
          <a:noFill/>
          <a:ln w="12700">
            <a:solidFill>
              <a:srgbClr val="F0B54A"/>
            </a:solidFill>
            <a:prstDash val="solid"/>
          </a:ln>
        </p:spPr>
      </p:sp>
      <p:sp>
        <p:nvSpPr>
          <p:cNvPr id="8" name="Text 6"/>
          <p:cNvSpPr txBox="1"/>
          <p:nvPr/>
        </p:nvSpPr>
        <p:spPr>
          <a:xfrm>
            <a:off x="1357884" y="2697480"/>
            <a:ext cx="6400800" cy="18288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1:7+11</a:t>
            </a:r>
            <a:endParaRPr lang="en-US" sz="1100" dirty="0"/>
          </a:p>
        </p:txBody>
      </p:sp>
    </p:spTree>
  </p:cSld>
  <p:clrMapOvr>
    <a:masterClrMapping/>
  </p:clrMapOvr>
</p:sld>
</file>

<file path=ppt/theme/theme1.xml><?xml version="1.0" encoding="utf-8"?>
<a:theme xmlns:a="http://schemas.openxmlformats.org/drawingml/2006/main" name="Tether Spans">
  <a:themeElements>
    <a:clrScheme name="Tether Spans">
      <a:dk1>
        <a:srgbClr val="E4E4E2"/>
      </a:dk1>
      <a:lt1>
        <a:srgbClr val="0F1012"/>
      </a:lt1>
      <a:dk2>
        <a:srgbClr val="A9ACB2"/>
      </a:dk2>
      <a:lt2>
        <a:srgbClr val="18191D"/>
      </a:lt2>
      <a:accent1>
        <a:srgbClr val="F0B54A"/>
      </a:accent1>
      <a:accent2>
        <a:srgbClr val="8AB4F8"/>
      </a:accent2>
      <a:accent3>
        <a:srgbClr val="5CC98A"/>
      </a:accent3>
      <a:accent4>
        <a:srgbClr val="FF6F6B"/>
      </a:accent4>
      <a:accent5>
        <a:srgbClr val="868A91"/>
      </a:accent5>
      <a:accent6>
        <a:srgbClr val="C6A8F2"/>
      </a:accent6>
      <a:hlink>
        <a:srgbClr val="8AB4F8"/>
      </a:hlink>
      <a:folHlink>
        <a:srgbClr val="C6A8F2"/>
      </a:folHlink>
    </a:clrScheme>
    <a:fontScheme name="Tether Spa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Tether — Review 2</dc:title>
  <dc:subject>Compiler Design project review</dc:subject>
  <dc:creator>Antra (24BDS0066)</dc:creator>
  <cp:lastModifiedBy>Antra (24BDS0066)</cp:lastModifiedBy>
  <cp:revision>1</cp:revision>
  <dcterms:created xsi:type="dcterms:W3CDTF">2026-10-09T16:30:46Z</dcterms:created>
  <dcterms:modified xsi:type="dcterms:W3CDTF">2026-10-09T16:30:46Z</dcterms:modified>
</cp:coreProperties>
</file>