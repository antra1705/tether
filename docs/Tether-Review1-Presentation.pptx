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charts/chart2.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206db6f-855b-c354-283d-b50ca61b7918}">
          <p14:sldIdLst>
            <p14:sldId id="256"/>
            <p14:sldId id="257"/>
          </p14:sldIdLst>
        </p14:section>
        <p14:section name="Problem and objectives" id="{ec424c73-86aa-9de6-8f9d-54701dd57b29}">
          <p14:sldIdLst>
            <p14:sldId id="258"/>
            <p14:sldId id="259"/>
            <p14:sldId id="260"/>
          </p14:sldIdLst>
        </p14:section>
        <p14:section name="Literature survey" id="{25a6c376-1ed2-4245-9cd7-a8f75599dcae}">
          <p14:sldIdLst>
            <p14:sldId id="261"/>
            <p14:sldId id="262"/>
            <p14:sldId id="263"/>
          </p14:sldIdLst>
        </p14:section>
        <p14:section name="Novelty" id="{68419cc7-bdc7-9511-c45c-c463a78808f7}">
          <p14:sldIdLst>
            <p14:sldId id="264"/>
          </p14:sldIdLst>
        </p14:section>
        <p14:section name="Implementation" id="{8d0e66ad-9b02-3766-1fdf-9820f7178d5c}">
          <p14:sldIdLst>
            <p14:sldId id="265"/>
            <p14:sldId id="266"/>
            <p14:sldId id="267"/>
            <p14:sldId id="268"/>
            <p14:sldId id="269"/>
            <p14:sldId id="270"/>
            <p14:sldId id="271"/>
            <p14:sldId id="272"/>
            <p14:sldId id="273"/>
          </p14:sldIdLst>
        </p14:section>
        <p14:section name="Demo and questions" id="{d9cc4336-300b-99ea-1cbd-dc03cf4a21ad}">
          <p14:sldIdLst>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4A5260"/>
                </a:solidFill>
                <a:latin typeface="+mn-lt"/>
              </a:defRPr>
            </a:pPr>
            <a:r>
              <a:rPr sz="1200" b="0" i="0" u="none" strike="noStrike">
                <a:solidFill>
                  <a:srgbClr val="4A5260"/>
                </a:solidFill>
                <a:latin typeface="+mn-lt"/>
              </a:rPr>
              <a:t>Tests per file</a:t>
            </a:r>
          </a:p>
        </c:rich>
      </c:tx>
      <c:layout/>
      <c:overlay val="0"/>
    </c:title>
    <c:autoTitleDeleted val="0"/>
    <c:plotArea>
      <c:layout/>
      <c:barChart>
        <c:barDir val="bar"/>
        <c:grouping val="clustered"/>
        <c:varyColors val="0"/>
        <c:ser>
          <c:idx val="0"/>
          <c:order val="0"/>
          <c:tx>
            <c:strRef>
              <c:f>Sheet1!$B$1</c:f>
              <c:strCache>
                <c:ptCount val="1"/>
                <c:pt idx="0">
                  <c:v>Tests</c:v>
                </c:pt>
              </c:strCache>
            </c:strRef>
          </c:tx>
          <c:spPr>
            <a:solidFill>
              <a:srgbClr val="15181D"/>
            </a:solidFill>
            <a:effectLst/>
          </c:spPr>
          <c:invertIfNegative val="0"/>
          <c:dLbls>
            <c:numFmt formatCode="#,##0" sourceLinked="0"/>
            <c:txPr>
              <a:bodyPr/>
              <a:lstStyle/>
              <a:p>
                <a:pPr>
                  <a:defRPr b="0" i="0" strike="noStrike" sz="1100" u="none">
                    <a:solidFill>
                      <a:srgbClr val="15181D"/>
                    </a:solidFill>
                    <a:latin typeface="+mn-lt"/>
                  </a:defRPr>
                </a:pPr>
              </a:p>
            </c:txPr>
            <c:showLegendKey val="0"/>
            <c:showVal val="1"/>
            <c:showCatName val="0"/>
            <c:showSerName val="0"/>
            <c:showPercent val="0"/>
            <c:showBubbleSize val="0"/>
            <c:showLeaderLines val="0"/>
          </c:dLbls>
          <c:cat>
            <c:multiLvlStrRef>
              <c:f>Sheet1!$A$2:$A$7</c:f>
              <c:multiLvlStrCache>
                <c:ptCount val="6"/>
                <c:lvl>
                  <c:pt idx="0">
                    <c:v>CLI (golden files)</c:v>
                  </c:pt>
                  <c:pt idx="1">
                    <c:v>Parser</c:v>
                  </c:pt>
                  <c:pt idx="2">
                    <c:v>Lexer</c:v>
                  </c:pt>
                  <c:pt idx="3">
                    <c:v>Span</c:v>
                  </c:pt>
                  <c:pt idx="4">
                    <c:v>Diagnostics</c:v>
                  </c:pt>
                  <c:pt idx="5">
                    <c:v>Playground</c:v>
                  </c:pt>
                </c:lvl>
              </c:multiLvlStrCache>
            </c:multiLvlStrRef>
          </c:cat>
          <c:val>
            <c:numRef>
              <c:f>Sheet1!$B$2:$B$7</c:f>
              <c:numCache>
                <c:formatCode>General</c:formatCode>
                <c:ptCount val="6"/>
                <c:pt idx="0">
                  <c:v>19</c:v>
                </c:pt>
                <c:pt idx="1">
                  <c:v>18</c:v>
                </c:pt>
                <c:pt idx="2">
                  <c:v>13</c:v>
                </c:pt>
                <c:pt idx="3">
                  <c:v>6</c:v>
                </c:pt>
                <c:pt idx="4">
                  <c:v>5</c:v>
                </c:pt>
                <c:pt idx="5">
                  <c:v>2</c:v>
                </c:pt>
              </c:numCache>
            </c:numRef>
          </c:val>
        </c:ser>
        <c:dLbls>
          <c:numFmt formatCode="#,##0" sourceLinked="0"/>
          <c:txPr>
            <a:bodyPr/>
            <a:lstStyle/>
            <a:p>
              <a:pPr>
                <a:defRPr b="0" i="0" strike="noStrike" sz="1100" u="none">
                  <a:solidFill>
                    <a:srgbClr val="15181D"/>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4A5260"/>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Done</c:v>
                </c:pt>
              </c:strCache>
            </c:strRef>
          </c:tx>
          <c:spPr>
            <a:solidFill>
              <a:srgbClr val="15181D"/>
            </a:solidFill>
            <a:effectLst/>
          </c:spPr>
          <c:invertIfNegative val="0"/>
          <c:dLbls>
            <c:numFmt formatCode="#,##0" sourceLinked="0"/>
            <c:txPr>
              <a:bodyPr/>
              <a:lstStyle/>
              <a:p>
                <a:pPr>
                  <a:defRPr b="1"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FRs</c:v>
                  </c:pt>
                </c:lvl>
              </c:multiLvlStrCache>
            </c:multiLvlStrRef>
          </c:cat>
          <c:val>
            <c:numRef>
              <c:f>Sheet1!$B$2:$B$2</c:f>
              <c:numCache>
                <c:formatCode>General</c:formatCode>
                <c:ptCount val="1"/>
                <c:pt idx="0">
                  <c:v>11</c:v>
                </c:pt>
              </c:numCache>
            </c:numRef>
          </c:val>
        </c:ser>
        <c:ser>
          <c:idx val="1"/>
          <c:order val="1"/>
          <c:tx>
            <c:strRef>
              <c:f>Sheet1!$C$1</c:f>
              <c:strCache>
                <c:ptCount val="1"/>
                <c:pt idx="0">
                  <c:v>Partial</c:v>
                </c:pt>
              </c:strCache>
            </c:strRef>
          </c:tx>
          <c:spPr>
            <a:solidFill>
              <a:srgbClr val="F5B82E"/>
            </a:solidFill>
            <a:effectLst/>
          </c:spPr>
          <c:invertIfNegative val="0"/>
          <c:dLbls>
            <c:numFmt formatCode="#,##0" sourceLinked="0"/>
            <c:txPr>
              <a:bodyPr/>
              <a:lstStyle/>
              <a:p>
                <a:pPr>
                  <a:defRPr b="1"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FRs</c:v>
                  </c:pt>
                </c:lvl>
              </c:multiLvlStrCache>
            </c:multiLvlStrRef>
          </c:cat>
          <c:val>
            <c:numRef>
              <c:f>Sheet1!$C$2:$C$2</c:f>
              <c:numCache>
                <c:formatCode>General</c:formatCode>
                <c:ptCount val="1"/>
                <c:pt idx="0">
                  <c:v>3</c:v>
                </c:pt>
              </c:numCache>
            </c:numRef>
          </c:val>
        </c:ser>
        <c:ser>
          <c:idx val="2"/>
          <c:order val="2"/>
          <c:tx>
            <c:strRef>
              <c:f>Sheet1!$D$1</c:f>
              <c:strCache>
                <c:ptCount val="1"/>
                <c:pt idx="0">
                  <c:v>Not started</c:v>
                </c:pt>
              </c:strCache>
            </c:strRef>
          </c:tx>
          <c:spPr>
            <a:solidFill>
              <a:srgbClr val="D5D9DF"/>
            </a:solidFill>
            <a:effectLst/>
          </c:spPr>
          <c:invertIfNegative val="0"/>
          <c:dLbls>
            <c:numFmt formatCode="#,##0" sourceLinked="0"/>
            <c:txPr>
              <a:bodyPr/>
              <a:lstStyle/>
              <a:p>
                <a:pPr>
                  <a:defRPr b="1"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FRs</c:v>
                  </c:pt>
                </c:lvl>
              </c:multiLvlStrCache>
            </c:multiLvlStrRef>
          </c:cat>
          <c:val>
            <c:numRef>
              <c:f>Sheet1!$D$2:$D$2</c:f>
              <c:numCache>
                <c:formatCode>General</c:formatCode>
                <c:ptCount val="1"/>
                <c:pt idx="0">
                  <c:v>17</c:v>
                </c:pt>
              </c:numCache>
            </c:numRef>
          </c:val>
        </c:ser>
        <c:dLbls>
          <c:numFmt formatCode="#,##0" sourceLinked="0"/>
          <c:txPr>
            <a:bodyPr/>
            <a:lstStyle/>
            <a:p>
              <a:pPr>
                <a:defRPr b="1" i="0" strike="noStrike" sz="1200" u="none">
                  <a:solidFill>
                    <a:srgbClr val="FFFFFF"/>
                  </a:solidFill>
                  <a:latin typeface="+mn-lt"/>
                </a:defRPr>
              </a:pPr>
            </a:p>
          </c:txPr>
          <c:dLblPos val="ctr"/>
          <c:showLegendKey val="0"/>
          <c:showVal val="1"/>
          <c:showCatName val="0"/>
          <c:showSerName val="0"/>
          <c:showPercent val="0"/>
          <c:showBubbleSize val="0"/>
          <c:showLeaderLines val="0"/>
        </c:dLbls>
        <c:gapWidth val="20"/>
        <c:overlap val="100"/>
        <c:axId val="2094734554"/>
        <c:axId val="2094734552"/>
        <c:axId val="2094734556"/>
      </c:barChart>
      <c:catAx>
        <c:axId val="2094734554"/>
        <c:scaling>
          <c:orientation val="minMax"/>
        </c:scaling>
        <c:delete val="1"/>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4A526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project is Tether, a compiler for a small statically typed language that outputs JavaScript plus a source map, so a program can be debugged in the browser using its original source. The line of code here shows the core idea: every token, like the function name fib, records exactly where it came from — line 3, column 4, length 3. I will cover the problem and objectives, the literature, the novelty, and the 25 percent implementation, then give a short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talk follows the five evaluation criteria: problem and objectives, literature survey, novelty, the 25 percent implementation, and then the demo and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languages, like TypeScript, are compiled to JavaScript before they run. When something goes wrong, the debugger reports positions in the generated JavaScript, a file the programmer never wrote. A source map is the file that links each generated position back to the original line and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has three parts. Positions are usually thrown away after the error message. A wrong source map does not crash; it silently points to the wrong place, so correctness has to be proven. And optimisations remove or merge code, and how much debuggability that costs is rarely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five objectives from my requirements document. G4, multiple precise diagnostics per run, is already met for lexical and syntax errors. G1 and G2 are partly met. G3 and G5 come in later milestones.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front end builds on classic work. The Dragon Book gives the phase structure and panic-mode recovery. Pratt and Clarke describe top-down operator-precedence parsing, which Norvell named precedence climbing; that is how my expression parser works. Crafting Interpreters is a practical reference for hand-written scanners and parsers. The source map format began as the Revision 3 proposal in 2011 and was standardised as ECMA-426 in December 2024.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strand is research on debugging optimised code. Hennessy showed in 1982 that optimisation makes debuggers show stale values. Li and colleagues at PLDI 2020 validated GCC and LLVM debug information and found many real bugs. Assaiante and colleagues at ASPLOS 2023 measured missing variables, with 24 bugs confirmed by the compiler developers. The lesson for my project: even mature compilers get this wrong, so I verify my map independently and measure the loss under optimisation.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Putting the literature together: debug-info quality is studied for native compilers; production transpilers emit source maps but are too large to study as a whole; teaching compilers ignore positions after error reporting. Tether sits in that gap: a small, complete transpiler where positions are first-class, and the map is verified and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maps already exist; TypeScript and Babel produce them. What is new here is the discipline: positions are a first-class artifact checked by invariants on every node; exactly one function turns positions 0-based, covered by a property test; code invented by the compiler inherits the position of its cause; and the final map is verified by an independent decoder, with the loss under optimisation measured. The first two are done; the last two are planned.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 has eight weekly milestones. Milestones one and two, the complete front end, are done: that is 25 percent. Milestone three, type checking, has started; the caret diagnostics it needs are already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pipeline. The lexer and parser are built, along with the diagnostics module every phase reports into. The type checker is next, then lowering, the JavaScript emitter and the source map. Each phase is a separate module with its own tests; the whole compiler so far is under a thousand lines with no third-party dependencies.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highlighted block is one token. The lexer records for every token its file, line, column and length; 3:4+3 means line 3, column 4, length 3. Columns count UTF-16 code units and a tab counts as one column, because that is what source maps and Chrome use. A single advance function is the only way the scanner moves forward, so line and column can never drift. It reports five kinds of lexical error and keeps going after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parser is hand-written recursive descent, one function per grammar rule. Binary operators use precedence climbing: parse the left side, and while the next operator binds at least as tightly as the minimum, parse the right side with a higher minimum. Passing precedence plus one is what makes operators left-associative. The tree on the right is what it builds for 1 + 2 * 3 - 4. Every one of the 21 node kinds carries a span, and a test checks the span rules on every node of all four benchmark programs.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output for a test file with seven independent syntax errors. All seven are reported in one run, each with the line, the column and carets under the exact token; I am showing the first three. On an error the parser skips to the next statement boundary and continues: panic-mode recovery. Errors on tokens the lexer already reported are suppressed, so one mistake does not cause a cascade. The compiler then exits with code 1 and writes no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make the front end visible I built a playground page. It is not a mock-up: it imports the same compiler modules the command line uses. You can edit code and watch the tokens, the syntax tree and the errors update live, and hovering any node highlights its exact span in the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63 tests pass. The largest group compares command-line output against saved golden files byte for byte. A determinism test compiles each benchmark twice and checks the output is identical, and a property test checks the position conversion on random input. Lexing and parsing a benchmark takes under a tenth of a millisecond, against a 200 millisecond budget for the whole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 the 31 functional requirements in my PRD, 11 are done and 3 are partly done; the rest belong to later milestones. Every lexical and syntax requirement is complete, plus caret diagnostics and exit codes. The non-functional requirements that apply so far 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Milestone 3 adds the symbol table and type checker. Milestone 4 adds lowering and a first JavaScript emitter, so the benchmarks actually run. Milestones 5 and 6 build the VLQ encoder and the source map, checked by an independent decoder. Milestone 7 proves breakpoints and stack traces work in Chrome, and milestone 8 adds optimisation and measures how many mappings it loses.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a short live demo, using the commands in REVIEW-DEMO.md: the test suite, the syntax tree dump, the seven-error file, and the playground.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sources for the literature survey.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 am happy to take questions; the full report, with answers to likely questions, is in docs/Tether-Review1.pdf.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5486400" cy="228600"/>
          </a:xfrm>
          <a:prstGeom prst="rect">
            <a:avLst/>
          </a:prstGeom>
          <a:noFill/>
          <a:ln/>
        </p:spPr>
        <p:txBody>
          <a:bodyPr wrap="square" rtlCol="0"/>
          <a:lstStyle>
            <a:lvl1pPr indent="0" marL="0">
              <a:buNone/>
              <a:defRPr lang="en-US" sz="1000" dirty="0">
                <a:solidFill>
                  <a:schemeClr val="accent5"/>
                </a:solidFill>
                <a:latin typeface="Consolas" pitchFamily="34" charset="0"/>
                <a:ea typeface="Consolas" pitchFamily="34" charset="-122"/>
                <a:cs typeface="Consolas" pitchFamily="34" charset="-120"/>
              </a:defRPr>
            </a:lvl1pPr>
          </a:lstStyle>
          <a:p>
            <a:pPr indent="0" marL="0">
              <a:buNone/>
            </a:pPr>
            <a:endParaRPr lang="en-US" sz="1000" dirty="0"/>
          </a:p>
        </p:txBody>
      </p:sp>
      <p:sp>
        <p:nvSpPr>
          <p:cNvPr id="3" name="Text 0"/>
          <p:cNvSpPr/>
          <p:nvPr>
            <p:ph idx="101" type="title" hasCustomPrompt="1"/>
          </p:nvPr>
        </p:nvSpPr>
        <p:spPr>
          <a:xfrm>
            <a:off x="548640" y="960120"/>
            <a:ext cx="8046720" cy="914400"/>
          </a:xfrm>
          <a:prstGeom prst="rect">
            <a:avLst/>
          </a:prstGeom>
          <a:noFill/>
          <a:ln/>
        </p:spPr>
        <p:txBody>
          <a:bodyPr wrap="square" rtlCol="0"/>
          <a:lstStyle>
            <a:lvl1pPr algn="l" indent="0" marL="0">
              <a:buNone/>
              <a:defRPr lang="en-US" sz="6000" b="1" dirty="0">
                <a:solidFill>
                  <a:schemeClr val="bg1"/>
                </a:solidFill>
              </a:defRPr>
            </a:lvl1pPr>
          </a:lstStyle>
          <a:p>
            <a:pPr algn="l" indent="0" marL="0">
              <a:buNone/>
            </a:pPr>
            <a:endParaRPr lang="en-US" sz="6000" dirty="0"/>
          </a:p>
        </p:txBody>
      </p:sp>
      <p:sp>
        <p:nvSpPr>
          <p:cNvPr id="4" name="Text 0"/>
          <p:cNvSpPr/>
          <p:nvPr>
            <p:ph idx="102" type="body" hasCustomPrompt="1"/>
          </p:nvPr>
        </p:nvSpPr>
        <p:spPr>
          <a:xfrm>
            <a:off x="548640" y="1920240"/>
            <a:ext cx="8046720" cy="457200"/>
          </a:xfrm>
          <a:prstGeom prst="rect">
            <a:avLst/>
          </a:prstGeom>
          <a:noFill/>
          <a:ln/>
        </p:spPr>
        <p:txBody>
          <a:bodyPr wrap="square" rtlCol="0"/>
          <a:lstStyle>
            <a:lvl1pPr algn="l" indent="0" marL="0">
              <a:buNone/>
              <a:defRPr lang="en-US" sz="2000" dirty="0">
                <a:solidFill>
                  <a:srgbClr val="C9CED6"/>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AGE">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5486400" cy="228600"/>
          </a:xfrm>
          <a:prstGeom prst="rect">
            <a:avLst/>
          </a:prstGeom>
          <a:noFill/>
          <a:ln/>
        </p:spPr>
        <p:txBody>
          <a:bodyPr wrap="square" rtlCol="0"/>
          <a:lstStyle>
            <a:lvl1pPr indent="0" marL="0">
              <a:buNone/>
              <a:defRPr lang="en-US" sz="1000" dirty="0">
                <a:solidFill>
                  <a:schemeClr val="accent5"/>
                </a:solidFill>
                <a:latin typeface="Consolas" pitchFamily="34" charset="0"/>
                <a:ea typeface="Consolas" pitchFamily="34" charset="-122"/>
                <a:cs typeface="Consolas" pitchFamily="34" charset="-120"/>
              </a:defRPr>
            </a:lvl1pPr>
          </a:lstStyle>
          <a:p>
            <a:pPr indent="0" marL="0">
              <a:buNone/>
            </a:pPr>
            <a:endParaRPr lang="en-US" sz="1000" dirty="0"/>
          </a:p>
        </p:txBody>
      </p:sp>
      <p:sp>
        <p:nvSpPr>
          <p:cNvPr id="3" name="Text 0"/>
          <p:cNvSpPr/>
          <p:nvPr>
            <p:ph idx="101" type="title" hasCustomPrompt="1"/>
          </p:nvPr>
        </p:nvSpPr>
        <p:spPr>
          <a:xfrm>
            <a:off x="548640" y="502920"/>
            <a:ext cx="8046720" cy="64008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138160" y="25603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9AA1AC"/>
                </a:solidFill>
                <a:latin typeface="Consolas"/>
                <a:ea typeface="Consolas"/>
                <a:cs typeface="Consolas"/>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38160" y="25603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9AA1AC"/>
                </a:solidFill>
                <a:latin typeface="Consolas"/>
                <a:ea typeface="Consolas"/>
                <a:cs typeface="Consola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5486400" cy="228600"/>
          </a:xfrm>
          <a:prstGeom prst="rect">
            <a:avLst/>
          </a:prstGeom>
          <a:noFill/>
          <a:ln/>
        </p:spPr>
        <p:txBody>
          <a:bodyPr wrap="square" lIns="0" tIns="0" rIns="0" bIns="0" rtlCol="0"/>
          <a:lstStyle/>
          <a:p>
            <a:pPr indent="0" marL="0">
              <a:buNone/>
            </a:pPr>
            <a:r>
              <a:rPr lang="en-US" sz="1000" dirty="0">
                <a:solidFill>
                  <a:schemeClr val="accent5"/>
                </a:solidFill>
                <a:latin typeface="Consolas" pitchFamily="34" charset="0"/>
                <a:ea typeface="Consolas" pitchFamily="34" charset="-122"/>
                <a:cs typeface="Consolas" pitchFamily="34" charset="-120"/>
              </a:rPr>
              <a:t>compiler-design / project-review-1</a:t>
            </a:r>
            <a:endParaRPr lang="en-US" sz="1000" dirty="0"/>
          </a:p>
        </p:txBody>
      </p:sp>
      <p:sp>
        <p:nvSpPr>
          <p:cNvPr id="3" name="Text 0"/>
          <p:cNvSpPr/>
          <p:nvPr>
            <p:ph idx="101" type="title" hasCustomPrompt="1"/>
          </p:nvPr>
        </p:nvSpPr>
        <p:spPr>
          <a:xfrm>
            <a:off x="548640" y="960120"/>
            <a:ext cx="8046720" cy="914400"/>
          </a:xfrm>
          <a:prstGeom prst="rect">
            <a:avLst/>
          </a:prstGeom>
          <a:noFill/>
          <a:ln/>
        </p:spPr>
        <p:txBody>
          <a:bodyPr wrap="square" lIns="0" tIns="0" rIns="0" bIns="0" rtlCol="0" anchor="t"/>
          <a:lstStyle/>
          <a:p>
            <a:pPr algn="l" indent="0" marL="0">
              <a:buNone/>
            </a:pPr>
            <a:r>
              <a:rPr lang="en-US" sz="6000" b="1" dirty="0">
                <a:solidFill>
                  <a:schemeClr val="bg1"/>
                </a:solidFill>
              </a:rPr>
              <a:t>Tether</a:t>
            </a:r>
            <a:endParaRPr lang="en-US" sz="6000" dirty="0"/>
          </a:p>
        </p:txBody>
      </p:sp>
      <p:sp>
        <p:nvSpPr>
          <p:cNvPr id="4" name="Text 0"/>
          <p:cNvSpPr/>
          <p:nvPr>
            <p:ph idx="102" type="body" hasCustomPrompt="1"/>
          </p:nvPr>
        </p:nvSpPr>
        <p:spPr>
          <a:xfrm>
            <a:off x="548640" y="1920240"/>
            <a:ext cx="8046720" cy="457200"/>
          </a:xfrm>
          <a:prstGeom prst="rect">
            <a:avLst/>
          </a:prstGeom>
          <a:noFill/>
          <a:ln/>
        </p:spPr>
        <p:txBody>
          <a:bodyPr wrap="square" lIns="0" tIns="0" rIns="0" bIns="0" rtlCol="0" anchor="t"/>
          <a:lstStyle/>
          <a:p>
            <a:pPr algn="l" indent="0" marL="0">
              <a:buNone/>
            </a:pPr>
            <a:r>
              <a:rPr lang="en-US" sz="2000" dirty="0">
                <a:solidFill>
                  <a:srgbClr val="C9CED6"/>
                </a:solidFill>
              </a:rPr>
              <a:t>A source-mapped transpiler for debuggable high-level code</a:t>
            </a:r>
            <a:endParaRPr lang="en-US" sz="2000" dirty="0"/>
          </a:p>
        </p:txBody>
      </p:sp>
      <p:sp>
        <p:nvSpPr>
          <p:cNvPr id="5" name="span"/>
          <p:cNvSpPr/>
          <p:nvPr/>
        </p:nvSpPr>
        <p:spPr>
          <a:xfrm>
            <a:off x="995934" y="2953512"/>
            <a:ext cx="488442" cy="384048"/>
          </a:xfrm>
          <a:prstGeom prst="rect">
            <a:avLst/>
          </a:prstGeom>
          <a:solidFill>
            <a:schemeClr val="accent1"/>
          </a:solidFill>
          <a:ln/>
        </p:spPr>
      </p:sp>
      <p:sp>
        <p:nvSpPr>
          <p:cNvPr id="6" name="span"/>
          <p:cNvSpPr/>
          <p:nvPr/>
        </p:nvSpPr>
        <p:spPr>
          <a:xfrm>
            <a:off x="1610614" y="2953512"/>
            <a:ext cx="181102" cy="384048"/>
          </a:xfrm>
          <a:prstGeom prst="rect">
            <a:avLst/>
          </a:prstGeom>
          <a:solidFill>
            <a:schemeClr val="accent1"/>
          </a:solidFill>
          <a:ln/>
        </p:spPr>
      </p:sp>
      <p:sp>
        <p:nvSpPr>
          <p:cNvPr id="7" name="Text 5"/>
          <p:cNvSpPr txBox="1"/>
          <p:nvPr/>
        </p:nvSpPr>
        <p:spPr>
          <a:xfrm>
            <a:off x="548640" y="2971800"/>
            <a:ext cx="5486400" cy="365760"/>
          </a:xfrm>
          <a:prstGeom prst="rect">
            <a:avLst/>
          </a:prstGeom>
          <a:noFill/>
          <a:ln/>
        </p:spPr>
        <p:txBody>
          <a:bodyPr wrap="square" lIns="0" tIns="0" rIns="0" bIns="0" rtlCol="0" anchor="t"/>
          <a:lstStyle/>
          <a:p>
            <a:pPr indent="0" marL="0">
              <a:buNone/>
            </a:pPr>
            <a:r>
              <a:rPr lang="en-US" sz="2200" dirty="0">
                <a:solidFill>
                  <a:srgbClr val="FFFFFF"/>
                </a:solidFill>
                <a:latin typeface="Consolas" pitchFamily="34" charset="0"/>
                <a:ea typeface="Consolas" pitchFamily="34" charset="-122"/>
                <a:cs typeface="Consolas" pitchFamily="34" charset="-120"/>
              </a:rPr>
              <a:t>fn </a:t>
            </a:r>
            <a:pPr indent="0" marL="0">
              <a:buNone/>
            </a:pPr>
            <a:r>
              <a:rPr lang="en-US" sz="2200" dirty="0">
                <a:solidFill>
                  <a:srgbClr val="15181D"/>
                </a:solidFill>
                <a:latin typeface="Consolas" pitchFamily="34" charset="0"/>
                <a:ea typeface="Consolas" pitchFamily="34" charset="-122"/>
                <a:cs typeface="Consolas" pitchFamily="34" charset="-120"/>
              </a:rPr>
              <a:t>fib</a:t>
            </a:r>
            <a:pPr indent="0" marL="0">
              <a:buNone/>
            </a:pPr>
            <a:r>
              <a:rPr lang="en-US" sz="2200" dirty="0">
                <a:solidFill>
                  <a:srgbClr val="FFFFFF"/>
                </a:solidFill>
                <a:latin typeface="Consolas" pitchFamily="34" charset="0"/>
                <a:ea typeface="Consolas" pitchFamily="34" charset="-122"/>
                <a:cs typeface="Consolas" pitchFamily="34" charset="-120"/>
              </a:rPr>
              <a:t>(</a:t>
            </a:r>
            <a:pPr indent="0" marL="0">
              <a:buNone/>
            </a:pPr>
            <a:r>
              <a:rPr lang="en-US" sz="2200" dirty="0">
                <a:solidFill>
                  <a:srgbClr val="15181D"/>
                </a:solidFill>
                <a:latin typeface="Consolas" pitchFamily="34" charset="0"/>
                <a:ea typeface="Consolas" pitchFamily="34" charset="-122"/>
                <a:cs typeface="Consolas" pitchFamily="34" charset="-120"/>
              </a:rPr>
              <a:t>n</a:t>
            </a:r>
            <a:pPr indent="0" marL="0">
              <a:buNone/>
            </a:pPr>
            <a:r>
              <a:rPr lang="en-US" sz="2200" dirty="0">
                <a:solidFill>
                  <a:srgbClr val="FFFFFF"/>
                </a:solidFill>
                <a:latin typeface="Consolas" pitchFamily="34" charset="0"/>
                <a:ea typeface="Consolas" pitchFamily="34" charset="-122"/>
                <a:cs typeface="Consolas" pitchFamily="34" charset="-120"/>
              </a:rPr>
              <a:t>: int): int {</a:t>
            </a:r>
            <a:endParaRPr lang="en-US" sz="2200" dirty="0"/>
          </a:p>
        </p:txBody>
      </p:sp>
      <p:sp>
        <p:nvSpPr>
          <p:cNvPr id="8" name="tick"/>
          <p:cNvSpPr/>
          <p:nvPr/>
        </p:nvSpPr>
        <p:spPr>
          <a:xfrm>
            <a:off x="1018794" y="2724912"/>
            <a:ext cx="0" cy="228600"/>
          </a:xfrm>
          <a:prstGeom prst="line">
            <a:avLst/>
          </a:prstGeom>
          <a:noFill/>
          <a:ln w="12700">
            <a:solidFill>
              <a:srgbClr val="F5B82E"/>
            </a:solidFill>
            <a:prstDash val="solid"/>
          </a:ln>
        </p:spPr>
      </p:sp>
      <p:sp>
        <p:nvSpPr>
          <p:cNvPr id="9" name="Text 7"/>
          <p:cNvSpPr txBox="1"/>
          <p:nvPr/>
        </p:nvSpPr>
        <p:spPr>
          <a:xfrm>
            <a:off x="1064514" y="2633472"/>
            <a:ext cx="914400" cy="182880"/>
          </a:xfrm>
          <a:prstGeom prst="rect">
            <a:avLst/>
          </a:prstGeom>
          <a:noFill/>
          <a:ln/>
        </p:spPr>
        <p:txBody>
          <a:bodyPr wrap="square" lIns="0" tIns="0" rIns="0" bIns="0" rtlCol="0" anchor="t"/>
          <a:lstStyle/>
          <a:p>
            <a:pPr indent="0" marL="0">
              <a:buNone/>
            </a:pPr>
            <a:r>
              <a:rPr lang="en-US" sz="1100" dirty="0">
                <a:solidFill>
                  <a:schemeClr val="accent1"/>
                </a:solidFill>
                <a:latin typeface="Consolas" pitchFamily="34" charset="0"/>
                <a:ea typeface="Consolas" pitchFamily="34" charset="-122"/>
                <a:cs typeface="Consolas" pitchFamily="34" charset="-120"/>
              </a:rPr>
              <a:t>3:4+3</a:t>
            </a:r>
            <a:endParaRPr lang="en-US" sz="1100" dirty="0"/>
          </a:p>
        </p:txBody>
      </p:sp>
      <p:sp>
        <p:nvSpPr>
          <p:cNvPr id="10" name="tick"/>
          <p:cNvSpPr/>
          <p:nvPr/>
        </p:nvSpPr>
        <p:spPr>
          <a:xfrm>
            <a:off x="1633474" y="2724912"/>
            <a:ext cx="0" cy="228600"/>
          </a:xfrm>
          <a:prstGeom prst="line">
            <a:avLst/>
          </a:prstGeom>
          <a:noFill/>
          <a:ln w="12700">
            <a:solidFill>
              <a:srgbClr val="F5B82E"/>
            </a:solidFill>
            <a:prstDash val="solid"/>
          </a:ln>
        </p:spPr>
      </p:sp>
      <p:sp>
        <p:nvSpPr>
          <p:cNvPr id="11" name="Text 9"/>
          <p:cNvSpPr txBox="1"/>
          <p:nvPr/>
        </p:nvSpPr>
        <p:spPr>
          <a:xfrm>
            <a:off x="1679194" y="2633472"/>
            <a:ext cx="914400" cy="182880"/>
          </a:xfrm>
          <a:prstGeom prst="rect">
            <a:avLst/>
          </a:prstGeom>
          <a:noFill/>
          <a:ln/>
        </p:spPr>
        <p:txBody>
          <a:bodyPr wrap="square" lIns="0" tIns="0" rIns="0" bIns="0" rtlCol="0" anchor="t"/>
          <a:lstStyle/>
          <a:p>
            <a:pPr indent="0" marL="0">
              <a:buNone/>
            </a:pPr>
            <a:r>
              <a:rPr lang="en-US" sz="1100" dirty="0">
                <a:solidFill>
                  <a:schemeClr val="accent1"/>
                </a:solidFill>
                <a:latin typeface="Consolas" pitchFamily="34" charset="0"/>
                <a:ea typeface="Consolas" pitchFamily="34" charset="-122"/>
                <a:cs typeface="Consolas" pitchFamily="34" charset="-120"/>
              </a:rPr>
              <a:t>3:8+1</a:t>
            </a:r>
            <a:endParaRPr lang="en-US" sz="1100" dirty="0"/>
          </a:p>
        </p:txBody>
      </p:sp>
      <p:sp>
        <p:nvSpPr>
          <p:cNvPr id="12" name="Text 10"/>
          <p:cNvSpPr txBox="1"/>
          <p:nvPr/>
        </p:nvSpPr>
        <p:spPr>
          <a:xfrm>
            <a:off x="548640" y="3456432"/>
            <a:ext cx="5486400" cy="274320"/>
          </a:xfrm>
          <a:prstGeom prst="rect">
            <a:avLst/>
          </a:prstGeom>
          <a:noFill/>
          <a:ln/>
        </p:spPr>
        <p:txBody>
          <a:bodyPr wrap="square" lIns="0" tIns="0" rIns="0" bIns="0" rtlCol="0" anchor="t"/>
          <a:lstStyle/>
          <a:p>
            <a:pPr indent="0" marL="0">
              <a:buNone/>
            </a:pPr>
            <a:r>
              <a:rPr lang="en-US" sz="1300" i="1" dirty="0">
                <a:solidFill>
                  <a:srgbClr val="8B93A1"/>
                </a:solidFill>
              </a:rPr>
              <a:t>every token remembers exactly where it came from</a:t>
            </a:r>
            <a:endParaRPr lang="en-US" sz="1300" dirty="0"/>
          </a:p>
        </p:txBody>
      </p:sp>
      <p:sp>
        <p:nvSpPr>
          <p:cNvPr id="13" name="Text 11"/>
          <p:cNvSpPr txBox="1"/>
          <p:nvPr/>
        </p:nvSpPr>
        <p:spPr>
          <a:xfrm>
            <a:off x="548640" y="4160520"/>
            <a:ext cx="6400800" cy="548640"/>
          </a:xfrm>
          <a:prstGeom prst="rect">
            <a:avLst/>
          </a:prstGeom>
          <a:noFill/>
          <a:ln/>
        </p:spPr>
        <p:txBody>
          <a:bodyPr wrap="square" lIns="0" tIns="0" rIns="0" bIns="0" rtlCol="0" anchor="t"/>
          <a:lstStyle/>
          <a:p>
            <a:pPr indent="0" marL="0">
              <a:buNone/>
            </a:pPr>
            <a:r>
              <a:rPr lang="en-US" sz="1300" b="1" dirty="0">
                <a:solidFill>
                  <a:srgbClr val="FFFFFF"/>
                </a:solidFill>
              </a:rPr>
              <a:t>Antra</a:t>
            </a:r>
            <a:endParaRPr lang="en-US" sz="1300" dirty="0"/>
          </a:p>
          <a:p>
            <a:pPr indent="0" marL="0">
              <a:buNone/>
            </a:pPr>
            <a:r>
              <a:rPr lang="en-US" sz="1300" dirty="0">
                <a:solidFill>
                  <a:srgbClr val="B4BAC4"/>
                </a:solidFill>
              </a:rPr>
              <a:t>24BDS0066  ·  Compiler Design  ·  9 October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5486400" cy="228600"/>
          </a:xfrm>
          <a:prstGeom prst="rect">
            <a:avLst/>
          </a:prstGeom>
          <a:noFill/>
          <a:ln/>
        </p:spPr>
        <p:txBody>
          <a:bodyPr wrap="square" lIns="0" tIns="0" rIns="0" bIns="0" rtlCol="0"/>
          <a:lstStyle/>
          <a:p>
            <a:pPr indent="0" marL="0">
              <a:buNone/>
            </a:pPr>
            <a:r>
              <a:rPr lang="en-US" sz="1000" dirty="0">
                <a:solidFill>
                  <a:schemeClr val="accent5"/>
                </a:solidFill>
                <a:latin typeface="Consolas" pitchFamily="34" charset="0"/>
                <a:ea typeface="Consolas" pitchFamily="34" charset="-122"/>
                <a:cs typeface="Consolas" pitchFamily="34" charset="-120"/>
              </a:rPr>
              <a:t>tether / outline</a:t>
            </a:r>
            <a:endParaRPr lang="en-US" sz="1000" dirty="0"/>
          </a:p>
        </p:txBody>
      </p:sp>
      <p:sp>
        <p:nvSpPr>
          <p:cNvPr id="3" name="Text 0"/>
          <p:cNvSpPr/>
          <p:nvPr>
            <p:ph idx="101" type="title" hasCustomPrompt="1"/>
          </p:nvPr>
        </p:nvSpPr>
        <p:spPr>
          <a:xfrm>
            <a:off x="548640" y="502920"/>
            <a:ext cx="8046720" cy="640080"/>
          </a:xfrm>
          <a:prstGeom prst="rect">
            <a:avLst/>
          </a:prstGeom>
          <a:noFill/>
          <a:ln/>
        </p:spPr>
        <p:txBody>
          <a:bodyPr wrap="square" lIns="0" tIns="0" rIns="0" bIns="0" rtlCol="0" anchor="t"/>
          <a:lstStyle/>
          <a:p>
            <a:pPr algn="l" indent="0" marL="0">
              <a:buNone/>
            </a:pPr>
            <a:r>
              <a:rPr lang="en-US" sz="2800" b="1" dirty="0">
                <a:solidFill>
                  <a:schemeClr val="tx1"/>
                </a:solidFill>
              </a:rPr>
              <a:t>Outline</a:t>
            </a:r>
            <a:endParaRPr lang="en-US" sz="2800" dirty="0"/>
          </a:p>
        </p:txBody>
      </p:sp>
      <p:sp>
        <p:nvSpPr>
          <p:cNvPr id="4" name="Text 2"/>
          <p:cNvSpPr txBox="1"/>
          <p:nvPr/>
        </p:nvSpPr>
        <p:spPr>
          <a:xfrm>
            <a:off x="548640" y="1444752"/>
            <a:ext cx="548640" cy="320040"/>
          </a:xfrm>
          <a:prstGeom prst="rect">
            <a:avLst/>
          </a:prstGeom>
          <a:noFill/>
          <a:ln/>
        </p:spPr>
        <p:txBody>
          <a:bodyPr wrap="square" lIns="0" tIns="0" rIns="0" bIns="0" rtlCol="0" anchor="t"/>
          <a:lstStyle/>
          <a:p>
            <a:pPr indent="0" marL="0">
              <a:buNone/>
            </a:pPr>
            <a:r>
              <a:rPr lang="en-US" sz="1400" dirty="0">
                <a:solidFill>
                  <a:schemeClr val="accent5"/>
                </a:solidFill>
                <a:latin typeface="Consolas" pitchFamily="34" charset="0"/>
                <a:ea typeface="Consolas" pitchFamily="34" charset="-122"/>
                <a:cs typeface="Consolas" pitchFamily="34" charset="-120"/>
              </a:rPr>
              <a:t>01</a:t>
            </a:r>
            <a:endParaRPr lang="en-US" sz="1400" dirty="0"/>
          </a:p>
        </p:txBody>
      </p:sp>
      <p:sp>
        <p:nvSpPr>
          <p:cNvPr id="5" name="Text 3"/>
          <p:cNvSpPr txBox="1"/>
          <p:nvPr/>
        </p:nvSpPr>
        <p:spPr>
          <a:xfrm>
            <a:off x="1188720" y="1371600"/>
            <a:ext cx="3840480" cy="457200"/>
          </a:xfrm>
          <a:prstGeom prst="rect">
            <a:avLst/>
          </a:prstGeom>
          <a:noFill/>
          <a:ln/>
        </p:spPr>
        <p:txBody>
          <a:bodyPr wrap="square" lIns="0" tIns="0" rIns="0" bIns="0" rtlCol="0" anchor="t"/>
          <a:lstStyle/>
          <a:p>
            <a:pPr indent="0" marL="0">
              <a:buNone/>
            </a:pPr>
            <a:r>
              <a:rPr lang="en-US" sz="2200" dirty="0">
                <a:solidFill>
                  <a:schemeClr val="tx1"/>
                </a:solidFill>
                <a:latin typeface="Cambria" pitchFamily="34" charset="0"/>
                <a:ea typeface="Cambria" pitchFamily="34" charset="-122"/>
                <a:cs typeface="Cambria" pitchFamily="34" charset="-120"/>
              </a:rPr>
              <a:t>Problem and objectives</a:t>
            </a:r>
            <a:endParaRPr lang="en-US" sz="2200" dirty="0"/>
          </a:p>
        </p:txBody>
      </p:sp>
      <p:sp>
        <p:nvSpPr>
          <p:cNvPr id="6" name="Text 4"/>
          <p:cNvSpPr txBox="1"/>
          <p:nvPr/>
        </p:nvSpPr>
        <p:spPr>
          <a:xfrm>
            <a:off x="5120640" y="1463040"/>
            <a:ext cx="3474720" cy="365760"/>
          </a:xfrm>
          <a:prstGeom prst="rect">
            <a:avLst/>
          </a:prstGeom>
          <a:noFill/>
          <a:ln/>
        </p:spPr>
        <p:txBody>
          <a:bodyPr wrap="square" lIns="0" tIns="0" rIns="0" bIns="0" rtlCol="0" anchor="t"/>
          <a:lstStyle/>
          <a:p>
            <a:pPr indent="0" marL="0">
              <a:buNone/>
            </a:pPr>
            <a:r>
              <a:rPr lang="en-US" sz="1300" dirty="0">
                <a:solidFill>
                  <a:schemeClr val="tx2"/>
                </a:solidFill>
              </a:rPr>
              <a:t>why transpiled code is hard to debug</a:t>
            </a:r>
            <a:endParaRPr lang="en-US" sz="1300" dirty="0"/>
          </a:p>
        </p:txBody>
      </p:sp>
      <p:sp>
        <p:nvSpPr>
          <p:cNvPr id="7" name="rule"/>
          <p:cNvSpPr/>
          <p:nvPr/>
        </p:nvSpPr>
        <p:spPr>
          <a:xfrm>
            <a:off x="548640" y="1920240"/>
            <a:ext cx="8046720" cy="0"/>
          </a:xfrm>
          <a:prstGeom prst="line">
            <a:avLst/>
          </a:prstGeom>
          <a:noFill/>
          <a:ln w="9525">
            <a:solidFill>
              <a:srgbClr val="DADDE2"/>
            </a:solidFill>
            <a:prstDash val="solid"/>
          </a:ln>
        </p:spPr>
      </p:sp>
      <p:sp>
        <p:nvSpPr>
          <p:cNvPr id="8" name="Text 6"/>
          <p:cNvSpPr txBox="1"/>
          <p:nvPr/>
        </p:nvSpPr>
        <p:spPr>
          <a:xfrm>
            <a:off x="548640" y="2066544"/>
            <a:ext cx="548640" cy="320040"/>
          </a:xfrm>
          <a:prstGeom prst="rect">
            <a:avLst/>
          </a:prstGeom>
          <a:noFill/>
          <a:ln/>
        </p:spPr>
        <p:txBody>
          <a:bodyPr wrap="square" lIns="0" tIns="0" rIns="0" bIns="0" rtlCol="0" anchor="t"/>
          <a:lstStyle/>
          <a:p>
            <a:pPr indent="0" marL="0">
              <a:buNone/>
            </a:pPr>
            <a:r>
              <a:rPr lang="en-US" sz="1400" dirty="0">
                <a:solidFill>
                  <a:schemeClr val="accent5"/>
                </a:solidFill>
                <a:latin typeface="Consolas" pitchFamily="34" charset="0"/>
                <a:ea typeface="Consolas" pitchFamily="34" charset="-122"/>
                <a:cs typeface="Consolas" pitchFamily="34" charset="-120"/>
              </a:rPr>
              <a:t>02</a:t>
            </a:r>
            <a:endParaRPr lang="en-US" sz="1400" dirty="0"/>
          </a:p>
        </p:txBody>
      </p:sp>
      <p:sp>
        <p:nvSpPr>
          <p:cNvPr id="9" name="Text 7"/>
          <p:cNvSpPr txBox="1"/>
          <p:nvPr/>
        </p:nvSpPr>
        <p:spPr>
          <a:xfrm>
            <a:off x="1188720" y="1993392"/>
            <a:ext cx="3840480" cy="457200"/>
          </a:xfrm>
          <a:prstGeom prst="rect">
            <a:avLst/>
          </a:prstGeom>
          <a:noFill/>
          <a:ln/>
        </p:spPr>
        <p:txBody>
          <a:bodyPr wrap="square" lIns="0" tIns="0" rIns="0" bIns="0" rtlCol="0" anchor="t"/>
          <a:lstStyle/>
          <a:p>
            <a:pPr indent="0" marL="0">
              <a:buNone/>
            </a:pPr>
            <a:r>
              <a:rPr lang="en-US" sz="2200" dirty="0">
                <a:solidFill>
                  <a:schemeClr val="tx1"/>
                </a:solidFill>
                <a:latin typeface="Cambria" pitchFamily="34" charset="0"/>
                <a:ea typeface="Cambria" pitchFamily="34" charset="-122"/>
                <a:cs typeface="Cambria" pitchFamily="34" charset="-120"/>
              </a:rPr>
              <a:t>Literature survey</a:t>
            </a:r>
            <a:endParaRPr lang="en-US" sz="2200" dirty="0"/>
          </a:p>
        </p:txBody>
      </p:sp>
      <p:sp>
        <p:nvSpPr>
          <p:cNvPr id="10" name="Text 8"/>
          <p:cNvSpPr txBox="1"/>
          <p:nvPr/>
        </p:nvSpPr>
        <p:spPr>
          <a:xfrm>
            <a:off x="5120640" y="2084832"/>
            <a:ext cx="3474720" cy="365760"/>
          </a:xfrm>
          <a:prstGeom prst="rect">
            <a:avLst/>
          </a:prstGeom>
          <a:noFill/>
          <a:ln/>
        </p:spPr>
        <p:txBody>
          <a:bodyPr wrap="square" lIns="0" tIns="0" rIns="0" bIns="0" rtlCol="0" anchor="t"/>
          <a:lstStyle/>
          <a:p>
            <a:pPr indent="0" marL="0">
              <a:buNone/>
            </a:pPr>
            <a:r>
              <a:rPr lang="en-US" sz="1300" dirty="0">
                <a:solidFill>
                  <a:schemeClr val="tx2"/>
                </a:solidFill>
              </a:rPr>
              <a:t>compiler construction; debugging optimised code</a:t>
            </a:r>
            <a:endParaRPr lang="en-US" sz="1300" dirty="0"/>
          </a:p>
        </p:txBody>
      </p:sp>
      <p:sp>
        <p:nvSpPr>
          <p:cNvPr id="11" name="rule"/>
          <p:cNvSpPr/>
          <p:nvPr/>
        </p:nvSpPr>
        <p:spPr>
          <a:xfrm>
            <a:off x="548640" y="2542032"/>
            <a:ext cx="8046720" cy="0"/>
          </a:xfrm>
          <a:prstGeom prst="line">
            <a:avLst/>
          </a:prstGeom>
          <a:noFill/>
          <a:ln w="9525">
            <a:solidFill>
              <a:srgbClr val="DADDE2"/>
            </a:solidFill>
            <a:prstDash val="solid"/>
          </a:ln>
        </p:spPr>
      </p:sp>
      <p:sp>
        <p:nvSpPr>
          <p:cNvPr id="12" name="Text 10"/>
          <p:cNvSpPr txBox="1"/>
          <p:nvPr/>
        </p:nvSpPr>
        <p:spPr>
          <a:xfrm>
            <a:off x="548640" y="2688336"/>
            <a:ext cx="548640" cy="320040"/>
          </a:xfrm>
          <a:prstGeom prst="rect">
            <a:avLst/>
          </a:prstGeom>
          <a:noFill/>
          <a:ln/>
        </p:spPr>
        <p:txBody>
          <a:bodyPr wrap="square" lIns="0" tIns="0" rIns="0" bIns="0" rtlCol="0" anchor="t"/>
          <a:lstStyle/>
          <a:p>
            <a:pPr indent="0" marL="0">
              <a:buNone/>
            </a:pPr>
            <a:r>
              <a:rPr lang="en-US" sz="1400" dirty="0">
                <a:solidFill>
                  <a:schemeClr val="accent5"/>
                </a:solidFill>
                <a:latin typeface="Consolas" pitchFamily="34" charset="0"/>
                <a:ea typeface="Consolas" pitchFamily="34" charset="-122"/>
                <a:cs typeface="Consolas" pitchFamily="34" charset="-120"/>
              </a:rPr>
              <a:t>03</a:t>
            </a:r>
            <a:endParaRPr lang="en-US" sz="1400" dirty="0"/>
          </a:p>
        </p:txBody>
      </p:sp>
      <p:sp>
        <p:nvSpPr>
          <p:cNvPr id="13" name="Text 11"/>
          <p:cNvSpPr txBox="1"/>
          <p:nvPr/>
        </p:nvSpPr>
        <p:spPr>
          <a:xfrm>
            <a:off x="1188720" y="2615184"/>
            <a:ext cx="3840480" cy="457200"/>
          </a:xfrm>
          <a:prstGeom prst="rect">
            <a:avLst/>
          </a:prstGeom>
          <a:noFill/>
          <a:ln/>
        </p:spPr>
        <p:txBody>
          <a:bodyPr wrap="square" lIns="0" tIns="0" rIns="0" bIns="0" rtlCol="0" anchor="t"/>
          <a:lstStyle/>
          <a:p>
            <a:pPr indent="0" marL="0">
              <a:buNone/>
            </a:pPr>
            <a:r>
              <a:rPr lang="en-US" sz="2200" dirty="0">
                <a:solidFill>
                  <a:schemeClr val="tx1"/>
                </a:solidFill>
                <a:latin typeface="Cambria" pitchFamily="34" charset="0"/>
                <a:ea typeface="Cambria" pitchFamily="34" charset="-122"/>
                <a:cs typeface="Cambria" pitchFamily="34" charset="-120"/>
              </a:rPr>
              <a:t>Novelty</a:t>
            </a:r>
            <a:endParaRPr lang="en-US" sz="2200" dirty="0"/>
          </a:p>
        </p:txBody>
      </p:sp>
      <p:sp>
        <p:nvSpPr>
          <p:cNvPr id="14" name="Text 12"/>
          <p:cNvSpPr txBox="1"/>
          <p:nvPr/>
        </p:nvSpPr>
        <p:spPr>
          <a:xfrm>
            <a:off x="5120640" y="2706624"/>
            <a:ext cx="3474720" cy="365760"/>
          </a:xfrm>
          <a:prstGeom prst="rect">
            <a:avLst/>
          </a:prstGeom>
          <a:noFill/>
          <a:ln/>
        </p:spPr>
        <p:txBody>
          <a:bodyPr wrap="square" lIns="0" tIns="0" rIns="0" bIns="0" rtlCol="0" anchor="t"/>
          <a:lstStyle/>
          <a:p>
            <a:pPr indent="0" marL="0">
              <a:buNone/>
            </a:pPr>
            <a:r>
              <a:rPr lang="en-US" sz="1300" dirty="0">
                <a:solidFill>
                  <a:schemeClr val="tx2"/>
                </a:solidFill>
              </a:rPr>
              <a:t>positions as a verified, measured artifact</a:t>
            </a:r>
            <a:endParaRPr lang="en-US" sz="1300" dirty="0"/>
          </a:p>
        </p:txBody>
      </p:sp>
      <p:sp>
        <p:nvSpPr>
          <p:cNvPr id="15" name="rule"/>
          <p:cNvSpPr/>
          <p:nvPr/>
        </p:nvSpPr>
        <p:spPr>
          <a:xfrm>
            <a:off x="548640" y="3163824"/>
            <a:ext cx="8046720" cy="0"/>
          </a:xfrm>
          <a:prstGeom prst="line">
            <a:avLst/>
          </a:prstGeom>
          <a:noFill/>
          <a:ln w="9525">
            <a:solidFill>
              <a:srgbClr val="DADDE2"/>
            </a:solidFill>
            <a:prstDash val="solid"/>
          </a:ln>
        </p:spPr>
      </p:sp>
      <p:sp>
        <p:nvSpPr>
          <p:cNvPr id="16" name="Text 14"/>
          <p:cNvSpPr txBox="1"/>
          <p:nvPr/>
        </p:nvSpPr>
        <p:spPr>
          <a:xfrm>
            <a:off x="548640" y="3310128"/>
            <a:ext cx="548640" cy="320040"/>
          </a:xfrm>
          <a:prstGeom prst="rect">
            <a:avLst/>
          </a:prstGeom>
          <a:noFill/>
          <a:ln/>
        </p:spPr>
        <p:txBody>
          <a:bodyPr wrap="square" lIns="0" tIns="0" rIns="0" bIns="0" rtlCol="0" anchor="t"/>
          <a:lstStyle/>
          <a:p>
            <a:pPr indent="0" marL="0">
              <a:buNone/>
            </a:pPr>
            <a:r>
              <a:rPr lang="en-US" sz="1400" dirty="0">
                <a:solidFill>
                  <a:schemeClr val="accent5"/>
                </a:solidFill>
                <a:latin typeface="Consolas" pitchFamily="34" charset="0"/>
                <a:ea typeface="Consolas" pitchFamily="34" charset="-122"/>
                <a:cs typeface="Consolas" pitchFamily="34" charset="-120"/>
              </a:rPr>
              <a:t>04</a:t>
            </a:r>
            <a:endParaRPr lang="en-US" sz="1400" dirty="0"/>
          </a:p>
        </p:txBody>
      </p:sp>
      <p:sp>
        <p:nvSpPr>
          <p:cNvPr id="17" name="Text 15"/>
          <p:cNvSpPr txBox="1"/>
          <p:nvPr/>
        </p:nvSpPr>
        <p:spPr>
          <a:xfrm>
            <a:off x="1188720" y="3236976"/>
            <a:ext cx="3840480" cy="457200"/>
          </a:xfrm>
          <a:prstGeom prst="rect">
            <a:avLst/>
          </a:prstGeom>
          <a:noFill/>
          <a:ln/>
        </p:spPr>
        <p:txBody>
          <a:bodyPr wrap="square" lIns="0" tIns="0" rIns="0" bIns="0" rtlCol="0" anchor="t"/>
          <a:lstStyle/>
          <a:p>
            <a:pPr indent="0" marL="0">
              <a:buNone/>
            </a:pPr>
            <a:r>
              <a:rPr lang="en-US" sz="2200" dirty="0">
                <a:solidFill>
                  <a:schemeClr val="tx1"/>
                </a:solidFill>
                <a:latin typeface="Cambria" pitchFamily="34" charset="0"/>
                <a:ea typeface="Cambria" pitchFamily="34" charset="-122"/>
                <a:cs typeface="Cambria" pitchFamily="34" charset="-120"/>
              </a:rPr>
              <a:t>Implementation (25%)</a:t>
            </a:r>
            <a:endParaRPr lang="en-US" sz="2200" dirty="0"/>
          </a:p>
        </p:txBody>
      </p:sp>
      <p:sp>
        <p:nvSpPr>
          <p:cNvPr id="18" name="Text 16"/>
          <p:cNvSpPr txBox="1"/>
          <p:nvPr/>
        </p:nvSpPr>
        <p:spPr>
          <a:xfrm>
            <a:off x="5120640" y="3328416"/>
            <a:ext cx="3474720" cy="365760"/>
          </a:xfrm>
          <a:prstGeom prst="rect">
            <a:avLst/>
          </a:prstGeom>
          <a:noFill/>
          <a:ln/>
        </p:spPr>
        <p:txBody>
          <a:bodyPr wrap="square" lIns="0" tIns="0" rIns="0" bIns="0" rtlCol="0" anchor="t"/>
          <a:lstStyle/>
          <a:p>
            <a:pPr indent="0" marL="0">
              <a:buNone/>
            </a:pPr>
            <a:r>
              <a:rPr lang="en-US" sz="1300" dirty="0">
                <a:solidFill>
                  <a:schemeClr val="tx2"/>
                </a:solidFill>
              </a:rPr>
              <a:t>lexer, parser, diagnostics, CLI, playground</a:t>
            </a:r>
            <a:endParaRPr lang="en-US" sz="1300" dirty="0"/>
          </a:p>
        </p:txBody>
      </p:sp>
      <p:sp>
        <p:nvSpPr>
          <p:cNvPr id="19" name="rule"/>
          <p:cNvSpPr/>
          <p:nvPr/>
        </p:nvSpPr>
        <p:spPr>
          <a:xfrm>
            <a:off x="548640" y="3785616"/>
            <a:ext cx="8046720" cy="0"/>
          </a:xfrm>
          <a:prstGeom prst="line">
            <a:avLst/>
          </a:prstGeom>
          <a:noFill/>
          <a:ln w="9525">
            <a:solidFill>
              <a:srgbClr val="DADDE2"/>
            </a:solidFill>
            <a:prstDash val="solid"/>
          </a:ln>
        </p:spPr>
      </p:sp>
      <p:sp>
        <p:nvSpPr>
          <p:cNvPr id="20" name="Text 18"/>
          <p:cNvSpPr txBox="1"/>
          <p:nvPr/>
        </p:nvSpPr>
        <p:spPr>
          <a:xfrm>
            <a:off x="548640" y="3931920"/>
            <a:ext cx="548640" cy="320040"/>
          </a:xfrm>
          <a:prstGeom prst="rect">
            <a:avLst/>
          </a:prstGeom>
          <a:noFill/>
          <a:ln/>
        </p:spPr>
        <p:txBody>
          <a:bodyPr wrap="square" lIns="0" tIns="0" rIns="0" bIns="0" rtlCol="0" anchor="t"/>
          <a:lstStyle/>
          <a:p>
            <a:pPr indent="0" marL="0">
              <a:buNone/>
            </a:pPr>
            <a:r>
              <a:rPr lang="en-US" sz="1400" dirty="0">
                <a:solidFill>
                  <a:schemeClr val="accent5"/>
                </a:solidFill>
                <a:latin typeface="Consolas" pitchFamily="34" charset="0"/>
                <a:ea typeface="Consolas" pitchFamily="34" charset="-122"/>
                <a:cs typeface="Consolas" pitchFamily="34" charset="-120"/>
              </a:rPr>
              <a:t>05</a:t>
            </a:r>
            <a:endParaRPr lang="en-US" sz="1400" dirty="0"/>
          </a:p>
        </p:txBody>
      </p:sp>
      <p:sp>
        <p:nvSpPr>
          <p:cNvPr id="21" name="Text 19"/>
          <p:cNvSpPr txBox="1"/>
          <p:nvPr/>
        </p:nvSpPr>
        <p:spPr>
          <a:xfrm>
            <a:off x="1188720" y="3858768"/>
            <a:ext cx="3840480" cy="457200"/>
          </a:xfrm>
          <a:prstGeom prst="rect">
            <a:avLst/>
          </a:prstGeom>
          <a:noFill/>
          <a:ln/>
        </p:spPr>
        <p:txBody>
          <a:bodyPr wrap="square" lIns="0" tIns="0" rIns="0" bIns="0" rtlCol="0" anchor="t"/>
          <a:lstStyle/>
          <a:p>
            <a:pPr indent="0" marL="0">
              <a:buNone/>
            </a:pPr>
            <a:r>
              <a:rPr lang="en-US" sz="2200" dirty="0">
                <a:solidFill>
                  <a:schemeClr val="tx1"/>
                </a:solidFill>
                <a:latin typeface="Cambria" pitchFamily="34" charset="0"/>
                <a:ea typeface="Cambria" pitchFamily="34" charset="-122"/>
                <a:cs typeface="Cambria" pitchFamily="34" charset="-120"/>
              </a:rPr>
              <a:t>Demo and questions</a:t>
            </a:r>
            <a:endParaRPr lang="en-US" sz="2200" dirty="0"/>
          </a:p>
        </p:txBody>
      </p:sp>
      <p:sp>
        <p:nvSpPr>
          <p:cNvPr id="22" name="Text 20"/>
          <p:cNvSpPr txBox="1"/>
          <p:nvPr/>
        </p:nvSpPr>
        <p:spPr>
          <a:xfrm>
            <a:off x="5120640" y="3950208"/>
            <a:ext cx="3474720" cy="365760"/>
          </a:xfrm>
          <a:prstGeom prst="rect">
            <a:avLst/>
          </a:prstGeom>
          <a:noFill/>
          <a:ln/>
        </p:spPr>
        <p:txBody>
          <a:bodyPr wrap="square" lIns="0" tIns="0" rIns="0" bIns="0" rtlCol="0" anchor="t"/>
          <a:lstStyle/>
          <a:p>
            <a:pPr indent="0" marL="0">
              <a:buNone/>
            </a:pPr>
            <a:r>
              <a:rPr lang="en-US" sz="1300" dirty="0">
                <a:solidFill>
                  <a:schemeClr val="tx2"/>
                </a:solidFill>
              </a:rPr>
              <a:t>terminal and browser</a:t>
            </a:r>
            <a:endParaRPr lang="en-US" sz="1300" dirty="0"/>
          </a:p>
        </p:txBody>
      </p:sp>
      <p:sp>
        <p:nvSpPr>
          <p:cNvPr id="25" name="Slide Number Placeholder 0"/>
          <p:cNvSpPr>
            <a:spLocks noGrp="1"/>
          </p:cNvSpPr>
          <p:nvPr>
            <p:ph type="sldNum" sz="quarter" idx="4294967295"/>
          </p:nvPr>
        </p:nvSpPr>
        <p:spPr>
          <a:xfrm>
            <a:off x="8138160" y="25603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9AA1AC"/>
                </a:solidFill>
                <a:latin typeface="Consolas"/>
                <a:ea typeface="Consolas"/>
                <a:cs typeface="Consola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5486400" cy="228600"/>
          </a:xfrm>
          <a:prstGeom prst="rect">
            <a:avLst/>
          </a:prstGeom>
          <a:noFill/>
          <a:ln/>
        </p:spPr>
        <p:txBody>
          <a:bodyPr wrap="square" lIns="0" tIns="0" rIns="0" bIns="0" rtlCol="0"/>
          <a:lstStyle/>
          <a:p>
            <a:pPr indent="0" marL="0">
              <a:buNone/>
            </a:pPr>
            <a:r>
              <a:rPr lang="en-US" sz="1000" dirty="0">
                <a:solidFill>
                  <a:schemeClr val="accent5"/>
                </a:solidFill>
                <a:latin typeface="Consolas" pitchFamily="34" charset="0"/>
                <a:ea typeface="Consolas" pitchFamily="34" charset="-122"/>
                <a:cs typeface="Consolas" pitchFamily="34" charset="-120"/>
              </a:rPr>
              <a:t>tether / 01-problem</a:t>
            </a:r>
            <a:endParaRPr lang="en-US" sz="1000" dirty="0"/>
          </a:p>
        </p:txBody>
      </p:sp>
      <p:sp>
        <p:nvSpPr>
          <p:cNvPr id="3" name="Text 0"/>
          <p:cNvSpPr/>
          <p:nvPr>
            <p:ph idx="101" type="title" hasCustomPrompt="1"/>
          </p:nvPr>
        </p:nvSpPr>
        <p:spPr>
          <a:xfrm>
            <a:off x="548640" y="502920"/>
            <a:ext cx="8046720" cy="640080"/>
          </a:xfrm>
          <a:prstGeom prst="rect">
            <a:avLst/>
          </a:prstGeom>
          <a:noFill/>
          <a:ln/>
        </p:spPr>
        <p:txBody>
          <a:bodyPr wrap="square" lIns="0" tIns="0" rIns="0" bIns="0" rtlCol="0" anchor="t"/>
          <a:lstStyle/>
          <a:p>
            <a:pPr algn="l" indent="0" marL="0">
              <a:buNone/>
            </a:pPr>
            <a:r>
              <a:rPr lang="en-US" sz="2800" b="1" dirty="0">
                <a:solidFill>
                  <a:schemeClr val="tx1"/>
                </a:solidFill>
              </a:rPr>
              <a:t>The debugger shows code you never wrote</a:t>
            </a:r>
            <a:endParaRPr lang="en-US" sz="2800" dirty="0"/>
          </a:p>
        </p:txBody>
      </p:sp>
      <p:sp>
        <p:nvSpPr>
          <p:cNvPr id="4" name="Text 2"/>
          <p:cNvSpPr txBox="1"/>
          <p:nvPr/>
        </p:nvSpPr>
        <p:spPr>
          <a:xfrm>
            <a:off x="548640" y="1325880"/>
            <a:ext cx="3657600" cy="228600"/>
          </a:xfrm>
          <a:prstGeom prst="rect">
            <a:avLst/>
          </a:prstGeom>
          <a:noFill/>
          <a:ln/>
        </p:spPr>
        <p:txBody>
          <a:bodyPr wrap="square" lIns="0" tIns="0" rIns="0" bIns="0" rtlCol="0" anchor="t"/>
          <a:lstStyle/>
          <a:p>
            <a:pPr indent="0" marL="0">
              <a:buNone/>
            </a:pPr>
            <a:r>
              <a:rPr lang="en-US" sz="1200" dirty="0">
                <a:solidFill>
                  <a:schemeClr val="tx2"/>
                </a:solidFill>
              </a:rPr>
              <a:t>fib.tth — what you wrote</a:t>
            </a:r>
            <a:endParaRPr lang="en-US" sz="1200" dirty="0"/>
          </a:p>
        </p:txBody>
      </p:sp>
      <p:sp>
        <p:nvSpPr>
          <p:cNvPr id="5" name="Text 3"/>
          <p:cNvSpPr txBox="1"/>
          <p:nvPr/>
        </p:nvSpPr>
        <p:spPr>
          <a:xfrm>
            <a:off x="4754880" y="1325880"/>
            <a:ext cx="3840480" cy="228600"/>
          </a:xfrm>
          <a:prstGeom prst="rect">
            <a:avLst/>
          </a:prstGeom>
          <a:noFill/>
          <a:ln/>
        </p:spPr>
        <p:txBody>
          <a:bodyPr wrap="square" lIns="0" tIns="0" rIns="0" bIns="0" rtlCol="0" anchor="t"/>
          <a:lstStyle/>
          <a:p>
            <a:pPr indent="0" marL="0">
              <a:buNone/>
            </a:pPr>
            <a:r>
              <a:rPr lang="en-US" sz="1200" dirty="0">
                <a:solidFill>
                  <a:schemeClr val="tx2"/>
                </a:solidFill>
              </a:rPr>
              <a:t>fib.js — what the debugger reports</a:t>
            </a:r>
            <a:endParaRPr lang="en-US" sz="1200" dirty="0"/>
          </a:p>
        </p:txBody>
      </p:sp>
      <p:sp>
        <p:nvSpPr>
          <p:cNvPr id="6" name="code"/>
          <p:cNvSpPr/>
          <p:nvPr/>
        </p:nvSpPr>
        <p:spPr>
          <a:xfrm>
            <a:off x="548640" y="1600200"/>
            <a:ext cx="3840480" cy="1874520"/>
          </a:xfrm>
          <a:prstGeom prst="rect">
            <a:avLst/>
          </a:prstGeom>
          <a:solidFill>
            <a:schemeClr val="tx1"/>
          </a:solidFill>
          <a:ln/>
        </p:spPr>
      </p:sp>
      <p:sp>
        <p:nvSpPr>
          <p:cNvPr id="7" name="line-7"/>
          <p:cNvSpPr/>
          <p:nvPr/>
        </p:nvSpPr>
        <p:spPr>
          <a:xfrm>
            <a:off x="548640" y="2496312"/>
            <a:ext cx="3840480" cy="187452"/>
          </a:xfrm>
          <a:prstGeom prst="rect">
            <a:avLst/>
          </a:prstGeom>
          <a:solidFill>
            <a:schemeClr val="accent1">
              <a:alpha val="25000"/>
            </a:schemeClr>
          </a:solidFill>
          <a:ln/>
        </p:spPr>
      </p:sp>
      <p:sp>
        <p:nvSpPr>
          <p:cNvPr id="8" name="Text 6"/>
          <p:cNvSpPr txBox="1"/>
          <p:nvPr/>
        </p:nvSpPr>
        <p:spPr>
          <a:xfrm>
            <a:off x="731520" y="1746504"/>
            <a:ext cx="3566160" cy="1645920"/>
          </a:xfrm>
          <a:prstGeom prst="rect">
            <a:avLst/>
          </a:prstGeom>
          <a:noFill/>
          <a:ln/>
        </p:spPr>
        <p:txBody>
          <a:bodyPr wrap="square" lIns="0" tIns="0" rIns="0" bIns="0" rtlCol="0" anchor="t"/>
          <a:lstStyle/>
          <a:p>
            <a:pPr indent="0" marL="0">
              <a:lnSpc>
                <a:spcPct val="100000"/>
              </a:lnSpc>
              <a:buNone/>
            </a:pPr>
            <a:r>
              <a:rPr lang="en-US" sz="1200" dirty="0">
                <a:solidFill>
                  <a:srgbClr val="8B93A1"/>
                </a:solidFill>
                <a:latin typeface="Consolas" pitchFamily="34" charset="0"/>
                <a:ea typeface="Consolas" pitchFamily="34" charset="-122"/>
                <a:cs typeface="Consolas" pitchFamily="34" charset="-120"/>
              </a:rPr>
              <a:t> 3  </a:t>
            </a:r>
            <a:pPr indent="0" marL="0">
              <a:lnSpc>
                <a:spcPct val="100000"/>
              </a:lnSpc>
              <a:buNone/>
            </a:pPr>
            <a:r>
              <a:rPr lang="en-US" sz="1200" dirty="0">
                <a:solidFill>
                  <a:srgbClr val="E4E7EC"/>
                </a:solidFill>
                <a:latin typeface="Consolas" pitchFamily="34" charset="0"/>
                <a:ea typeface="Consolas" pitchFamily="34" charset="-122"/>
                <a:cs typeface="Consolas" pitchFamily="34" charset="-120"/>
              </a:rPr>
              <a:t>fn fib(n: int): int {</a:t>
            </a:r>
            <a:endParaRPr lang="en-US" sz="1200" dirty="0"/>
          </a:p>
          <a:p>
            <a:pPr indent="0" marL="0">
              <a:lnSpc>
                <a:spcPct val="100000"/>
              </a:lnSpc>
              <a:buNone/>
            </a:pPr>
            <a:r>
              <a:rPr lang="en-US" sz="1200" dirty="0">
                <a:solidFill>
                  <a:srgbClr val="8B93A1"/>
                </a:solidFill>
                <a:latin typeface="Consolas" pitchFamily="34" charset="0"/>
                <a:ea typeface="Consolas" pitchFamily="34" charset="-122"/>
                <a:cs typeface="Consolas" pitchFamily="34" charset="-120"/>
              </a:rPr>
              <a:t> 4  </a:t>
            </a:r>
            <a:pPr indent="0" marL="0">
              <a:lnSpc>
                <a:spcPct val="100000"/>
              </a:lnSpc>
              <a:buNone/>
            </a:pPr>
            <a:r>
              <a:rPr lang="en-US" sz="1200" dirty="0">
                <a:solidFill>
                  <a:srgbClr val="E4E7EC"/>
                </a:solidFill>
                <a:latin typeface="Consolas" pitchFamily="34" charset="0"/>
                <a:ea typeface="Consolas" pitchFamily="34" charset="-122"/>
                <a:cs typeface="Consolas" pitchFamily="34" charset="-120"/>
              </a:rPr>
              <a:t>  if (n &lt; 2) {</a:t>
            </a:r>
            <a:endParaRPr lang="en-US" sz="1200" dirty="0"/>
          </a:p>
          <a:p>
            <a:pPr indent="0" marL="0">
              <a:lnSpc>
                <a:spcPct val="100000"/>
              </a:lnSpc>
              <a:buNone/>
            </a:pPr>
            <a:r>
              <a:rPr lang="en-US" sz="1200" dirty="0">
                <a:solidFill>
                  <a:srgbClr val="8B93A1"/>
                </a:solidFill>
                <a:latin typeface="Consolas" pitchFamily="34" charset="0"/>
                <a:ea typeface="Consolas" pitchFamily="34" charset="-122"/>
                <a:cs typeface="Consolas" pitchFamily="34" charset="-120"/>
              </a:rPr>
              <a:t> 5  </a:t>
            </a:r>
            <a:pPr indent="0" marL="0">
              <a:lnSpc>
                <a:spcPct val="100000"/>
              </a:lnSpc>
              <a:buNone/>
            </a:pPr>
            <a:r>
              <a:rPr lang="en-US" sz="1200" dirty="0">
                <a:solidFill>
                  <a:srgbClr val="E4E7EC"/>
                </a:solidFill>
                <a:latin typeface="Consolas" pitchFamily="34" charset="0"/>
                <a:ea typeface="Consolas" pitchFamily="34" charset="-122"/>
                <a:cs typeface="Consolas" pitchFamily="34" charset="-120"/>
              </a:rPr>
              <a:t>    return n;</a:t>
            </a:r>
            <a:endParaRPr lang="en-US" sz="1200" dirty="0"/>
          </a:p>
          <a:p>
            <a:pPr indent="0" marL="0">
              <a:lnSpc>
                <a:spcPct val="100000"/>
              </a:lnSpc>
              <a:buNone/>
            </a:pPr>
            <a:r>
              <a:rPr lang="en-US" sz="1200" dirty="0">
                <a:solidFill>
                  <a:srgbClr val="8B93A1"/>
                </a:solidFill>
                <a:latin typeface="Consolas" pitchFamily="34" charset="0"/>
                <a:ea typeface="Consolas" pitchFamily="34" charset="-122"/>
                <a:cs typeface="Consolas" pitchFamily="34" charset="-120"/>
              </a:rPr>
              <a:t> 6  </a:t>
            </a:r>
            <a:pPr indent="0" marL="0">
              <a:lnSpc>
                <a:spcPct val="100000"/>
              </a:lnSpc>
              <a:buNone/>
            </a:pPr>
            <a:r>
              <a:rPr lang="en-US" sz="1200" dirty="0">
                <a:solidFill>
                  <a:srgbClr val="E4E7EC"/>
                </a:solidFill>
                <a:latin typeface="Consolas" pitchFamily="34" charset="0"/>
                <a:ea typeface="Consolas" pitchFamily="34" charset="-122"/>
                <a:cs typeface="Consolas" pitchFamily="34" charset="-120"/>
              </a:rPr>
              <a:t>  }</a:t>
            </a:r>
            <a:endParaRPr lang="en-US" sz="1200" dirty="0"/>
          </a:p>
          <a:p>
            <a:pPr indent="0" marL="0">
              <a:lnSpc>
                <a:spcPct val="100000"/>
              </a:lnSpc>
              <a:buNone/>
            </a:pPr>
            <a:r>
              <a:rPr lang="en-US" sz="1200" dirty="0">
                <a:solidFill>
                  <a:srgbClr val="F5B82E"/>
                </a:solidFill>
                <a:latin typeface="Consolas" pitchFamily="34" charset="0"/>
                <a:ea typeface="Consolas" pitchFamily="34" charset="-122"/>
                <a:cs typeface="Consolas" pitchFamily="34" charset="-120"/>
              </a:rPr>
              <a:t> 7  </a:t>
            </a:r>
            <a:pPr indent="0" marL="0">
              <a:lnSpc>
                <a:spcPct val="100000"/>
              </a:lnSpc>
              <a:buNone/>
            </a:pPr>
            <a:r>
              <a:rPr lang="en-US" sz="1200" dirty="0">
                <a:solidFill>
                  <a:srgbClr val="FFFFFF"/>
                </a:solidFill>
                <a:latin typeface="Consolas" pitchFamily="34" charset="0"/>
                <a:ea typeface="Consolas" pitchFamily="34" charset="-122"/>
                <a:cs typeface="Consolas" pitchFamily="34" charset="-120"/>
              </a:rPr>
              <a:t>  return fib(n - 1) + fib(n - 2);</a:t>
            </a:r>
            <a:endParaRPr lang="en-US" sz="1200" dirty="0"/>
          </a:p>
          <a:p>
            <a:pPr indent="0" marL="0">
              <a:lnSpc>
                <a:spcPct val="100000"/>
              </a:lnSpc>
              <a:buNone/>
            </a:pPr>
            <a:r>
              <a:rPr lang="en-US" sz="1200" dirty="0">
                <a:solidFill>
                  <a:srgbClr val="8B93A1"/>
                </a:solidFill>
                <a:latin typeface="Consolas" pitchFamily="34" charset="0"/>
                <a:ea typeface="Consolas" pitchFamily="34" charset="-122"/>
                <a:cs typeface="Consolas" pitchFamily="34" charset="-120"/>
              </a:rPr>
              <a:t> 8  </a:t>
            </a:r>
            <a:pPr indent="0" marL="0">
              <a:lnSpc>
                <a:spcPct val="100000"/>
              </a:lnSpc>
              <a:buNone/>
            </a:pPr>
            <a:r>
              <a:rPr lang="en-US" sz="1200" dirty="0">
                <a:solidFill>
                  <a:srgbClr val="E4E7EC"/>
                </a:solidFill>
                <a:latin typeface="Consolas" pitchFamily="34" charset="0"/>
                <a:ea typeface="Consolas" pitchFamily="34" charset="-122"/>
                <a:cs typeface="Consolas" pitchFamily="34" charset="-120"/>
              </a:rPr>
              <a:t>}</a:t>
            </a:r>
            <a:endParaRPr lang="en-US" sz="1200" dirty="0"/>
          </a:p>
        </p:txBody>
      </p:sp>
      <p:sp>
        <p:nvSpPr>
          <p:cNvPr id="9" name="code"/>
          <p:cNvSpPr/>
          <p:nvPr/>
        </p:nvSpPr>
        <p:spPr>
          <a:xfrm>
            <a:off x="4754880" y="1600200"/>
            <a:ext cx="3840480" cy="1874520"/>
          </a:xfrm>
          <a:prstGeom prst="rect">
            <a:avLst/>
          </a:prstGeom>
          <a:solidFill>
            <a:schemeClr val="tx1"/>
          </a:solidFill>
          <a:ln/>
        </p:spPr>
      </p:sp>
      <p:sp>
        <p:nvSpPr>
          <p:cNvPr id="10" name="Text 8"/>
          <p:cNvSpPr txBox="1"/>
          <p:nvPr/>
        </p:nvSpPr>
        <p:spPr>
          <a:xfrm>
            <a:off x="4937760" y="1746504"/>
            <a:ext cx="3474720" cy="1581912"/>
          </a:xfrm>
          <a:prstGeom prst="rect">
            <a:avLst/>
          </a:prstGeom>
          <a:noFill/>
          <a:ln/>
        </p:spPr>
        <p:txBody>
          <a:bodyPr wrap="square" lIns="0" tIns="0" rIns="0" bIns="0" rtlCol="0" anchor="t"/>
          <a:lstStyle/>
          <a:p>
            <a:pPr indent="0" marL="0">
              <a:lnSpc>
                <a:spcPct val="105000"/>
              </a:lnSpc>
              <a:buNone/>
            </a:pPr>
            <a:r>
              <a:rPr lang="en-US" sz="1200" dirty="0">
                <a:solidFill>
                  <a:srgbClr val="FF8A80"/>
                </a:solidFill>
                <a:latin typeface="Consolas" pitchFamily="34" charset="0"/>
                <a:ea typeface="Consolas" pitchFamily="34" charset="-122"/>
                <a:cs typeface="Consolas" pitchFamily="34" charset="-120"/>
              </a:rPr>
              <a:t>RangeError: Maximum call stack size</a:t>
            </a:r>
            <a:endParaRPr lang="en-US" sz="1200" dirty="0"/>
          </a:p>
          <a:p>
            <a:pPr indent="0" marL="0">
              <a:lnSpc>
                <a:spcPct val="105000"/>
              </a:lnSpc>
              <a:buNone/>
            </a:pPr>
            <a:r>
              <a:rPr lang="en-US" sz="1200" dirty="0">
                <a:solidFill>
                  <a:srgbClr val="FF8A80"/>
                </a:solidFill>
                <a:latin typeface="Consolas" pitchFamily="34" charset="0"/>
                <a:ea typeface="Consolas" pitchFamily="34" charset="-122"/>
                <a:cs typeface="Consolas" pitchFamily="34" charset="-120"/>
              </a:rPr>
              <a:t>  exceeded</a:t>
            </a:r>
            <a:endParaRPr lang="en-US" sz="1200" dirty="0"/>
          </a:p>
          <a:p>
            <a:pPr indent="0" marL="0">
              <a:lnSpc>
                <a:spcPct val="105000"/>
              </a:lnSpc>
              <a:buNone/>
            </a:pPr>
            <a:r>
              <a:rPr lang="en-US" sz="1200" dirty="0">
                <a:solidFill>
                  <a:srgbClr val="E4E7EC"/>
                </a:solidFill>
                <a:latin typeface="Consolas" pitchFamily="34" charset="0"/>
                <a:ea typeface="Consolas" pitchFamily="34" charset="-122"/>
                <a:cs typeface="Consolas" pitchFamily="34" charset="-120"/>
              </a:rPr>
              <a:t>    at fib (</a:t>
            </a:r>
            <a:pPr indent="0" marL="0">
              <a:lnSpc>
                <a:spcPct val="105000"/>
              </a:lnSpc>
              <a:buNone/>
            </a:pPr>
            <a:r>
              <a:rPr lang="en-US" sz="1200" dirty="0">
                <a:solidFill>
                  <a:srgbClr val="F5B82E"/>
                </a:solidFill>
                <a:latin typeface="Consolas" pitchFamily="34" charset="0"/>
                <a:ea typeface="Consolas" pitchFamily="34" charset="-122"/>
                <a:cs typeface="Consolas" pitchFamily="34" charset="-120"/>
              </a:rPr>
              <a:t>fib.js:5:12</a:t>
            </a:r>
            <a:pPr indent="0" marL="0">
              <a:lnSpc>
                <a:spcPct val="105000"/>
              </a:lnSpc>
              <a:buNone/>
            </a:pPr>
            <a:r>
              <a:rPr lang="en-US" sz="1200" dirty="0">
                <a:solidFill>
                  <a:srgbClr val="E4E7EC"/>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4E7EC"/>
                </a:solidFill>
                <a:latin typeface="Consolas" pitchFamily="34" charset="0"/>
                <a:ea typeface="Consolas" pitchFamily="34" charset="-122"/>
                <a:cs typeface="Consolas" pitchFamily="34" charset="-120"/>
              </a:rPr>
              <a:t>    at fib (</a:t>
            </a:r>
            <a:pPr indent="0" marL="0">
              <a:lnSpc>
                <a:spcPct val="105000"/>
              </a:lnSpc>
              <a:buNone/>
            </a:pPr>
            <a:r>
              <a:rPr lang="en-US" sz="1200" dirty="0">
                <a:solidFill>
                  <a:srgbClr val="F5B82E"/>
                </a:solidFill>
                <a:latin typeface="Consolas" pitchFamily="34" charset="0"/>
                <a:ea typeface="Consolas" pitchFamily="34" charset="-122"/>
                <a:cs typeface="Consolas" pitchFamily="34" charset="-120"/>
              </a:rPr>
              <a:t>fib.js:5:12</a:t>
            </a:r>
            <a:pPr indent="0" marL="0">
              <a:lnSpc>
                <a:spcPct val="105000"/>
              </a:lnSpc>
              <a:buNone/>
            </a:pPr>
            <a:r>
              <a:rPr lang="en-US" sz="1200" dirty="0">
                <a:solidFill>
                  <a:srgbClr val="E4E7EC"/>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4E7EC"/>
                </a:solidFill>
                <a:latin typeface="Consolas" pitchFamily="34" charset="0"/>
                <a:ea typeface="Consolas" pitchFamily="34" charset="-122"/>
                <a:cs typeface="Consolas" pitchFamily="34" charset="-120"/>
              </a:rPr>
              <a:t>    at fib (</a:t>
            </a:r>
            <a:pPr indent="0" marL="0">
              <a:lnSpc>
                <a:spcPct val="105000"/>
              </a:lnSpc>
              <a:buNone/>
            </a:pPr>
            <a:r>
              <a:rPr lang="en-US" sz="1200" dirty="0">
                <a:solidFill>
                  <a:srgbClr val="F5B82E"/>
                </a:solidFill>
                <a:latin typeface="Consolas" pitchFamily="34" charset="0"/>
                <a:ea typeface="Consolas" pitchFamily="34" charset="-122"/>
                <a:cs typeface="Consolas" pitchFamily="34" charset="-120"/>
              </a:rPr>
              <a:t>fib.js:5:12</a:t>
            </a:r>
            <a:pPr indent="0" marL="0">
              <a:lnSpc>
                <a:spcPct val="105000"/>
              </a:lnSpc>
              <a:buNone/>
            </a:pPr>
            <a:r>
              <a:rPr lang="en-US" sz="1200" dirty="0">
                <a:solidFill>
                  <a:srgbClr val="E4E7EC"/>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8B93A1"/>
                </a:solidFill>
                <a:latin typeface="Consolas" pitchFamily="34" charset="0"/>
                <a:ea typeface="Consolas" pitchFamily="34" charset="-122"/>
                <a:cs typeface="Consolas" pitchFamily="34" charset="-120"/>
              </a:rPr>
              <a:t>    …</a:t>
            </a:r>
            <a:endParaRPr lang="en-US" sz="1200" dirty="0"/>
          </a:p>
        </p:txBody>
      </p:sp>
      <p:sp>
        <p:nvSpPr>
          <p:cNvPr id="11" name="Text 9"/>
          <p:cNvSpPr txBox="1"/>
          <p:nvPr/>
        </p:nvSpPr>
        <p:spPr>
          <a:xfrm>
            <a:off x="4389120" y="2286000"/>
            <a:ext cx="365760" cy="365760"/>
          </a:xfrm>
          <a:prstGeom prst="rect">
            <a:avLst/>
          </a:prstGeom>
          <a:noFill/>
          <a:ln/>
        </p:spPr>
        <p:txBody>
          <a:bodyPr wrap="square" lIns="0" tIns="0" rIns="0" bIns="0" rtlCol="0" anchor="t"/>
          <a:lstStyle/>
          <a:p>
            <a:pPr algn="ctr" indent="0" marL="0">
              <a:buNone/>
            </a:pPr>
            <a:r>
              <a:rPr lang="en-US" sz="2200" dirty="0">
                <a:solidFill>
                  <a:schemeClr val="accent5"/>
                </a:solidFill>
              </a:rPr>
              <a:t>→</a:t>
            </a:r>
            <a:endParaRPr lang="en-US" sz="2200" dirty="0"/>
          </a:p>
        </p:txBody>
      </p:sp>
      <p:sp>
        <p:nvSpPr>
          <p:cNvPr id="12" name="Text 10"/>
          <p:cNvSpPr txBox="1"/>
          <p:nvPr/>
        </p:nvSpPr>
        <p:spPr>
          <a:xfrm>
            <a:off x="548640" y="3703320"/>
            <a:ext cx="8046720" cy="548640"/>
          </a:xfrm>
          <a:prstGeom prst="rect">
            <a:avLst/>
          </a:prstGeom>
          <a:noFill/>
          <a:ln/>
        </p:spPr>
        <p:txBody>
          <a:bodyPr wrap="square" lIns="0" tIns="0" rIns="0" bIns="0" rtlCol="0" anchor="t"/>
          <a:lstStyle/>
          <a:p>
            <a:pPr indent="0" marL="0">
              <a:buNone/>
            </a:pPr>
            <a:r>
              <a:rPr lang="en-US" sz="1500" dirty="0">
                <a:solidFill>
                  <a:schemeClr val="tx1"/>
                </a:solidFill>
              </a:rPr>
              <a:t>The error is on line 7 of </a:t>
            </a:r>
            <a:pPr indent="0" marL="0">
              <a:buNone/>
            </a:pPr>
            <a:r>
              <a:rPr lang="en-US" sz="1500" dirty="0">
                <a:solidFill>
                  <a:schemeClr val="tx1"/>
                </a:solidFill>
                <a:latin typeface="Consolas" pitchFamily="34" charset="0"/>
                <a:ea typeface="Consolas" pitchFamily="34" charset="-122"/>
                <a:cs typeface="Consolas" pitchFamily="34" charset="-120"/>
              </a:rPr>
              <a:t>fib.tth</a:t>
            </a:r>
            <a:pPr indent="0" marL="0">
              <a:buNone/>
            </a:pPr>
            <a:r>
              <a:rPr lang="en-US" sz="1500" dirty="0">
                <a:solidFill>
                  <a:schemeClr val="tx1"/>
                </a:solidFill>
              </a:rPr>
              <a:t>, but the stack trace points into generated code. A </a:t>
            </a:r>
            <a:pPr indent="0" marL="0">
              <a:buNone/>
            </a:pPr>
            <a:r>
              <a:rPr lang="en-US" sz="1500" b="1" dirty="0">
                <a:solidFill>
                  <a:schemeClr val="tx1"/>
                </a:solidFill>
              </a:rPr>
              <a:t>source map</a:t>
            </a:r>
            <a:pPr indent="0" marL="0">
              <a:buNone/>
            </a:pPr>
            <a:r>
              <a:rPr lang="en-US" sz="1500" dirty="0">
                <a:solidFill>
                  <a:schemeClr val="tx1"/>
                </a:solidFill>
              </a:rPr>
              <a:t> is the file that translates one position into the other.</a:t>
            </a:r>
            <a:endParaRPr lang="en-US" sz="1500" dirty="0"/>
          </a:p>
        </p:txBody>
      </p:sp>
      <p:sp>
        <p:nvSpPr>
          <p:cNvPr id="13" name="Text 11"/>
          <p:cNvSpPr txBox="1"/>
          <p:nvPr/>
        </p:nvSpPr>
        <p:spPr>
          <a:xfrm>
            <a:off x="548640" y="4343400"/>
            <a:ext cx="8046720" cy="228600"/>
          </a:xfrm>
          <a:prstGeom prst="rect">
            <a:avLst/>
          </a:prstGeom>
          <a:noFill/>
          <a:ln/>
        </p:spPr>
        <p:txBody>
          <a:bodyPr wrap="square" lIns="0" tIns="0" rIns="0" bIns="0" rtlCol="0" anchor="t"/>
          <a:lstStyle/>
          <a:p>
            <a:pPr indent="0" marL="0">
              <a:buNone/>
            </a:pPr>
            <a:r>
              <a:rPr lang="en-US" sz="1050" i="1" dirty="0">
                <a:solidFill>
                  <a:schemeClr val="accent5"/>
                </a:solidFill>
              </a:rPr>
              <a:t>Illustrative output. JavaScript generation arrives in milestone 4.</a:t>
            </a:r>
            <a:endParaRPr lang="en-US" sz="1050" dirty="0"/>
          </a:p>
        </p:txBody>
      </p:sp>
      <p:sp>
        <p:nvSpPr>
          <p:cNvPr id="25" name="Slide Number Placeholder 0"/>
          <p:cNvSpPr>
            <a:spLocks noGrp="1"/>
          </p:cNvSpPr>
          <p:nvPr>
            <p:ph type="sldNum" sz="quarter" idx="4294967295"/>
          </p:nvPr>
        </p:nvSpPr>
        <p:spPr>
          <a:xfrm>
            <a:off x="8138160" y="25603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9AA1AC"/>
                </a:solidFill>
                <a:latin typeface="Consolas"/>
                <a:ea typeface="Consolas"/>
                <a:cs typeface="Consola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5486400" cy="228600"/>
          </a:xfrm>
          <a:prstGeom prst="rect">
            <a:avLst/>
          </a:prstGeom>
          <a:noFill/>
          <a:ln/>
        </p:spPr>
        <p:txBody>
          <a:bodyPr wrap="square" lIns="0" tIns="0" rIns="0" bIns="0" rtlCol="0"/>
          <a:lstStyle/>
          <a:p>
            <a:pPr indent="0" marL="0">
              <a:buNone/>
            </a:pPr>
            <a:r>
              <a:rPr lang="en-US" sz="1000" dirty="0">
                <a:solidFill>
                  <a:schemeClr val="accent5"/>
                </a:solidFill>
                <a:latin typeface="Consolas" pitchFamily="34" charset="0"/>
                <a:ea typeface="Consolas" pitchFamily="34" charset="-122"/>
                <a:cs typeface="Consolas" pitchFamily="34" charset="-120"/>
              </a:rPr>
              <a:t>tether / 01-problem</a:t>
            </a:r>
            <a:endParaRPr lang="en-US" sz="1000" dirty="0"/>
          </a:p>
        </p:txBody>
      </p:sp>
      <p:sp>
        <p:nvSpPr>
          <p:cNvPr id="3" name="Text 0"/>
          <p:cNvSpPr/>
          <p:nvPr>
            <p:ph idx="101" type="title" hasCustomPrompt="1"/>
          </p:nvPr>
        </p:nvSpPr>
        <p:spPr>
          <a:xfrm>
            <a:off x="548640" y="502920"/>
            <a:ext cx="8046720" cy="640080"/>
          </a:xfrm>
          <a:prstGeom prst="rect">
            <a:avLst/>
          </a:prstGeom>
          <a:noFill/>
          <a:ln/>
        </p:spPr>
        <p:txBody>
          <a:bodyPr wrap="square" lIns="0" tIns="0" rIns="0" bIns="0" rtlCol="0" anchor="t"/>
          <a:lstStyle/>
          <a:p>
            <a:pPr algn="l" indent="0" marL="0">
              <a:buNone/>
            </a:pPr>
            <a:r>
              <a:rPr lang="en-US" sz="2800" b="1" dirty="0">
                <a:solidFill>
                  <a:schemeClr val="tx1"/>
                </a:solidFill>
              </a:rPr>
              <a:t>Problem statement</a:t>
            </a:r>
            <a:endParaRPr lang="en-US" sz="2800" dirty="0"/>
          </a:p>
        </p:txBody>
      </p:sp>
      <p:sp>
        <p:nvSpPr>
          <p:cNvPr id="4" name="Text 2"/>
          <p:cNvSpPr txBox="1"/>
          <p:nvPr/>
        </p:nvSpPr>
        <p:spPr>
          <a:xfrm>
            <a:off x="548640" y="1325880"/>
            <a:ext cx="7863840" cy="1280160"/>
          </a:xfrm>
          <a:prstGeom prst="rect">
            <a:avLst/>
          </a:prstGeom>
          <a:noFill/>
          <a:ln/>
        </p:spPr>
        <p:txBody>
          <a:bodyPr wrap="square" lIns="0" tIns="0" rIns="0" bIns="0" rtlCol="0" anchor="t"/>
          <a:lstStyle/>
          <a:p>
            <a:pPr indent="0" marL="0">
              <a:lnSpc>
                <a:spcPct val="110000"/>
              </a:lnSpc>
              <a:buNone/>
            </a:pPr>
            <a:r>
              <a:rPr lang="en-US" sz="2200" dirty="0">
                <a:solidFill>
                  <a:schemeClr val="tx1"/>
                </a:solidFill>
                <a:latin typeface="Cambria" pitchFamily="34" charset="0"/>
                <a:ea typeface="Cambria" pitchFamily="34" charset="-122"/>
                <a:cs typeface="Cambria" pitchFamily="34" charset="-120"/>
              </a:rPr>
              <a:t>Transpiled programs should be debuggable in their original source. That needs every compiler phase to keep exact source positions — and a way to prove the final map is right.</a:t>
            </a:r>
            <a:endParaRPr lang="en-US" sz="2200" dirty="0"/>
          </a:p>
        </p:txBody>
      </p:sp>
      <p:sp>
        <p:nvSpPr>
          <p:cNvPr id="5" name="rule"/>
          <p:cNvSpPr/>
          <p:nvPr/>
        </p:nvSpPr>
        <p:spPr>
          <a:xfrm>
            <a:off x="548640" y="2834640"/>
            <a:ext cx="8046720" cy="0"/>
          </a:xfrm>
          <a:prstGeom prst="line">
            <a:avLst/>
          </a:prstGeom>
          <a:noFill/>
          <a:ln w="9525">
            <a:solidFill>
              <a:srgbClr val="DADDE2"/>
            </a:solidFill>
            <a:prstDash val="solid"/>
          </a:ln>
        </p:spPr>
      </p:sp>
      <p:sp>
        <p:nvSpPr>
          <p:cNvPr id="6" name="Text 4"/>
          <p:cNvSpPr txBox="1"/>
          <p:nvPr/>
        </p:nvSpPr>
        <p:spPr>
          <a:xfrm>
            <a:off x="548640" y="3017520"/>
            <a:ext cx="457200" cy="274320"/>
          </a:xfrm>
          <a:prstGeom prst="rect">
            <a:avLst/>
          </a:prstGeom>
          <a:noFill/>
          <a:ln/>
        </p:spPr>
        <p:txBody>
          <a:bodyPr wrap="square" lIns="0" tIns="0" rIns="0" bIns="0" rtlCol="0" anchor="t"/>
          <a:lstStyle/>
          <a:p>
            <a:pPr indent="0" marL="0">
              <a:buNone/>
            </a:pPr>
            <a:r>
              <a:rPr lang="en-US" sz="1300" dirty="0">
                <a:solidFill>
                  <a:schemeClr val="accent4"/>
                </a:solidFill>
                <a:latin typeface="Consolas" pitchFamily="34" charset="0"/>
                <a:ea typeface="Consolas" pitchFamily="34" charset="-122"/>
                <a:cs typeface="Consolas" pitchFamily="34" charset="-120"/>
              </a:rPr>
              <a:t>(a)</a:t>
            </a:r>
            <a:endParaRPr lang="en-US" sz="1300" dirty="0"/>
          </a:p>
        </p:txBody>
      </p:sp>
      <p:sp>
        <p:nvSpPr>
          <p:cNvPr id="7" name="Text 5"/>
          <p:cNvSpPr txBox="1"/>
          <p:nvPr/>
        </p:nvSpPr>
        <p:spPr>
          <a:xfrm>
            <a:off x="960120" y="2999232"/>
            <a:ext cx="2103120" cy="548640"/>
          </a:xfrm>
          <a:prstGeom prst="rect">
            <a:avLst/>
          </a:prstGeom>
          <a:noFill/>
          <a:ln/>
        </p:spPr>
        <p:txBody>
          <a:bodyPr wrap="square" lIns="0" tIns="0" rIns="0" bIns="0" rtlCol="0" anchor="t"/>
          <a:lstStyle/>
          <a:p>
            <a:pPr indent="0" marL="0">
              <a:buNone/>
            </a:pPr>
            <a:r>
              <a:rPr lang="en-US" sz="1500" b="1" dirty="0">
                <a:solidFill>
                  <a:schemeClr val="tx1"/>
                </a:solidFill>
              </a:rPr>
              <a:t>Positions are dropped early</a:t>
            </a:r>
            <a:endParaRPr lang="en-US" sz="1500" dirty="0"/>
          </a:p>
        </p:txBody>
      </p:sp>
      <p:sp>
        <p:nvSpPr>
          <p:cNvPr id="8" name="Text 6"/>
          <p:cNvSpPr txBox="1"/>
          <p:nvPr/>
        </p:nvSpPr>
        <p:spPr>
          <a:xfrm>
            <a:off x="960120" y="3611880"/>
            <a:ext cx="2148840" cy="914400"/>
          </a:xfrm>
          <a:prstGeom prst="rect">
            <a:avLst/>
          </a:prstGeom>
          <a:noFill/>
          <a:ln/>
        </p:spPr>
        <p:txBody>
          <a:bodyPr wrap="square" lIns="0" tIns="0" rIns="0" bIns="0" rtlCol="0" anchor="t"/>
          <a:lstStyle/>
          <a:p>
            <a:pPr indent="0" marL="0">
              <a:buNone/>
            </a:pPr>
            <a:r>
              <a:rPr lang="en-US" sz="1300" dirty="0">
                <a:solidFill>
                  <a:schemeClr val="tx2"/>
                </a:solidFill>
              </a:rPr>
              <a:t>Teaching compilers use line numbers for one error message, then throw them away.</a:t>
            </a:r>
            <a:endParaRPr lang="en-US" sz="1300" dirty="0"/>
          </a:p>
        </p:txBody>
      </p:sp>
      <p:sp>
        <p:nvSpPr>
          <p:cNvPr id="9" name="Text 7"/>
          <p:cNvSpPr txBox="1"/>
          <p:nvPr/>
        </p:nvSpPr>
        <p:spPr>
          <a:xfrm>
            <a:off x="3291840" y="3017520"/>
            <a:ext cx="457200" cy="274320"/>
          </a:xfrm>
          <a:prstGeom prst="rect">
            <a:avLst/>
          </a:prstGeom>
          <a:noFill/>
          <a:ln/>
        </p:spPr>
        <p:txBody>
          <a:bodyPr wrap="square" lIns="0" tIns="0" rIns="0" bIns="0" rtlCol="0" anchor="t"/>
          <a:lstStyle/>
          <a:p>
            <a:pPr indent="0" marL="0">
              <a:buNone/>
            </a:pPr>
            <a:r>
              <a:rPr lang="en-US" sz="1300" dirty="0">
                <a:solidFill>
                  <a:schemeClr val="accent4"/>
                </a:solidFill>
                <a:latin typeface="Consolas" pitchFamily="34" charset="0"/>
                <a:ea typeface="Consolas" pitchFamily="34" charset="-122"/>
                <a:cs typeface="Consolas" pitchFamily="34" charset="-120"/>
              </a:rPr>
              <a:t>(b)</a:t>
            </a:r>
            <a:endParaRPr lang="en-US" sz="1300" dirty="0"/>
          </a:p>
        </p:txBody>
      </p:sp>
      <p:sp>
        <p:nvSpPr>
          <p:cNvPr id="10" name="Text 8"/>
          <p:cNvSpPr txBox="1"/>
          <p:nvPr/>
        </p:nvSpPr>
        <p:spPr>
          <a:xfrm>
            <a:off x="3703320" y="2999232"/>
            <a:ext cx="2103120" cy="548640"/>
          </a:xfrm>
          <a:prstGeom prst="rect">
            <a:avLst/>
          </a:prstGeom>
          <a:noFill/>
          <a:ln/>
        </p:spPr>
        <p:txBody>
          <a:bodyPr wrap="square" lIns="0" tIns="0" rIns="0" bIns="0" rtlCol="0" anchor="t"/>
          <a:lstStyle/>
          <a:p>
            <a:pPr indent="0" marL="0">
              <a:buNone/>
            </a:pPr>
            <a:r>
              <a:rPr lang="en-US" sz="1500" b="1" dirty="0">
                <a:solidFill>
                  <a:schemeClr val="tx1"/>
                </a:solidFill>
              </a:rPr>
              <a:t>Wrong maps fail silently</a:t>
            </a:r>
            <a:endParaRPr lang="en-US" sz="1500" dirty="0"/>
          </a:p>
        </p:txBody>
      </p:sp>
      <p:sp>
        <p:nvSpPr>
          <p:cNvPr id="11" name="Text 9"/>
          <p:cNvSpPr txBox="1"/>
          <p:nvPr/>
        </p:nvSpPr>
        <p:spPr>
          <a:xfrm>
            <a:off x="3703320" y="3611880"/>
            <a:ext cx="2148840" cy="914400"/>
          </a:xfrm>
          <a:prstGeom prst="rect">
            <a:avLst/>
          </a:prstGeom>
          <a:noFill/>
          <a:ln/>
        </p:spPr>
        <p:txBody>
          <a:bodyPr wrap="square" lIns="0" tIns="0" rIns="0" bIns="0" rtlCol="0" anchor="t"/>
          <a:lstStyle/>
          <a:p>
            <a:pPr indent="0" marL="0">
              <a:buNone/>
            </a:pPr>
            <a:r>
              <a:rPr lang="en-US" sz="1300" dirty="0">
                <a:solidFill>
                  <a:schemeClr val="tx2"/>
                </a:solidFill>
              </a:rPr>
              <a:t>A map with a delta-encoding bug still loads; it just points at the wrong line.</a:t>
            </a:r>
            <a:endParaRPr lang="en-US" sz="1300" dirty="0"/>
          </a:p>
        </p:txBody>
      </p:sp>
      <p:sp>
        <p:nvSpPr>
          <p:cNvPr id="12" name="Text 10"/>
          <p:cNvSpPr txBox="1"/>
          <p:nvPr/>
        </p:nvSpPr>
        <p:spPr>
          <a:xfrm>
            <a:off x="6035040" y="3017520"/>
            <a:ext cx="457200" cy="274320"/>
          </a:xfrm>
          <a:prstGeom prst="rect">
            <a:avLst/>
          </a:prstGeom>
          <a:noFill/>
          <a:ln/>
        </p:spPr>
        <p:txBody>
          <a:bodyPr wrap="square" lIns="0" tIns="0" rIns="0" bIns="0" rtlCol="0" anchor="t"/>
          <a:lstStyle/>
          <a:p>
            <a:pPr indent="0" marL="0">
              <a:buNone/>
            </a:pPr>
            <a:r>
              <a:rPr lang="en-US" sz="1300" dirty="0">
                <a:solidFill>
                  <a:schemeClr val="accent4"/>
                </a:solidFill>
                <a:latin typeface="Consolas" pitchFamily="34" charset="0"/>
                <a:ea typeface="Consolas" pitchFamily="34" charset="-122"/>
                <a:cs typeface="Consolas" pitchFamily="34" charset="-120"/>
              </a:rPr>
              <a:t>(c)</a:t>
            </a:r>
            <a:endParaRPr lang="en-US" sz="1300" dirty="0"/>
          </a:p>
        </p:txBody>
      </p:sp>
      <p:sp>
        <p:nvSpPr>
          <p:cNvPr id="13" name="Text 11"/>
          <p:cNvSpPr txBox="1"/>
          <p:nvPr/>
        </p:nvSpPr>
        <p:spPr>
          <a:xfrm>
            <a:off x="6446520" y="2999232"/>
            <a:ext cx="2103120" cy="548640"/>
          </a:xfrm>
          <a:prstGeom prst="rect">
            <a:avLst/>
          </a:prstGeom>
          <a:noFill/>
          <a:ln/>
        </p:spPr>
        <p:txBody>
          <a:bodyPr wrap="square" lIns="0" tIns="0" rIns="0" bIns="0" rtlCol="0" anchor="t"/>
          <a:lstStyle/>
          <a:p>
            <a:pPr indent="0" marL="0">
              <a:buNone/>
            </a:pPr>
            <a:r>
              <a:rPr lang="en-US" sz="1500" b="1" dirty="0">
                <a:solidFill>
                  <a:schemeClr val="tx1"/>
                </a:solidFill>
              </a:rPr>
              <a:t>Optimisation erodes debuggability</a:t>
            </a:r>
            <a:endParaRPr lang="en-US" sz="1500" dirty="0"/>
          </a:p>
        </p:txBody>
      </p:sp>
      <p:sp>
        <p:nvSpPr>
          <p:cNvPr id="14" name="Text 12"/>
          <p:cNvSpPr txBox="1"/>
          <p:nvPr/>
        </p:nvSpPr>
        <p:spPr>
          <a:xfrm>
            <a:off x="6446520" y="3611880"/>
            <a:ext cx="2148840" cy="914400"/>
          </a:xfrm>
          <a:prstGeom prst="rect">
            <a:avLst/>
          </a:prstGeom>
          <a:noFill/>
          <a:ln/>
        </p:spPr>
        <p:txBody>
          <a:bodyPr wrap="square" lIns="0" tIns="0" rIns="0" bIns="0" rtlCol="0" anchor="t"/>
          <a:lstStyle/>
          <a:p>
            <a:pPr indent="0" marL="0">
              <a:buNone/>
            </a:pPr>
            <a:r>
              <a:rPr lang="en-US" sz="1300" dirty="0">
                <a:solidFill>
                  <a:schemeClr val="tx2"/>
                </a:solidFill>
              </a:rPr>
              <a:t>Folding and dead-code removal erase positions, and the loss is rarely measured.</a:t>
            </a:r>
            <a:endParaRPr lang="en-US" sz="1300" dirty="0"/>
          </a:p>
        </p:txBody>
      </p:sp>
      <p:sp>
        <p:nvSpPr>
          <p:cNvPr id="25" name="Slide Number Placeholder 0"/>
          <p:cNvSpPr>
            <a:spLocks noGrp="1"/>
          </p:cNvSpPr>
          <p:nvPr>
            <p:ph type="sldNum" sz="quarter" idx="4294967295"/>
          </p:nvPr>
        </p:nvSpPr>
        <p:spPr>
          <a:xfrm>
            <a:off x="8138160" y="25603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9AA1AC"/>
                </a:solidFill>
                <a:latin typeface="Consolas"/>
                <a:ea typeface="Consolas"/>
                <a:cs typeface="Consola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5486400" cy="228600"/>
          </a:xfrm>
          <a:prstGeom prst="rect">
            <a:avLst/>
          </a:prstGeom>
          <a:noFill/>
          <a:ln/>
        </p:spPr>
        <p:txBody>
          <a:bodyPr wrap="square" lIns="0" tIns="0" rIns="0" bIns="0" rtlCol="0"/>
          <a:lstStyle/>
          <a:p>
            <a:pPr indent="0" marL="0">
              <a:buNone/>
            </a:pPr>
            <a:r>
              <a:rPr lang="en-US" sz="1000" dirty="0">
                <a:solidFill>
                  <a:schemeClr val="accent5"/>
                </a:solidFill>
                <a:latin typeface="Consolas" pitchFamily="34" charset="0"/>
                <a:ea typeface="Consolas" pitchFamily="34" charset="-122"/>
                <a:cs typeface="Consolas" pitchFamily="34" charset="-120"/>
              </a:rPr>
              <a:t>tether / 01-objectives</a:t>
            </a:r>
            <a:endParaRPr lang="en-US" sz="1000" dirty="0"/>
          </a:p>
        </p:txBody>
      </p:sp>
      <p:sp>
        <p:nvSpPr>
          <p:cNvPr id="3" name="Text 0"/>
          <p:cNvSpPr/>
          <p:nvPr>
            <p:ph idx="101" type="title" hasCustomPrompt="1"/>
          </p:nvPr>
        </p:nvSpPr>
        <p:spPr>
          <a:xfrm>
            <a:off x="548640" y="502920"/>
            <a:ext cx="8046720" cy="640080"/>
          </a:xfrm>
          <a:prstGeom prst="rect">
            <a:avLst/>
          </a:prstGeom>
          <a:noFill/>
          <a:ln/>
        </p:spPr>
        <p:txBody>
          <a:bodyPr wrap="square" lIns="0" tIns="0" rIns="0" bIns="0" rtlCol="0" anchor="t"/>
          <a:lstStyle/>
          <a:p>
            <a:pPr algn="l" indent="0" marL="0">
              <a:buNone/>
            </a:pPr>
            <a:r>
              <a:rPr lang="en-US" sz="2800" b="1" dirty="0">
                <a:solidFill>
                  <a:schemeClr val="tx1"/>
                </a:solidFill>
              </a:rPr>
              <a:t>Objectives</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8046720" cy="914400"/>
        </p:xfrm>
        <a:graphic>
          <a:graphicData uri="http://schemas.openxmlformats.org/drawingml/2006/table">
            <a:tbl>
              <a:tblPr/>
              <a:tblGrid>
                <a:gridCol w="640080"/>
                <a:gridCol w="5486400"/>
                <a:gridCol w="1920240"/>
              </a:tblGrid>
              <a:tr h="475488">
                <a:tc>
                  <a:txBody>
                    <a:bodyPr/>
                    <a:lstStyle/>
                    <a:p>
                      <a:pPr indent="0" marL="0">
                        <a:buNone/>
                      </a:pPr>
                      <a:endParaRPr lang="en-US" sz="1100" dirty="0"/>
                    </a:p>
                  </a:txBody>
                  <a:tcPr marL="91440" marR="91440" marT="64008" marB="64008" anchor="ctr">
                    <a:lnL w="0" cap="flat" cmpd="sng" algn="ctr">
                      <a:noFill/>
                    </a:lnL>
                    <a:lnR w="0" cap="flat" cmpd="sng" algn="ctr">
                      <a:noFill/>
                    </a:lnR>
                    <a:lnT w="0" cap="flat" cmpd="sng" algn="ctr">
                      <a:noFill/>
                    </a:lnT>
                    <a:lnB w="12700" cap="flat" cmpd="sng" algn="ctr">
                      <a:solidFill>
                        <a:srgbClr val="15181D"/>
                      </a:solidFill>
                      <a:prstDash val="solid"/>
                      <a:round/>
                      <a:headEnd type="none" w="med" len="med"/>
                      <a:tailEnd type="none" w="med" len="med"/>
                    </a:lnB>
                  </a:tcPr>
                </a:tc>
                <a:tc>
                  <a:txBody>
                    <a:bodyPr/>
                    <a:lstStyle/>
                    <a:p>
                      <a:pPr indent="0" marL="0">
                        <a:buNone/>
                      </a:pPr>
                      <a:r>
                        <a:rPr lang="en-US" sz="1100" b="1" dirty="0">
                          <a:solidFill>
                            <a:srgbClr val="4A5260"/>
                          </a:solidFill>
                        </a:rPr>
                        <a:t>Objective</a:t>
                      </a:r>
                      <a:endParaRPr lang="en-US" sz="1100" dirty="0"/>
                    </a:p>
                  </a:txBody>
                  <a:tcPr marL="91440" marR="91440" marT="64008" marB="64008" anchor="ctr">
                    <a:lnL w="0" cap="flat" cmpd="sng" algn="ctr">
                      <a:noFill/>
                    </a:lnL>
                    <a:lnR w="0" cap="flat" cmpd="sng" algn="ctr">
                      <a:noFill/>
                    </a:lnR>
                    <a:lnT w="0" cap="flat" cmpd="sng" algn="ctr">
                      <a:noFill/>
                    </a:lnT>
                    <a:lnB w="12700" cap="flat" cmpd="sng" algn="ctr">
                      <a:solidFill>
                        <a:srgbClr val="15181D"/>
                      </a:solidFill>
                      <a:prstDash val="solid"/>
                      <a:round/>
                      <a:headEnd type="none" w="med" len="med"/>
                      <a:tailEnd type="none" w="med" len="med"/>
                    </a:lnB>
                  </a:tcPr>
                </a:tc>
                <a:tc>
                  <a:txBody>
                    <a:bodyPr/>
                    <a:lstStyle/>
                    <a:p>
                      <a:pPr indent="0" marL="0">
                        <a:buNone/>
                      </a:pPr>
                      <a:r>
                        <a:rPr lang="en-US" sz="1100" b="1" dirty="0">
                          <a:solidFill>
                            <a:srgbClr val="4A5260"/>
                          </a:solidFill>
                        </a:rPr>
                        <a:t>Status at 25%</a:t>
                      </a:r>
                      <a:endParaRPr lang="en-US" sz="1100" dirty="0"/>
                    </a:p>
                  </a:txBody>
                  <a:tcPr marL="91440" marR="91440" marT="64008" marB="64008" anchor="ctr">
                    <a:lnL w="0" cap="flat" cmpd="sng" algn="ctr">
                      <a:noFill/>
                    </a:lnL>
                    <a:lnR w="0" cap="flat" cmpd="sng" algn="ctr">
                      <a:noFill/>
                    </a:lnR>
                    <a:lnT w="0" cap="flat" cmpd="sng" algn="ctr">
                      <a:noFill/>
                    </a:lnT>
                    <a:lnB w="12700" cap="flat" cmpd="sng" algn="ctr">
                      <a:solidFill>
                        <a:srgbClr val="15181D"/>
                      </a:solidFill>
                      <a:prstDash val="solid"/>
                      <a:round/>
                      <a:headEnd type="none" w="med" len="med"/>
                      <a:tailEnd type="none" w="med" len="med"/>
                    </a:lnB>
                  </a:tcPr>
                </a:tc>
              </a:tr>
              <a:tr h="475488">
                <a:tc>
                  <a:txBody>
                    <a:bodyPr/>
                    <a:lstStyle/>
                    <a:p>
                      <a:pPr indent="0" marL="0">
                        <a:buNone/>
                      </a:pPr>
                      <a:r>
                        <a:rPr lang="en-US" sz="1300" dirty="0">
                          <a:solidFill>
                            <a:srgbClr val="4A5260"/>
                          </a:solidFill>
                          <a:latin typeface="Consolas" pitchFamily="34" charset="0"/>
                          <a:ea typeface="Consolas" pitchFamily="34" charset="-122"/>
                          <a:cs typeface="Consolas" pitchFamily="34" charset="-120"/>
                        </a:rPr>
                        <a:t>G1</a:t>
                      </a:r>
                      <a:endParaRPr lang="en-US" sz="1300" dirty="0">
                        <a:latin typeface="Consolas" charset="0"/>
                        <a:ea typeface="Consolas" charset="0"/>
                        <a:cs typeface="Consolas" charset="0"/>
                      </a:endParaRPr>
                    </a:p>
                  </a:txBody>
                  <a:tcPr marL="91440" marR="91440" marT="64008" marB="64008" anchor="ctr">
                    <a:lnL w="0" cap="flat" cmpd="sng" algn="ctr">
                      <a:noFill/>
                    </a:lnL>
                    <a:lnR w="0" cap="flat" cmpd="sng" algn="ctr">
                      <a:noFill/>
                    </a:lnR>
                    <a:lnT w="0" cap="flat" cmpd="sng" algn="ctr">
                      <a:noFill/>
                    </a:lnT>
                    <a:lnB w="9525" cap="flat" cmpd="sng" algn="ctr">
                      <a:solidFill>
                        <a:srgbClr val="DADDE2"/>
                      </a:solidFill>
                      <a:prstDash val="solid"/>
                      <a:round/>
                      <a:headEnd type="none" w="med" len="med"/>
                      <a:tailEnd type="none" w="med" len="med"/>
                    </a:lnB>
                  </a:tcPr>
                </a:tc>
                <a:tc>
                  <a:txBody>
                    <a:bodyPr/>
                    <a:lstStyle/>
                    <a:p>
                      <a:pPr indent="0" marL="0">
                        <a:buNone/>
                      </a:pPr>
                      <a:r>
                        <a:rPr lang="en-US" sz="1300" dirty="0">
                          <a:solidFill>
                            <a:srgbClr val="15181D"/>
                          </a:solidFill>
                        </a:rPr>
                        <a:t>Compile a frozen language subset to ES2015 that runs on Node 18+ and in browsers</a:t>
                      </a:r>
                      <a:endParaRPr lang="en-US" sz="1300" dirty="0"/>
                    </a:p>
                  </a:txBody>
                  <a:tcPr marL="91440" marR="91440" marT="64008" marB="64008" anchor="ctr">
                    <a:lnL w="0" cap="flat" cmpd="sng" algn="ctr">
                      <a:noFill/>
                    </a:lnL>
                    <a:lnR w="0" cap="flat" cmpd="sng" algn="ctr">
                      <a:noFill/>
                    </a:lnR>
                    <a:lnT w="0" cap="flat" cmpd="sng" algn="ctr">
                      <a:noFill/>
                    </a:lnT>
                    <a:lnB w="9525" cap="flat" cmpd="sng" algn="ctr">
                      <a:solidFill>
                        <a:srgbClr val="DADDE2"/>
                      </a:solidFill>
                      <a:prstDash val="solid"/>
                      <a:round/>
                      <a:headEnd type="none" w="med" len="med"/>
                      <a:tailEnd type="none" w="med" len="med"/>
                    </a:lnB>
                  </a:tcPr>
                </a:tc>
                <a:tc>
                  <a:txBody>
                    <a:bodyPr/>
                    <a:lstStyle/>
                    <a:p>
                      <a:pPr indent="0" marL="0">
                        <a:buNone/>
                      </a:pPr>
                      <a:r>
                        <a:rPr lang="en-US" sz="1200" b="1" dirty="0">
                          <a:solidFill>
                            <a:srgbClr val="9A6700"/>
                          </a:solidFill>
                        </a:rPr>
                        <a:t>grammar frozen</a:t>
                      </a:r>
                      <a:endParaRPr lang="en-US" sz="1200" dirty="0"/>
                    </a:p>
                  </a:txBody>
                  <a:tcPr marL="91440" marR="91440" marT="64008" marB="64008" anchor="ctr">
                    <a:lnL w="0" cap="flat" cmpd="sng" algn="ctr">
                      <a:noFill/>
                    </a:lnL>
                    <a:lnR w="0" cap="flat" cmpd="sng" algn="ctr">
                      <a:noFill/>
                    </a:lnR>
                    <a:lnT w="0" cap="flat" cmpd="sng" algn="ctr">
                      <a:noFill/>
                    </a:lnT>
                    <a:lnB w="9525" cap="flat" cmpd="sng" algn="ctr">
                      <a:solidFill>
                        <a:srgbClr val="DADDE2"/>
                      </a:solidFill>
                      <a:prstDash val="solid"/>
                      <a:round/>
                      <a:headEnd type="none" w="med" len="med"/>
                      <a:tailEnd type="none" w="med" len="med"/>
                    </a:lnB>
                  </a:tcPr>
                </a:tc>
              </a:tr>
              <a:tr h="475488">
                <a:tc>
                  <a:txBody>
                    <a:bodyPr/>
                    <a:lstStyle/>
                    <a:p>
                      <a:pPr indent="0" marL="0">
                        <a:buNone/>
                      </a:pPr>
                      <a:r>
                        <a:rPr lang="en-US" sz="1300" dirty="0">
                          <a:solidFill>
                            <a:srgbClr val="4A5260"/>
                          </a:solidFill>
                          <a:latin typeface="Consolas" pitchFamily="34" charset="0"/>
                          <a:ea typeface="Consolas" pitchFamily="34" charset="-122"/>
                          <a:cs typeface="Consolas" pitchFamily="34" charset="-120"/>
                        </a:rPr>
                        <a:t>G2</a:t>
                      </a:r>
                      <a:endParaRPr lang="en-US" sz="1300" dirty="0">
                        <a:latin typeface="Consolas" charset="0"/>
                        <a:ea typeface="Consolas" charset="0"/>
                        <a:cs typeface="Consolas" charset="0"/>
                      </a:endParaRPr>
                    </a:p>
                  </a:txBody>
                  <a:tcPr marL="91440" marR="91440" marT="64008" marB="64008" anchor="ctr">
                    <a:lnL w="0" cap="flat" cmpd="sng" algn="ctr">
                      <a:noFill/>
                    </a:lnL>
                    <a:lnR w="0" cap="flat" cmpd="sng" algn="ctr">
                      <a:noFill/>
                    </a:lnR>
                    <a:lnT w="0" cap="flat" cmpd="sng" algn="ctr">
                      <a:noFill/>
                    </a:lnT>
                    <a:lnB w="9525" cap="flat" cmpd="sng" algn="ctr">
                      <a:solidFill>
                        <a:srgbClr val="DADDE2"/>
                      </a:solidFill>
                      <a:prstDash val="solid"/>
                      <a:round/>
                      <a:headEnd type="none" w="med" len="med"/>
                      <a:tailEnd type="none" w="med" len="med"/>
                    </a:lnB>
                  </a:tcPr>
                </a:tc>
                <a:tc>
                  <a:txBody>
                    <a:bodyPr/>
                    <a:lstStyle/>
                    <a:p>
                      <a:pPr indent="0" marL="0">
                        <a:buNone/>
                      </a:pPr>
                      <a:r>
                        <a:rPr lang="en-US" sz="1300" dirty="0">
                          <a:solidFill>
                            <a:srgbClr val="15181D"/>
                          </a:solidFill>
                        </a:rPr>
                        <a:t>Carry an exact (line, column, length) span from token to emitted code</a:t>
                      </a:r>
                      <a:endParaRPr lang="en-US" sz="1300" dirty="0"/>
                    </a:p>
                  </a:txBody>
                  <a:tcPr marL="91440" marR="91440" marT="64008" marB="64008" anchor="ctr">
                    <a:lnL w="0" cap="flat" cmpd="sng" algn="ctr">
                      <a:noFill/>
                    </a:lnL>
                    <a:lnR w="0" cap="flat" cmpd="sng" algn="ctr">
                      <a:noFill/>
                    </a:lnR>
                    <a:lnT w="0" cap="flat" cmpd="sng" algn="ctr">
                      <a:noFill/>
                    </a:lnT>
                    <a:lnB w="9525" cap="flat" cmpd="sng" algn="ctr">
                      <a:solidFill>
                        <a:srgbClr val="DADDE2"/>
                      </a:solidFill>
                      <a:prstDash val="solid"/>
                      <a:round/>
                      <a:headEnd type="none" w="med" len="med"/>
                      <a:tailEnd type="none" w="med" len="med"/>
                    </a:lnB>
                  </a:tcPr>
                </a:tc>
                <a:tc>
                  <a:txBody>
                    <a:bodyPr/>
                    <a:lstStyle/>
                    <a:p>
                      <a:pPr indent="0" marL="0">
                        <a:buNone/>
                      </a:pPr>
                      <a:r>
                        <a:rPr lang="en-US" sz="1200" b="1" dirty="0">
                          <a:solidFill>
                            <a:srgbClr val="9A6700"/>
                          </a:solidFill>
                        </a:rPr>
                        <a:t>tokens + AST done</a:t>
                      </a:r>
                      <a:endParaRPr lang="en-US" sz="1200" dirty="0"/>
                    </a:p>
                  </a:txBody>
                  <a:tcPr marL="91440" marR="91440" marT="64008" marB="64008" anchor="ctr">
                    <a:lnL w="0" cap="flat" cmpd="sng" algn="ctr">
                      <a:noFill/>
                    </a:lnL>
                    <a:lnR w="0" cap="flat" cmpd="sng" algn="ctr">
                      <a:noFill/>
                    </a:lnR>
                    <a:lnT w="0" cap="flat" cmpd="sng" algn="ctr">
                      <a:noFill/>
                    </a:lnT>
                    <a:lnB w="9525" cap="flat" cmpd="sng" algn="ctr">
                      <a:solidFill>
                        <a:srgbClr val="DADDE2"/>
                      </a:solidFill>
                      <a:prstDash val="solid"/>
                      <a:round/>
                      <a:headEnd type="none" w="med" len="med"/>
                      <a:tailEnd type="none" w="med" len="med"/>
                    </a:lnB>
                  </a:tcPr>
                </a:tc>
              </a:tr>
              <a:tr h="475488">
                <a:tc>
                  <a:txBody>
                    <a:bodyPr/>
                    <a:lstStyle/>
                    <a:p>
                      <a:pPr indent="0" marL="0">
                        <a:buNone/>
                      </a:pPr>
                      <a:r>
                        <a:rPr lang="en-US" sz="1300" dirty="0">
                          <a:solidFill>
                            <a:srgbClr val="4A5260"/>
                          </a:solidFill>
                          <a:latin typeface="Consolas" pitchFamily="34" charset="0"/>
                          <a:ea typeface="Consolas" pitchFamily="34" charset="-122"/>
                          <a:cs typeface="Consolas" pitchFamily="34" charset="-120"/>
                        </a:rPr>
                        <a:t>G3</a:t>
                      </a:r>
                      <a:endParaRPr lang="en-US" sz="1300" dirty="0">
                        <a:latin typeface="Consolas" charset="0"/>
                        <a:ea typeface="Consolas" charset="0"/>
                        <a:cs typeface="Consolas" charset="0"/>
                      </a:endParaRPr>
                    </a:p>
                  </a:txBody>
                  <a:tcPr marL="91440" marR="91440" marT="64008" marB="64008" anchor="ctr">
                    <a:lnL w="0" cap="flat" cmpd="sng" algn="ctr">
                      <a:noFill/>
                    </a:lnL>
                    <a:lnR w="0" cap="flat" cmpd="sng" algn="ctr">
                      <a:noFill/>
                    </a:lnR>
                    <a:lnT w="0" cap="flat" cmpd="sng" algn="ctr">
                      <a:noFill/>
                    </a:lnT>
                    <a:lnB w="9525" cap="flat" cmpd="sng" algn="ctr">
                      <a:solidFill>
                        <a:srgbClr val="DADDE2"/>
                      </a:solidFill>
                      <a:prstDash val="solid"/>
                      <a:round/>
                      <a:headEnd type="none" w="med" len="med"/>
                      <a:tailEnd type="none" w="med" len="med"/>
                    </a:lnB>
                  </a:tcPr>
                </a:tc>
                <a:tc>
                  <a:txBody>
                    <a:bodyPr/>
                    <a:lstStyle/>
                    <a:p>
                      <a:pPr indent="0" marL="0">
                        <a:buNone/>
                      </a:pPr>
                      <a:r>
                        <a:rPr lang="en-US" sz="1300" dirty="0">
                          <a:solidFill>
                            <a:srgbClr val="15181D"/>
                          </a:solidFill>
                        </a:rPr>
                        <a:t>Emit a Source Map v3 file that a stock debugger resolves correctly</a:t>
                      </a:r>
                      <a:endParaRPr lang="en-US" sz="1300" dirty="0"/>
                    </a:p>
                  </a:txBody>
                  <a:tcPr marL="91440" marR="91440" marT="64008" marB="64008" anchor="ctr">
                    <a:lnL w="0" cap="flat" cmpd="sng" algn="ctr">
                      <a:noFill/>
                    </a:lnL>
                    <a:lnR w="0" cap="flat" cmpd="sng" algn="ctr">
                      <a:noFill/>
                    </a:lnR>
                    <a:lnT w="0" cap="flat" cmpd="sng" algn="ctr">
                      <a:noFill/>
                    </a:lnT>
                    <a:lnB w="9525" cap="flat" cmpd="sng" algn="ctr">
                      <a:solidFill>
                        <a:srgbClr val="DADDE2"/>
                      </a:solidFill>
                      <a:prstDash val="solid"/>
                      <a:round/>
                      <a:headEnd type="none" w="med" len="med"/>
                      <a:tailEnd type="none" w="med" len="med"/>
                    </a:lnB>
                  </a:tcPr>
                </a:tc>
                <a:tc>
                  <a:txBody>
                    <a:bodyPr/>
                    <a:lstStyle/>
                    <a:p>
                      <a:pPr indent="0" marL="0">
                        <a:buNone/>
                      </a:pPr>
                      <a:r>
                        <a:rPr lang="en-US" sz="1200" b="1" dirty="0">
                          <a:solidFill>
                            <a:srgbClr val="9AA1AC"/>
                          </a:solidFill>
                        </a:rPr>
                        <a:t>milestones 5–7</a:t>
                      </a:r>
                      <a:endParaRPr lang="en-US" sz="1200" dirty="0"/>
                    </a:p>
                  </a:txBody>
                  <a:tcPr marL="91440" marR="91440" marT="64008" marB="64008" anchor="ctr">
                    <a:lnL w="0" cap="flat" cmpd="sng" algn="ctr">
                      <a:noFill/>
                    </a:lnL>
                    <a:lnR w="0" cap="flat" cmpd="sng" algn="ctr">
                      <a:noFill/>
                    </a:lnR>
                    <a:lnT w="0" cap="flat" cmpd="sng" algn="ctr">
                      <a:noFill/>
                    </a:lnT>
                    <a:lnB w="9525" cap="flat" cmpd="sng" algn="ctr">
                      <a:solidFill>
                        <a:srgbClr val="DADDE2"/>
                      </a:solidFill>
                      <a:prstDash val="solid"/>
                      <a:round/>
                      <a:headEnd type="none" w="med" len="med"/>
                      <a:tailEnd type="none" w="med" len="med"/>
                    </a:lnB>
                  </a:tcPr>
                </a:tc>
              </a:tr>
              <a:tr h="475488">
                <a:tc>
                  <a:txBody>
                    <a:bodyPr/>
                    <a:lstStyle/>
                    <a:p>
                      <a:pPr indent="0" marL="0">
                        <a:buNone/>
                      </a:pPr>
                      <a:r>
                        <a:rPr lang="en-US" sz="1300" dirty="0">
                          <a:solidFill>
                            <a:srgbClr val="4A5260"/>
                          </a:solidFill>
                          <a:latin typeface="Consolas" pitchFamily="34" charset="0"/>
                          <a:ea typeface="Consolas" pitchFamily="34" charset="-122"/>
                          <a:cs typeface="Consolas" pitchFamily="34" charset="-120"/>
                        </a:rPr>
                        <a:t>G4</a:t>
                      </a:r>
                      <a:endParaRPr lang="en-US" sz="1300" dirty="0">
                        <a:latin typeface="Consolas" charset="0"/>
                        <a:ea typeface="Consolas" charset="0"/>
                        <a:cs typeface="Consolas" charset="0"/>
                      </a:endParaRPr>
                    </a:p>
                  </a:txBody>
                  <a:tcPr marL="91440" marR="91440" marT="64008" marB="64008" anchor="ctr">
                    <a:lnL w="0" cap="flat" cmpd="sng" algn="ctr">
                      <a:noFill/>
                    </a:lnL>
                    <a:lnR w="0" cap="flat" cmpd="sng" algn="ctr">
                      <a:noFill/>
                    </a:lnR>
                    <a:lnT w="0" cap="flat" cmpd="sng" algn="ctr">
                      <a:noFill/>
                    </a:lnT>
                    <a:lnB w="9525" cap="flat" cmpd="sng" algn="ctr">
                      <a:solidFill>
                        <a:srgbClr val="DADDE2"/>
                      </a:solidFill>
                      <a:prstDash val="solid"/>
                      <a:round/>
                      <a:headEnd type="none" w="med" len="med"/>
                      <a:tailEnd type="none" w="med" len="med"/>
                    </a:lnB>
                  </a:tcPr>
                </a:tc>
                <a:tc>
                  <a:txBody>
                    <a:bodyPr/>
                    <a:lstStyle/>
                    <a:p>
                      <a:pPr indent="0" marL="0">
                        <a:buNone/>
                      </a:pPr>
                      <a:r>
                        <a:rPr lang="en-US" sz="1300" dirty="0">
                          <a:solidFill>
                            <a:srgbClr val="15181D"/>
                          </a:solidFill>
                        </a:rPr>
                        <a:t>Report several precise, caret-anchored diagnostics per run</a:t>
                      </a:r>
                      <a:endParaRPr lang="en-US" sz="1300" dirty="0"/>
                    </a:p>
                  </a:txBody>
                  <a:tcPr marL="91440" marR="91440" marT="64008" marB="64008" anchor="ctr">
                    <a:lnL w="0" cap="flat" cmpd="sng" algn="ctr">
                      <a:noFill/>
                    </a:lnL>
                    <a:lnR w="0" cap="flat" cmpd="sng" algn="ctr">
                      <a:noFill/>
                    </a:lnR>
                    <a:lnT w="0" cap="flat" cmpd="sng" algn="ctr">
                      <a:noFill/>
                    </a:lnT>
                    <a:lnB w="9525" cap="flat" cmpd="sng" algn="ctr">
                      <a:solidFill>
                        <a:srgbClr val="DADDE2"/>
                      </a:solidFill>
                      <a:prstDash val="solid"/>
                      <a:round/>
                      <a:headEnd type="none" w="med" len="med"/>
                      <a:tailEnd type="none" w="med" len="med"/>
                    </a:lnB>
                  </a:tcPr>
                </a:tc>
                <a:tc>
                  <a:txBody>
                    <a:bodyPr/>
                    <a:lstStyle/>
                    <a:p>
                      <a:pPr indent="0" marL="0">
                        <a:buNone/>
                      </a:pPr>
                      <a:r>
                        <a:rPr lang="en-US" sz="1200" b="1" dirty="0">
                          <a:solidFill>
                            <a:srgbClr val="1F7A4D"/>
                          </a:solidFill>
                        </a:rPr>
                        <a:t>done</a:t>
                      </a:r>
                      <a:endParaRPr lang="en-US" sz="1200" dirty="0"/>
                    </a:p>
                  </a:txBody>
                  <a:tcPr marL="91440" marR="91440" marT="64008" marB="64008" anchor="ctr">
                    <a:lnL w="0" cap="flat" cmpd="sng" algn="ctr">
                      <a:noFill/>
                    </a:lnL>
                    <a:lnR w="0" cap="flat" cmpd="sng" algn="ctr">
                      <a:noFill/>
                    </a:lnR>
                    <a:lnT w="0" cap="flat" cmpd="sng" algn="ctr">
                      <a:noFill/>
                    </a:lnT>
                    <a:lnB w="9525" cap="flat" cmpd="sng" algn="ctr">
                      <a:solidFill>
                        <a:srgbClr val="DADDE2"/>
                      </a:solidFill>
                      <a:prstDash val="solid"/>
                      <a:round/>
                      <a:headEnd type="none" w="med" len="med"/>
                      <a:tailEnd type="none" w="med" len="med"/>
                    </a:lnB>
                  </a:tcPr>
                </a:tc>
              </a:tr>
              <a:tr h="475488">
                <a:tc>
                  <a:txBody>
                    <a:bodyPr/>
                    <a:lstStyle/>
                    <a:p>
                      <a:pPr indent="0" marL="0">
                        <a:buNone/>
                      </a:pPr>
                      <a:r>
                        <a:rPr lang="en-US" sz="1300" dirty="0">
                          <a:solidFill>
                            <a:srgbClr val="4A5260"/>
                          </a:solidFill>
                          <a:latin typeface="Consolas" pitchFamily="34" charset="0"/>
                          <a:ea typeface="Consolas" pitchFamily="34" charset="-122"/>
                          <a:cs typeface="Consolas" pitchFamily="34" charset="-120"/>
                        </a:rPr>
                        <a:t>G5</a:t>
                      </a:r>
                      <a:endParaRPr lang="en-US" sz="1300" dirty="0">
                        <a:latin typeface="Consolas" charset="0"/>
                        <a:ea typeface="Consolas" charset="0"/>
                        <a:cs typeface="Consolas" charset="0"/>
                      </a:endParaRPr>
                    </a:p>
                  </a:txBody>
                  <a:tcPr marL="91440" marR="91440" marT="64008" marB="64008" anchor="ctr">
                    <a:lnL w="0" cap="flat" cmpd="sng" algn="ctr">
                      <a:noFill/>
                    </a:lnL>
                    <a:lnR w="0" cap="flat" cmpd="sng" algn="ctr">
                      <a:noFill/>
                    </a:lnR>
                    <a:lnT w="0" cap="flat" cmpd="sng" algn="ctr">
                      <a:noFill/>
                    </a:lnT>
                    <a:lnB w="9525" cap="flat" cmpd="sng" algn="ctr">
                      <a:solidFill>
                        <a:srgbClr val="DADDE2"/>
                      </a:solidFill>
                      <a:prstDash val="solid"/>
                      <a:round/>
                      <a:headEnd type="none" w="med" len="med"/>
                      <a:tailEnd type="none" w="med" len="med"/>
                    </a:lnB>
                  </a:tcPr>
                </a:tc>
                <a:tc>
                  <a:txBody>
                    <a:bodyPr/>
                    <a:lstStyle/>
                    <a:p>
                      <a:pPr indent="0" marL="0">
                        <a:buNone/>
                      </a:pPr>
                      <a:r>
                        <a:rPr lang="en-US" sz="1300" dirty="0">
                          <a:solidFill>
                            <a:srgbClr val="15181D"/>
                          </a:solidFill>
                        </a:rPr>
                        <a:t>Measure positional fidelity lost when optimisation (-O1) is on</a:t>
                      </a:r>
                      <a:endParaRPr lang="en-US" sz="1300" dirty="0"/>
                    </a:p>
                  </a:txBody>
                  <a:tcPr marL="91440" marR="91440" marT="64008" marB="64008" anchor="ctr">
                    <a:lnL w="0" cap="flat" cmpd="sng" algn="ctr">
                      <a:noFill/>
                    </a:lnL>
                    <a:lnR w="0" cap="flat" cmpd="sng" algn="ctr">
                      <a:noFill/>
                    </a:lnR>
                    <a:lnT w="0" cap="flat" cmpd="sng" algn="ctr">
                      <a:noFill/>
                    </a:lnT>
                    <a:lnB w="9525" cap="flat" cmpd="sng" algn="ctr">
                      <a:solidFill>
                        <a:srgbClr val="DADDE2"/>
                      </a:solidFill>
                      <a:prstDash val="solid"/>
                      <a:round/>
                      <a:headEnd type="none" w="med" len="med"/>
                      <a:tailEnd type="none" w="med" len="med"/>
                    </a:lnB>
                  </a:tcPr>
                </a:tc>
                <a:tc>
                  <a:txBody>
                    <a:bodyPr/>
                    <a:lstStyle/>
                    <a:p>
                      <a:pPr indent="0" marL="0">
                        <a:buNone/>
                      </a:pPr>
                      <a:r>
                        <a:rPr lang="en-US" sz="1200" b="1" dirty="0">
                          <a:solidFill>
                            <a:srgbClr val="9AA1AC"/>
                          </a:solidFill>
                        </a:rPr>
                        <a:t>milestone 8</a:t>
                      </a:r>
                      <a:endParaRPr lang="en-US" sz="1200" dirty="0"/>
                    </a:p>
                  </a:txBody>
                  <a:tcPr marL="91440" marR="91440" marT="64008" marB="64008" anchor="ctr">
                    <a:lnL w="0" cap="flat" cmpd="sng" algn="ctr">
                      <a:noFill/>
                    </a:lnL>
                    <a:lnR w="0" cap="flat" cmpd="sng" algn="ctr">
                      <a:noFill/>
                    </a:lnR>
                    <a:lnT w="0" cap="flat" cmpd="sng" algn="ctr">
                      <a:noFill/>
                    </a:lnT>
                    <a:lnB w="9525" cap="flat" cmpd="sng" algn="ctr">
                      <a:solidFill>
                        <a:srgbClr val="DADDE2"/>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138160" y="25603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9AA1AC"/>
                </a:solidFill>
                <a:latin typeface="Consolas"/>
                <a:ea typeface="Consolas"/>
                <a:cs typeface="Consola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5486400" cy="228600"/>
          </a:xfrm>
          <a:prstGeom prst="rect">
            <a:avLst/>
          </a:prstGeom>
          <a:noFill/>
          <a:ln/>
        </p:spPr>
        <p:txBody>
          <a:bodyPr wrap="square" lIns="0" tIns="0" rIns="0" bIns="0" rtlCol="0"/>
          <a:lstStyle/>
          <a:p>
            <a:pPr indent="0" marL="0">
              <a:buNone/>
            </a:pPr>
            <a:r>
              <a:rPr lang="en-US" sz="1000" dirty="0">
                <a:solidFill>
                  <a:schemeClr val="accent5"/>
                </a:solidFill>
                <a:latin typeface="Consolas" pitchFamily="34" charset="0"/>
                <a:ea typeface="Consolas" pitchFamily="34" charset="-122"/>
                <a:cs typeface="Consolas" pitchFamily="34" charset="-120"/>
              </a:rPr>
              <a:t>tether / 02-literature</a:t>
            </a:r>
            <a:endParaRPr lang="en-US" sz="1000" dirty="0"/>
          </a:p>
        </p:txBody>
      </p:sp>
      <p:sp>
        <p:nvSpPr>
          <p:cNvPr id="3" name="Text 0"/>
          <p:cNvSpPr/>
          <p:nvPr>
            <p:ph idx="101" type="title" hasCustomPrompt="1"/>
          </p:nvPr>
        </p:nvSpPr>
        <p:spPr>
          <a:xfrm>
            <a:off x="548640" y="502920"/>
            <a:ext cx="8046720" cy="640080"/>
          </a:xfrm>
          <a:prstGeom prst="rect">
            <a:avLst/>
          </a:prstGeom>
          <a:noFill/>
          <a:ln/>
        </p:spPr>
        <p:txBody>
          <a:bodyPr wrap="square" lIns="0" tIns="0" rIns="0" bIns="0" rtlCol="0" anchor="t"/>
          <a:lstStyle/>
          <a:p>
            <a:pPr algn="l" indent="0" marL="0">
              <a:buNone/>
            </a:pPr>
            <a:r>
              <a:rPr lang="en-US" sz="2800" b="1" dirty="0">
                <a:solidFill>
                  <a:schemeClr val="tx1"/>
                </a:solidFill>
              </a:rPr>
              <a:t>Literature: building the front end</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8046720" cy="914400"/>
        </p:xfrm>
        <a:graphic>
          <a:graphicData uri="http://schemas.openxmlformats.org/drawingml/2006/table">
            <a:tbl>
              <a:tblPr/>
              <a:tblGrid>
                <a:gridCol w="2834640"/>
                <a:gridCol w="3108960"/>
                <a:gridCol w="2103120"/>
              </a:tblGrid>
              <a:tr h="0">
                <a:tc>
                  <a:txBody>
                    <a:bodyPr/>
                    <a:lstStyle/>
                    <a:p>
                      <a:pPr indent="0" marL="0">
                        <a:buNone/>
                      </a:pPr>
                      <a:r>
                        <a:rPr lang="en-US" sz="1100" b="1" dirty="0">
                          <a:solidFill>
                            <a:srgbClr val="4A5260"/>
                          </a:solidFill>
                        </a:rPr>
                        <a:t>Source</a:t>
                      </a:r>
                      <a:endParaRPr lang="en-US" sz="1100" dirty="0"/>
                    </a:p>
                  </a:txBody>
                  <a:tcPr marL="91440" marR="91440" marT="64008" marB="64008" anchor="ctr">
                    <a:lnL w="0" cap="flat" cmpd="sng" algn="ctr">
                      <a:noFill/>
                    </a:lnL>
                    <a:lnR w="0" cap="flat" cmpd="sng" algn="ctr">
                      <a:noFill/>
                    </a:lnR>
                    <a:lnT w="0" cap="flat" cmpd="sng" algn="ctr">
                      <a:noFill/>
                    </a:lnT>
                    <a:lnB w="12700" cap="flat" cmpd="sng" algn="ctr">
                      <a:solidFill>
                        <a:srgbClr val="15181D"/>
                      </a:solidFill>
                      <a:prstDash val="solid"/>
                      <a:round/>
                      <a:headEnd type="none" w="med" len="med"/>
                      <a:tailEnd type="none" w="med" len="med"/>
                    </a:lnB>
                  </a:tcPr>
                </a:tc>
                <a:tc>
                  <a:txBody>
                    <a:bodyPr/>
                    <a:lstStyle/>
                    <a:p>
                      <a:pPr indent="0" marL="0">
                        <a:buNone/>
                      </a:pPr>
                      <a:r>
                        <a:rPr lang="en-US" sz="1100" b="1" dirty="0">
                          <a:solidFill>
                            <a:srgbClr val="4A5260"/>
                          </a:solidFill>
                        </a:rPr>
                        <a:t>Contribution</a:t>
                      </a:r>
                      <a:endParaRPr lang="en-US" sz="1100" dirty="0"/>
                    </a:p>
                  </a:txBody>
                  <a:tcPr marL="91440" marR="91440" marT="64008" marB="64008" anchor="ctr">
                    <a:lnL w="0" cap="flat" cmpd="sng" algn="ctr">
                      <a:noFill/>
                    </a:lnL>
                    <a:lnR w="0" cap="flat" cmpd="sng" algn="ctr">
                      <a:noFill/>
                    </a:lnR>
                    <a:lnT w="0" cap="flat" cmpd="sng" algn="ctr">
                      <a:noFill/>
                    </a:lnT>
                    <a:lnB w="12700" cap="flat" cmpd="sng" algn="ctr">
                      <a:solidFill>
                        <a:srgbClr val="15181D"/>
                      </a:solidFill>
                      <a:prstDash val="solid"/>
                      <a:round/>
                      <a:headEnd type="none" w="med" len="med"/>
                      <a:tailEnd type="none" w="med" len="med"/>
                    </a:lnB>
                  </a:tcPr>
                </a:tc>
                <a:tc>
                  <a:txBody>
                    <a:bodyPr/>
                    <a:lstStyle/>
                    <a:p>
                      <a:pPr indent="0" marL="0">
                        <a:buNone/>
                      </a:pPr>
                      <a:r>
                        <a:rPr lang="en-US" sz="1100" b="1" dirty="0">
                          <a:solidFill>
                            <a:srgbClr val="4A5260"/>
                          </a:solidFill>
                        </a:rPr>
                        <a:t>Used in Tether</a:t>
                      </a:r>
                      <a:endParaRPr lang="en-US" sz="1100" dirty="0"/>
                    </a:p>
                  </a:txBody>
                  <a:tcPr marL="91440" marR="91440" marT="64008" marB="64008" anchor="ctr">
                    <a:lnL w="0" cap="flat" cmpd="sng" algn="ctr">
                      <a:noFill/>
                    </a:lnL>
                    <a:lnR w="0" cap="flat" cmpd="sng" algn="ctr">
                      <a:noFill/>
                    </a:lnR>
                    <a:lnT w="0" cap="flat" cmpd="sng" algn="ctr">
                      <a:noFill/>
                    </a:lnT>
                    <a:lnB w="12700" cap="flat" cmpd="sng" algn="ctr">
                      <a:solidFill>
                        <a:srgbClr val="15181D"/>
                      </a:solidFill>
                      <a:prstDash val="solid"/>
                      <a:round/>
                      <a:headEnd type="none" w="med" len="med"/>
                      <a:tailEnd type="none" w="med" len="med"/>
                    </a:lnB>
                  </a:tcPr>
                </a:tc>
              </a:tr>
              <a:tr h="0">
                <a:tc>
                  <a:txBody>
                    <a:bodyPr/>
                    <a:lstStyle/>
                    <a:p>
                      <a:pPr indent="0" marL="0">
                        <a:buNone/>
                      </a:pPr>
                      <a:r>
                        <a:rPr lang="en-US" sz="1250" b="1" dirty="0">
                          <a:solidFill>
                            <a:srgbClr val="15181D"/>
                          </a:solidFill>
                        </a:rPr>
                        <a:t>Aho, Lam, Sethi &amp; Ullman, 2006</a:t>
                      </a:r>
                      <a:endParaRPr lang="en-US" sz="1250" dirty="0"/>
                    </a:p>
                    <a:p>
                      <a:pPr indent="0" marL="0">
                        <a:buNone/>
                      </a:pPr>
                      <a:r>
                        <a:rPr lang="en-US" sz="1150" i="1" dirty="0">
                          <a:solidFill>
                            <a:srgbClr val="4A5260"/>
                          </a:solidFill>
                        </a:rPr>
                        <a:t>Compilers: Principles, Techniques &amp; Tools</a:t>
                      </a:r>
                      <a:endParaRPr lang="en-US" sz="1250" dirty="0"/>
                    </a:p>
                  </a:txBody>
                  <a:tcPr marL="91440" marR="91440" marT="64008" marB="64008" anchor="ctr">
                    <a:lnL w="0" cap="flat" cmpd="sng" algn="ctr">
                      <a:noFill/>
                    </a:lnL>
                    <a:lnR w="0" cap="flat" cmpd="sng" algn="ctr">
                      <a:noFill/>
                    </a:lnR>
                    <a:lnT w="0" cap="flat" cmpd="sng" algn="ctr">
                      <a:noFill/>
                    </a:lnT>
                    <a:lnB w="9525" cap="flat" cmpd="sng" algn="ctr">
                      <a:solidFill>
                        <a:srgbClr val="DADDE2"/>
                      </a:solidFill>
                      <a:prstDash val="solid"/>
                      <a:round/>
                      <a:headEnd type="none" w="med" len="med"/>
                      <a:tailEnd type="none" w="med" len="med"/>
                    </a:lnB>
                  </a:tcPr>
                </a:tc>
                <a:tc>
                  <a:txBody>
                    <a:bodyPr/>
                    <a:lstStyle/>
                    <a:p>
                      <a:pPr indent="0" marL="0">
                        <a:buNone/>
                      </a:pPr>
                      <a:r>
                        <a:rPr lang="en-US" sz="1250" dirty="0">
                          <a:solidFill>
                            <a:srgbClr val="15181D"/>
                          </a:solidFill>
                        </a:rPr>
                        <a:t>Phase structure, LL parsing, panic-mode error recovery</a:t>
                      </a:r>
                      <a:endParaRPr lang="en-US" sz="1250" dirty="0"/>
                    </a:p>
                  </a:txBody>
                  <a:tcPr marL="91440" marR="91440" marT="64008" marB="64008" anchor="ctr">
                    <a:lnL w="0" cap="flat" cmpd="sng" algn="ctr">
                      <a:noFill/>
                    </a:lnL>
                    <a:lnR w="0" cap="flat" cmpd="sng" algn="ctr">
                      <a:noFill/>
                    </a:lnR>
                    <a:lnT w="0" cap="flat" cmpd="sng" algn="ctr">
                      <a:noFill/>
                    </a:lnT>
                    <a:lnB w="9525" cap="flat" cmpd="sng" algn="ctr">
                      <a:solidFill>
                        <a:srgbClr val="DADDE2"/>
                      </a:solidFill>
                      <a:prstDash val="solid"/>
                      <a:round/>
                      <a:headEnd type="none" w="med" len="med"/>
                      <a:tailEnd type="none" w="med" len="med"/>
                    </a:lnB>
                  </a:tcPr>
                </a:tc>
                <a:tc>
                  <a:txBody>
                    <a:bodyPr/>
                    <a:lstStyle/>
                    <a:p>
                      <a:pPr indent="0" marL="0">
                        <a:buNone/>
                      </a:pPr>
                      <a:r>
                        <a:rPr lang="en-US" sz="1250" dirty="0">
                          <a:solidFill>
                            <a:srgbClr val="15181D"/>
                          </a:solidFill>
                        </a:rPr>
                        <a:t>One module per phase; statement-level recovery</a:t>
                      </a:r>
                      <a:endParaRPr lang="en-US" sz="1250" dirty="0"/>
                    </a:p>
                  </a:txBody>
                  <a:tcPr marL="91440" marR="91440" marT="64008" marB="64008" anchor="ctr">
                    <a:lnL w="0" cap="flat" cmpd="sng" algn="ctr">
                      <a:noFill/>
                    </a:lnL>
                    <a:lnR w="0" cap="flat" cmpd="sng" algn="ctr">
                      <a:noFill/>
                    </a:lnR>
                    <a:lnT w="0" cap="flat" cmpd="sng" algn="ctr">
                      <a:noFill/>
                    </a:lnT>
                    <a:lnB w="9525" cap="flat" cmpd="sng" algn="ctr">
                      <a:solidFill>
                        <a:srgbClr val="DADDE2"/>
                      </a:solidFill>
                      <a:prstDash val="solid"/>
                      <a:round/>
                      <a:headEnd type="none" w="med" len="med"/>
                      <a:tailEnd type="none" w="med" len="med"/>
                    </a:lnB>
                  </a:tcPr>
                </a:tc>
              </a:tr>
              <a:tr h="0">
                <a:tc>
                  <a:txBody>
                    <a:bodyPr/>
                    <a:lstStyle/>
                    <a:p>
                      <a:pPr indent="0" marL="0">
                        <a:buNone/>
                      </a:pPr>
                      <a:r>
                        <a:rPr lang="en-US" sz="1250" b="1" dirty="0">
                          <a:solidFill>
                            <a:srgbClr val="15181D"/>
                          </a:solidFill>
                        </a:rPr>
                        <a:t>Pratt, 1973 · Clarke, 1986</a:t>
                      </a:r>
                      <a:endParaRPr lang="en-US" sz="1250" dirty="0"/>
                    </a:p>
                    <a:p>
                      <a:pPr indent="0" marL="0">
                        <a:buNone/>
                      </a:pPr>
                      <a:r>
                        <a:rPr lang="en-US" sz="1150" i="1" dirty="0">
                          <a:solidFill>
                            <a:srgbClr val="4A5260"/>
                          </a:solidFill>
                        </a:rPr>
                        <a:t>Top-down operator-precedence parsing</a:t>
                      </a:r>
                      <a:endParaRPr lang="en-US" sz="1250" dirty="0"/>
                    </a:p>
                  </a:txBody>
                  <a:tcPr marL="91440" marR="91440" marT="64008" marB="64008" anchor="ctr">
                    <a:lnL w="0" cap="flat" cmpd="sng" algn="ctr">
                      <a:noFill/>
                    </a:lnL>
                    <a:lnR w="0" cap="flat" cmpd="sng" algn="ctr">
                      <a:noFill/>
                    </a:lnR>
                    <a:lnT w="0" cap="flat" cmpd="sng" algn="ctr">
                      <a:noFill/>
                    </a:lnT>
                    <a:lnB w="9525" cap="flat" cmpd="sng" algn="ctr">
                      <a:solidFill>
                        <a:srgbClr val="DADDE2"/>
                      </a:solidFill>
                      <a:prstDash val="solid"/>
                      <a:round/>
                      <a:headEnd type="none" w="med" len="med"/>
                      <a:tailEnd type="none" w="med" len="med"/>
                    </a:lnB>
                  </a:tcPr>
                </a:tc>
                <a:tc>
                  <a:txBody>
                    <a:bodyPr/>
                    <a:lstStyle/>
                    <a:p>
                      <a:pPr indent="0" marL="0">
                        <a:buNone/>
                      </a:pPr>
                      <a:r>
                        <a:rPr lang="en-US" sz="1250" dirty="0">
                          <a:solidFill>
                            <a:srgbClr val="15181D"/>
                          </a:solidFill>
                        </a:rPr>
                        <a:t>Parse binary operators from a precedence table; Norvell (1999) names it "precedence climbing"</a:t>
                      </a:r>
                      <a:endParaRPr lang="en-US" sz="1250" dirty="0"/>
                    </a:p>
                  </a:txBody>
                  <a:tcPr marL="91440" marR="91440" marT="64008" marB="64008" anchor="ctr">
                    <a:lnL w="0" cap="flat" cmpd="sng" algn="ctr">
                      <a:noFill/>
                    </a:lnL>
                    <a:lnR w="0" cap="flat" cmpd="sng" algn="ctr">
                      <a:noFill/>
                    </a:lnR>
                    <a:lnT w="0" cap="flat" cmpd="sng" algn="ctr">
                      <a:noFill/>
                    </a:lnT>
                    <a:lnB w="9525" cap="flat" cmpd="sng" algn="ctr">
                      <a:solidFill>
                        <a:srgbClr val="DADDE2"/>
                      </a:solidFill>
                      <a:prstDash val="solid"/>
                      <a:round/>
                      <a:headEnd type="none" w="med" len="med"/>
                      <a:tailEnd type="none" w="med" len="med"/>
                    </a:lnB>
                  </a:tcPr>
                </a:tc>
                <a:tc>
                  <a:txBody>
                    <a:bodyPr/>
                    <a:lstStyle/>
                    <a:p>
                      <a:pPr indent="0" marL="0">
                        <a:buNone/>
                      </a:pPr>
                      <a:r>
                        <a:rPr lang="en-US" sz="1200" dirty="0">
                          <a:solidFill>
                            <a:srgbClr val="15181D"/>
                          </a:solidFill>
                          <a:latin typeface="Consolas" pitchFamily="34" charset="0"/>
                          <a:ea typeface="Consolas" pitchFamily="34" charset="-122"/>
                          <a:cs typeface="Consolas" pitchFamily="34" charset="-120"/>
                        </a:rPr>
                        <a:t>parseExpr(minPrec)</a:t>
                      </a:r>
                      <a:endParaRPr lang="en-US" sz="1250" dirty="0"/>
                    </a:p>
                  </a:txBody>
                  <a:tcPr marL="91440" marR="91440" marT="64008" marB="64008" anchor="ctr">
                    <a:lnL w="0" cap="flat" cmpd="sng" algn="ctr">
                      <a:noFill/>
                    </a:lnL>
                    <a:lnR w="0" cap="flat" cmpd="sng" algn="ctr">
                      <a:noFill/>
                    </a:lnR>
                    <a:lnT w="0" cap="flat" cmpd="sng" algn="ctr">
                      <a:noFill/>
                    </a:lnT>
                    <a:lnB w="9525" cap="flat" cmpd="sng" algn="ctr">
                      <a:solidFill>
                        <a:srgbClr val="DADDE2"/>
                      </a:solidFill>
                      <a:prstDash val="solid"/>
                      <a:round/>
                      <a:headEnd type="none" w="med" len="med"/>
                      <a:tailEnd type="none" w="med" len="med"/>
                    </a:lnB>
                  </a:tcPr>
                </a:tc>
              </a:tr>
              <a:tr h="0">
                <a:tc>
                  <a:txBody>
                    <a:bodyPr/>
                    <a:lstStyle/>
                    <a:p>
                      <a:pPr indent="0" marL="0">
                        <a:buNone/>
                      </a:pPr>
                      <a:r>
                        <a:rPr lang="en-US" sz="1250" b="1" dirty="0">
                          <a:solidFill>
                            <a:srgbClr val="15181D"/>
                          </a:solidFill>
                        </a:rPr>
                        <a:t>Nystrom, 2021</a:t>
                      </a:r>
                      <a:endParaRPr lang="en-US" sz="1250" dirty="0"/>
                    </a:p>
                    <a:p>
                      <a:pPr indent="0" marL="0">
                        <a:buNone/>
                      </a:pPr>
                      <a:r>
                        <a:rPr lang="en-US" sz="1150" i="1" dirty="0">
                          <a:solidFill>
                            <a:srgbClr val="4A5260"/>
                          </a:solidFill>
                        </a:rPr>
                        <a:t>Crafting Interpreters</a:t>
                      </a:r>
                      <a:endParaRPr lang="en-US" sz="1250" dirty="0"/>
                    </a:p>
                  </a:txBody>
                  <a:tcPr marL="91440" marR="91440" marT="64008" marB="64008" anchor="ctr">
                    <a:lnL w="0" cap="flat" cmpd="sng" algn="ctr">
                      <a:noFill/>
                    </a:lnL>
                    <a:lnR w="0" cap="flat" cmpd="sng" algn="ctr">
                      <a:noFill/>
                    </a:lnR>
                    <a:lnT w="0" cap="flat" cmpd="sng" algn="ctr">
                      <a:noFill/>
                    </a:lnT>
                    <a:lnB w="9525" cap="flat" cmpd="sng" algn="ctr">
                      <a:solidFill>
                        <a:srgbClr val="DADDE2"/>
                      </a:solidFill>
                      <a:prstDash val="solid"/>
                      <a:round/>
                      <a:headEnd type="none" w="med" len="med"/>
                      <a:tailEnd type="none" w="med" len="med"/>
                    </a:lnB>
                  </a:tcPr>
                </a:tc>
                <a:tc>
                  <a:txBody>
                    <a:bodyPr/>
                    <a:lstStyle/>
                    <a:p>
                      <a:pPr indent="0" marL="0">
                        <a:buNone/>
                      </a:pPr>
                      <a:r>
                        <a:rPr lang="en-US" sz="1250" dirty="0">
                          <a:solidFill>
                            <a:srgbClr val="15181D"/>
                          </a:solidFill>
                        </a:rPr>
                        <a:t>Hand-written scanner and recursive-descent parser with synchronisation</a:t>
                      </a:r>
                      <a:endParaRPr lang="en-US" sz="1250" dirty="0"/>
                    </a:p>
                  </a:txBody>
                  <a:tcPr marL="91440" marR="91440" marT="64008" marB="64008" anchor="ctr">
                    <a:lnL w="0" cap="flat" cmpd="sng" algn="ctr">
                      <a:noFill/>
                    </a:lnL>
                    <a:lnR w="0" cap="flat" cmpd="sng" algn="ctr">
                      <a:noFill/>
                    </a:lnR>
                    <a:lnT w="0" cap="flat" cmpd="sng" algn="ctr">
                      <a:noFill/>
                    </a:lnT>
                    <a:lnB w="9525" cap="flat" cmpd="sng" algn="ctr">
                      <a:solidFill>
                        <a:srgbClr val="DADDE2"/>
                      </a:solidFill>
                      <a:prstDash val="solid"/>
                      <a:round/>
                      <a:headEnd type="none" w="med" len="med"/>
                      <a:tailEnd type="none" w="med" len="med"/>
                    </a:lnB>
                  </a:tcPr>
                </a:tc>
                <a:tc>
                  <a:txBody>
                    <a:bodyPr/>
                    <a:lstStyle/>
                    <a:p>
                      <a:pPr indent="0" marL="0">
                        <a:buNone/>
                      </a:pPr>
                      <a:r>
                        <a:rPr lang="en-US" sz="1250" dirty="0">
                          <a:solidFill>
                            <a:srgbClr val="15181D"/>
                          </a:solidFill>
                        </a:rPr>
                        <a:t>Lexer and parser structure</a:t>
                      </a:r>
                      <a:endParaRPr lang="en-US" sz="1250" dirty="0"/>
                    </a:p>
                  </a:txBody>
                  <a:tcPr marL="91440" marR="91440" marT="64008" marB="64008" anchor="ctr">
                    <a:lnL w="0" cap="flat" cmpd="sng" algn="ctr">
                      <a:noFill/>
                    </a:lnL>
                    <a:lnR w="0" cap="flat" cmpd="sng" algn="ctr">
                      <a:noFill/>
                    </a:lnR>
                    <a:lnT w="0" cap="flat" cmpd="sng" algn="ctr">
                      <a:noFill/>
                    </a:lnT>
                    <a:lnB w="9525" cap="flat" cmpd="sng" algn="ctr">
                      <a:solidFill>
                        <a:srgbClr val="DADDE2"/>
                      </a:solidFill>
                      <a:prstDash val="solid"/>
                      <a:round/>
                      <a:headEnd type="none" w="med" len="med"/>
                      <a:tailEnd type="none" w="med" len="med"/>
                    </a:lnB>
                  </a:tcPr>
                </a:tc>
              </a:tr>
              <a:tr h="0">
                <a:tc>
                  <a:txBody>
                    <a:bodyPr/>
                    <a:lstStyle/>
                    <a:p>
                      <a:pPr indent="0" marL="0">
                        <a:buNone/>
                      </a:pPr>
                      <a:r>
                        <a:rPr lang="en-US" sz="1250" b="1" dirty="0">
                          <a:solidFill>
                            <a:srgbClr val="15181D"/>
                          </a:solidFill>
                        </a:rPr>
                        <a:t>Source Map v3, 2011 → ECMA-426, 2024</a:t>
                      </a:r>
                      <a:endParaRPr lang="en-US" sz="1250" dirty="0"/>
                    </a:p>
                    <a:p>
                      <a:pPr indent="0" marL="0">
                        <a:buNone/>
                      </a:pPr>
                      <a:r>
                        <a:rPr lang="en-US" sz="1150" i="1" dirty="0">
                          <a:solidFill>
                            <a:srgbClr val="4A5260"/>
                          </a:solidFill>
                        </a:rPr>
                        <a:t>Source map format standard</a:t>
                      </a:r>
                      <a:endParaRPr lang="en-US" sz="1250" dirty="0"/>
                    </a:p>
                  </a:txBody>
                  <a:tcPr marL="91440" marR="91440" marT="64008" marB="64008" anchor="ctr">
                    <a:lnL w="0" cap="flat" cmpd="sng" algn="ctr">
                      <a:noFill/>
                    </a:lnL>
                    <a:lnR w="0" cap="flat" cmpd="sng" algn="ctr">
                      <a:noFill/>
                    </a:lnR>
                    <a:lnT w="0" cap="flat" cmpd="sng" algn="ctr">
                      <a:noFill/>
                    </a:lnT>
                    <a:lnB w="9525" cap="flat" cmpd="sng" algn="ctr">
                      <a:solidFill>
                        <a:srgbClr val="DADDE2"/>
                      </a:solidFill>
                      <a:prstDash val="solid"/>
                      <a:round/>
                      <a:headEnd type="none" w="med" len="med"/>
                      <a:tailEnd type="none" w="med" len="med"/>
                    </a:lnB>
                  </a:tcPr>
                </a:tc>
                <a:tc>
                  <a:txBody>
                    <a:bodyPr/>
                    <a:lstStyle/>
                    <a:p>
                      <a:pPr indent="0" marL="0">
                        <a:buNone/>
                      </a:pPr>
                      <a:r>
                        <a:rPr lang="en-US" sz="1250" dirty="0">
                          <a:solidFill>
                            <a:srgbClr val="15181D"/>
                          </a:solidFill>
                        </a:rPr>
                        <a:t>JSON with Base64-VLQ, delta-encoded mappings; read by every browser debugger</a:t>
                      </a:r>
                      <a:endParaRPr lang="en-US" sz="1250" dirty="0"/>
                    </a:p>
                  </a:txBody>
                  <a:tcPr marL="91440" marR="91440" marT="64008" marB="64008" anchor="ctr">
                    <a:lnL w="0" cap="flat" cmpd="sng" algn="ctr">
                      <a:noFill/>
                    </a:lnL>
                    <a:lnR w="0" cap="flat" cmpd="sng" algn="ctr">
                      <a:noFill/>
                    </a:lnR>
                    <a:lnT w="0" cap="flat" cmpd="sng" algn="ctr">
                      <a:noFill/>
                    </a:lnT>
                    <a:lnB w="9525" cap="flat" cmpd="sng" algn="ctr">
                      <a:solidFill>
                        <a:srgbClr val="DADDE2"/>
                      </a:solidFill>
                      <a:prstDash val="solid"/>
                      <a:round/>
                      <a:headEnd type="none" w="med" len="med"/>
                      <a:tailEnd type="none" w="med" len="med"/>
                    </a:lnB>
                  </a:tcPr>
                </a:tc>
                <a:tc>
                  <a:txBody>
                    <a:bodyPr/>
                    <a:lstStyle/>
                    <a:p>
                      <a:pPr indent="0" marL="0">
                        <a:buNone/>
                      </a:pPr>
                      <a:r>
                        <a:rPr lang="en-US" sz="1250" dirty="0">
                          <a:solidFill>
                            <a:srgbClr val="15181D"/>
                          </a:solidFill>
                        </a:rPr>
                        <a:t>Output format (milestones 5–6)</a:t>
                      </a:r>
                      <a:endParaRPr lang="en-US" sz="1250" dirty="0"/>
                    </a:p>
                  </a:txBody>
                  <a:tcPr marL="91440" marR="91440" marT="64008" marB="64008" anchor="ctr">
                    <a:lnL w="0" cap="flat" cmpd="sng" algn="ctr">
                      <a:noFill/>
                    </a:lnL>
                    <a:lnR w="0" cap="flat" cmpd="sng" algn="ctr">
                      <a:noFill/>
                    </a:lnR>
                    <a:lnT w="0" cap="flat" cmpd="sng" algn="ctr">
                      <a:noFill/>
                    </a:lnT>
                    <a:lnB w="9525" cap="flat" cmpd="sng" algn="ctr">
                      <a:solidFill>
                        <a:srgbClr val="DADDE2"/>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138160" y="25603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9AA1AC"/>
                </a:solidFill>
                <a:latin typeface="Consolas"/>
                <a:ea typeface="Consolas"/>
                <a:cs typeface="Consola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5486400" cy="228600"/>
          </a:xfrm>
          <a:prstGeom prst="rect">
            <a:avLst/>
          </a:prstGeom>
          <a:noFill/>
          <a:ln/>
        </p:spPr>
        <p:txBody>
          <a:bodyPr wrap="square" lIns="0" tIns="0" rIns="0" bIns="0" rtlCol="0"/>
          <a:lstStyle/>
          <a:p>
            <a:pPr indent="0" marL="0">
              <a:buNone/>
            </a:pPr>
            <a:r>
              <a:rPr lang="en-US" sz="1000" dirty="0">
                <a:solidFill>
                  <a:schemeClr val="accent5"/>
                </a:solidFill>
                <a:latin typeface="Consolas" pitchFamily="34" charset="0"/>
                <a:ea typeface="Consolas" pitchFamily="34" charset="-122"/>
                <a:cs typeface="Consolas" pitchFamily="34" charset="-120"/>
              </a:rPr>
              <a:t>tether / 02-literature</a:t>
            </a:r>
            <a:endParaRPr lang="en-US" sz="1000" dirty="0"/>
          </a:p>
        </p:txBody>
      </p:sp>
      <p:sp>
        <p:nvSpPr>
          <p:cNvPr id="3" name="Text 0"/>
          <p:cNvSpPr/>
          <p:nvPr>
            <p:ph idx="101" type="title" hasCustomPrompt="1"/>
          </p:nvPr>
        </p:nvSpPr>
        <p:spPr>
          <a:xfrm>
            <a:off x="548640" y="502920"/>
            <a:ext cx="8046720" cy="640080"/>
          </a:xfrm>
          <a:prstGeom prst="rect">
            <a:avLst/>
          </a:prstGeom>
          <a:noFill/>
          <a:ln/>
        </p:spPr>
        <p:txBody>
          <a:bodyPr wrap="square" lIns="0" tIns="0" rIns="0" bIns="0" rtlCol="0" anchor="t"/>
          <a:lstStyle/>
          <a:p>
            <a:pPr algn="l" indent="0" marL="0">
              <a:buNone/>
            </a:pPr>
            <a:r>
              <a:rPr lang="en-US" sz="2800" b="1" dirty="0">
                <a:solidFill>
                  <a:schemeClr val="tx1"/>
                </a:solidFill>
              </a:rPr>
              <a:t>Literature: debugging optimised code</a:t>
            </a:r>
            <a:endParaRPr lang="en-US" sz="2800" dirty="0"/>
          </a:p>
        </p:txBody>
      </p:sp>
      <p:sp>
        <p:nvSpPr>
          <p:cNvPr id="4" name="rule"/>
          <p:cNvSpPr/>
          <p:nvPr/>
        </p:nvSpPr>
        <p:spPr>
          <a:xfrm>
            <a:off x="548640" y="1993392"/>
            <a:ext cx="8046720" cy="0"/>
          </a:xfrm>
          <a:prstGeom prst="line">
            <a:avLst/>
          </a:prstGeom>
          <a:noFill/>
          <a:ln w="12700">
            <a:solidFill>
              <a:srgbClr val="15181D"/>
            </a:solidFill>
            <a:prstDash val="solid"/>
          </a:ln>
        </p:spPr>
      </p:sp>
      <p:sp>
        <p:nvSpPr>
          <p:cNvPr id="5" name="Text 3"/>
          <p:cNvSpPr txBox="1"/>
          <p:nvPr/>
        </p:nvSpPr>
        <p:spPr>
          <a:xfrm>
            <a:off x="548640" y="1280160"/>
            <a:ext cx="2377440" cy="594360"/>
          </a:xfrm>
          <a:prstGeom prst="rect">
            <a:avLst/>
          </a:prstGeom>
          <a:noFill/>
          <a:ln/>
        </p:spPr>
        <p:txBody>
          <a:bodyPr wrap="square" lIns="0" tIns="0" rIns="0" bIns="0" rtlCol="0" anchor="t"/>
          <a:lstStyle/>
          <a:p>
            <a:pPr indent="0" marL="0">
              <a:buNone/>
            </a:pPr>
            <a:r>
              <a:rPr lang="en-US" sz="3600" b="1" dirty="0">
                <a:solidFill>
                  <a:schemeClr val="tx1"/>
                </a:solidFill>
                <a:latin typeface="Cambria" pitchFamily="34" charset="0"/>
                <a:ea typeface="Cambria" pitchFamily="34" charset="-122"/>
                <a:cs typeface="Cambria" pitchFamily="34" charset="-120"/>
              </a:rPr>
              <a:t>1982</a:t>
            </a:r>
            <a:endParaRPr lang="en-US" sz="3600" dirty="0"/>
          </a:p>
        </p:txBody>
      </p:sp>
      <p:sp>
        <p:nvSpPr>
          <p:cNvPr id="6" name="tick"/>
          <p:cNvSpPr/>
          <p:nvPr/>
        </p:nvSpPr>
        <p:spPr>
          <a:xfrm>
            <a:off x="548640" y="1938528"/>
            <a:ext cx="109728" cy="109728"/>
          </a:xfrm>
          <a:prstGeom prst="ellipse">
            <a:avLst/>
          </a:prstGeom>
          <a:solidFill>
            <a:schemeClr val="tx1"/>
          </a:solidFill>
          <a:ln/>
        </p:spPr>
      </p:sp>
      <p:sp>
        <p:nvSpPr>
          <p:cNvPr id="7" name="Text 5"/>
          <p:cNvSpPr txBox="1"/>
          <p:nvPr/>
        </p:nvSpPr>
        <p:spPr>
          <a:xfrm>
            <a:off x="548640" y="2194560"/>
            <a:ext cx="2514600" cy="457200"/>
          </a:xfrm>
          <a:prstGeom prst="rect">
            <a:avLst/>
          </a:prstGeom>
          <a:noFill/>
          <a:ln/>
        </p:spPr>
        <p:txBody>
          <a:bodyPr wrap="square" lIns="0" tIns="0" rIns="0" bIns="0" rtlCol="0" anchor="t"/>
          <a:lstStyle/>
          <a:p>
            <a:pPr indent="0" marL="0">
              <a:buNone/>
            </a:pPr>
            <a:r>
              <a:rPr lang="en-US" sz="1350" b="1" dirty="0">
                <a:solidFill>
                  <a:schemeClr val="tx1"/>
                </a:solidFill>
              </a:rPr>
              <a:t>Hennessy</a:t>
            </a:r>
            <a:endParaRPr lang="en-US" sz="1350" dirty="0"/>
          </a:p>
        </p:txBody>
      </p:sp>
      <p:sp>
        <p:nvSpPr>
          <p:cNvPr id="8" name="Text 6"/>
          <p:cNvSpPr txBox="1"/>
          <p:nvPr/>
        </p:nvSpPr>
        <p:spPr>
          <a:xfrm>
            <a:off x="548640" y="2651760"/>
            <a:ext cx="2514600" cy="228600"/>
          </a:xfrm>
          <a:prstGeom prst="rect">
            <a:avLst/>
          </a:prstGeom>
          <a:noFill/>
          <a:ln/>
        </p:spPr>
        <p:txBody>
          <a:bodyPr wrap="square" lIns="0" tIns="0" rIns="0" bIns="0" rtlCol="0" anchor="t"/>
          <a:lstStyle/>
          <a:p>
            <a:pPr indent="0" marL="0">
              <a:buNone/>
            </a:pPr>
            <a:r>
              <a:rPr lang="en-US" sz="1200" dirty="0">
                <a:solidFill>
                  <a:schemeClr val="accent2"/>
                </a:solidFill>
              </a:rPr>
              <a:t>ACM TOPLAS 4(3)</a:t>
            </a:r>
            <a:endParaRPr lang="en-US" sz="1200" dirty="0"/>
          </a:p>
        </p:txBody>
      </p:sp>
      <p:sp>
        <p:nvSpPr>
          <p:cNvPr id="9" name="Text 7"/>
          <p:cNvSpPr txBox="1"/>
          <p:nvPr/>
        </p:nvSpPr>
        <p:spPr>
          <a:xfrm>
            <a:off x="548640" y="2926080"/>
            <a:ext cx="2514600" cy="1005840"/>
          </a:xfrm>
          <a:prstGeom prst="rect">
            <a:avLst/>
          </a:prstGeom>
          <a:noFill/>
          <a:ln/>
        </p:spPr>
        <p:txBody>
          <a:bodyPr wrap="square" lIns="0" tIns="0" rIns="0" bIns="0" rtlCol="0" anchor="t"/>
          <a:lstStyle/>
          <a:p>
            <a:pPr indent="0" marL="0">
              <a:buNone/>
            </a:pPr>
            <a:r>
              <a:rPr lang="en-US" sz="1250" dirty="0">
                <a:solidFill>
                  <a:schemeClr val="tx2"/>
                </a:solidFill>
              </a:rPr>
              <a:t>“Symbolic Debugging of Optimized Code.” Optimisation makes variable values non-current; gives algorithms to detect it.</a:t>
            </a:r>
            <a:endParaRPr lang="en-US" sz="1250" dirty="0"/>
          </a:p>
        </p:txBody>
      </p:sp>
      <p:sp>
        <p:nvSpPr>
          <p:cNvPr id="10" name="Text 8"/>
          <p:cNvSpPr txBox="1"/>
          <p:nvPr/>
        </p:nvSpPr>
        <p:spPr>
          <a:xfrm>
            <a:off x="3291840" y="1280160"/>
            <a:ext cx="2377440" cy="594360"/>
          </a:xfrm>
          <a:prstGeom prst="rect">
            <a:avLst/>
          </a:prstGeom>
          <a:noFill/>
          <a:ln/>
        </p:spPr>
        <p:txBody>
          <a:bodyPr wrap="square" lIns="0" tIns="0" rIns="0" bIns="0" rtlCol="0" anchor="t"/>
          <a:lstStyle/>
          <a:p>
            <a:pPr indent="0" marL="0">
              <a:buNone/>
            </a:pPr>
            <a:r>
              <a:rPr lang="en-US" sz="3600" b="1" dirty="0">
                <a:solidFill>
                  <a:schemeClr val="tx1"/>
                </a:solidFill>
                <a:latin typeface="Cambria" pitchFamily="34" charset="0"/>
                <a:ea typeface="Cambria" pitchFamily="34" charset="-122"/>
                <a:cs typeface="Cambria" pitchFamily="34" charset="-120"/>
              </a:rPr>
              <a:t>2020</a:t>
            </a:r>
            <a:endParaRPr lang="en-US" sz="3600" dirty="0"/>
          </a:p>
        </p:txBody>
      </p:sp>
      <p:sp>
        <p:nvSpPr>
          <p:cNvPr id="11" name="tick"/>
          <p:cNvSpPr/>
          <p:nvPr/>
        </p:nvSpPr>
        <p:spPr>
          <a:xfrm>
            <a:off x="3291840" y="1938528"/>
            <a:ext cx="109728" cy="109728"/>
          </a:xfrm>
          <a:prstGeom prst="ellipse">
            <a:avLst/>
          </a:prstGeom>
          <a:solidFill>
            <a:schemeClr val="tx1"/>
          </a:solidFill>
          <a:ln/>
        </p:spPr>
      </p:sp>
      <p:sp>
        <p:nvSpPr>
          <p:cNvPr id="12" name="Text 10"/>
          <p:cNvSpPr txBox="1"/>
          <p:nvPr/>
        </p:nvSpPr>
        <p:spPr>
          <a:xfrm>
            <a:off x="3291840" y="2194560"/>
            <a:ext cx="2514600" cy="457200"/>
          </a:xfrm>
          <a:prstGeom prst="rect">
            <a:avLst/>
          </a:prstGeom>
          <a:noFill/>
          <a:ln/>
        </p:spPr>
        <p:txBody>
          <a:bodyPr wrap="square" lIns="0" tIns="0" rIns="0" bIns="0" rtlCol="0" anchor="t"/>
          <a:lstStyle/>
          <a:p>
            <a:pPr indent="0" marL="0">
              <a:buNone/>
            </a:pPr>
            <a:r>
              <a:rPr lang="en-US" sz="1350" b="1" dirty="0">
                <a:solidFill>
                  <a:schemeClr val="tx1"/>
                </a:solidFill>
              </a:rPr>
              <a:t>Li, Ding, Zhang &amp; Italiano</a:t>
            </a:r>
            <a:endParaRPr lang="en-US" sz="1350" dirty="0"/>
          </a:p>
        </p:txBody>
      </p:sp>
      <p:sp>
        <p:nvSpPr>
          <p:cNvPr id="13" name="Text 11"/>
          <p:cNvSpPr txBox="1"/>
          <p:nvPr/>
        </p:nvSpPr>
        <p:spPr>
          <a:xfrm>
            <a:off x="3291840" y="2651760"/>
            <a:ext cx="2514600" cy="228600"/>
          </a:xfrm>
          <a:prstGeom prst="rect">
            <a:avLst/>
          </a:prstGeom>
          <a:noFill/>
          <a:ln/>
        </p:spPr>
        <p:txBody>
          <a:bodyPr wrap="square" lIns="0" tIns="0" rIns="0" bIns="0" rtlCol="0" anchor="t"/>
          <a:lstStyle/>
          <a:p>
            <a:pPr indent="0" marL="0">
              <a:buNone/>
            </a:pPr>
            <a:r>
              <a:rPr lang="en-US" sz="1200" dirty="0">
                <a:solidFill>
                  <a:schemeClr val="accent2"/>
                </a:solidFill>
              </a:rPr>
              <a:t>PLDI 2020</a:t>
            </a:r>
            <a:endParaRPr lang="en-US" sz="1200" dirty="0"/>
          </a:p>
        </p:txBody>
      </p:sp>
      <p:sp>
        <p:nvSpPr>
          <p:cNvPr id="14" name="Text 12"/>
          <p:cNvSpPr txBox="1"/>
          <p:nvPr/>
        </p:nvSpPr>
        <p:spPr>
          <a:xfrm>
            <a:off x="3291840" y="2926080"/>
            <a:ext cx="2514600" cy="1005840"/>
          </a:xfrm>
          <a:prstGeom prst="rect">
            <a:avLst/>
          </a:prstGeom>
          <a:noFill/>
          <a:ln/>
        </p:spPr>
        <p:txBody>
          <a:bodyPr wrap="square" lIns="0" tIns="0" rIns="0" bIns="0" rtlCol="0" anchor="t"/>
          <a:lstStyle/>
          <a:p>
            <a:pPr indent="0" marL="0">
              <a:buNone/>
            </a:pPr>
            <a:r>
              <a:rPr lang="en-US" sz="1250" dirty="0">
                <a:solidFill>
                  <a:schemeClr val="tx2"/>
                </a:solidFill>
              </a:rPr>
              <a:t>“Debug Information Validation for Optimized Code.” Checks GCC/LLVM debug info against unoptimised builds; finds many real bugs.</a:t>
            </a:r>
            <a:endParaRPr lang="en-US" sz="1250" dirty="0"/>
          </a:p>
        </p:txBody>
      </p:sp>
      <p:sp>
        <p:nvSpPr>
          <p:cNvPr id="15" name="Text 13"/>
          <p:cNvSpPr txBox="1"/>
          <p:nvPr/>
        </p:nvSpPr>
        <p:spPr>
          <a:xfrm>
            <a:off x="6035040" y="1280160"/>
            <a:ext cx="2377440" cy="594360"/>
          </a:xfrm>
          <a:prstGeom prst="rect">
            <a:avLst/>
          </a:prstGeom>
          <a:noFill/>
          <a:ln/>
        </p:spPr>
        <p:txBody>
          <a:bodyPr wrap="square" lIns="0" tIns="0" rIns="0" bIns="0" rtlCol="0" anchor="t"/>
          <a:lstStyle/>
          <a:p>
            <a:pPr indent="0" marL="0">
              <a:buNone/>
            </a:pPr>
            <a:r>
              <a:rPr lang="en-US" sz="3600" b="1" dirty="0">
                <a:solidFill>
                  <a:schemeClr val="tx1"/>
                </a:solidFill>
                <a:latin typeface="Cambria" pitchFamily="34" charset="0"/>
                <a:ea typeface="Cambria" pitchFamily="34" charset="-122"/>
                <a:cs typeface="Cambria" pitchFamily="34" charset="-120"/>
              </a:rPr>
              <a:t>2023</a:t>
            </a:r>
            <a:endParaRPr lang="en-US" sz="3600" dirty="0"/>
          </a:p>
        </p:txBody>
      </p:sp>
      <p:sp>
        <p:nvSpPr>
          <p:cNvPr id="16" name="tick"/>
          <p:cNvSpPr/>
          <p:nvPr/>
        </p:nvSpPr>
        <p:spPr>
          <a:xfrm>
            <a:off x="6035040" y="1938528"/>
            <a:ext cx="109728" cy="109728"/>
          </a:xfrm>
          <a:prstGeom prst="ellipse">
            <a:avLst/>
          </a:prstGeom>
          <a:solidFill>
            <a:schemeClr val="tx1"/>
          </a:solidFill>
          <a:ln/>
        </p:spPr>
      </p:sp>
      <p:sp>
        <p:nvSpPr>
          <p:cNvPr id="17" name="Text 15"/>
          <p:cNvSpPr txBox="1"/>
          <p:nvPr/>
        </p:nvSpPr>
        <p:spPr>
          <a:xfrm>
            <a:off x="6035040" y="2194560"/>
            <a:ext cx="2514600" cy="457200"/>
          </a:xfrm>
          <a:prstGeom prst="rect">
            <a:avLst/>
          </a:prstGeom>
          <a:noFill/>
          <a:ln/>
        </p:spPr>
        <p:txBody>
          <a:bodyPr wrap="square" lIns="0" tIns="0" rIns="0" bIns="0" rtlCol="0" anchor="t"/>
          <a:lstStyle/>
          <a:p>
            <a:pPr indent="0" marL="0">
              <a:buNone/>
            </a:pPr>
            <a:r>
              <a:rPr lang="en-US" sz="1350" b="1" dirty="0">
                <a:solidFill>
                  <a:schemeClr val="tx1"/>
                </a:solidFill>
              </a:rPr>
              <a:t>Assaiante, D’Elia, Di Luna &amp; Querzoni</a:t>
            </a:r>
            <a:endParaRPr lang="en-US" sz="1350" dirty="0"/>
          </a:p>
        </p:txBody>
      </p:sp>
      <p:sp>
        <p:nvSpPr>
          <p:cNvPr id="18" name="Text 16"/>
          <p:cNvSpPr txBox="1"/>
          <p:nvPr/>
        </p:nvSpPr>
        <p:spPr>
          <a:xfrm>
            <a:off x="6035040" y="2651760"/>
            <a:ext cx="2514600" cy="228600"/>
          </a:xfrm>
          <a:prstGeom prst="rect">
            <a:avLst/>
          </a:prstGeom>
          <a:noFill/>
          <a:ln/>
        </p:spPr>
        <p:txBody>
          <a:bodyPr wrap="square" lIns="0" tIns="0" rIns="0" bIns="0" rtlCol="0" anchor="t"/>
          <a:lstStyle/>
          <a:p>
            <a:pPr indent="0" marL="0">
              <a:buNone/>
            </a:pPr>
            <a:r>
              <a:rPr lang="en-US" sz="1200" dirty="0">
                <a:solidFill>
                  <a:schemeClr val="accent2"/>
                </a:solidFill>
              </a:rPr>
              <a:t>ASPLOS 2023</a:t>
            </a:r>
            <a:endParaRPr lang="en-US" sz="1200" dirty="0"/>
          </a:p>
        </p:txBody>
      </p:sp>
      <p:sp>
        <p:nvSpPr>
          <p:cNvPr id="19" name="Text 17"/>
          <p:cNvSpPr txBox="1"/>
          <p:nvPr/>
        </p:nvSpPr>
        <p:spPr>
          <a:xfrm>
            <a:off x="6035040" y="2926080"/>
            <a:ext cx="2514600" cy="1005840"/>
          </a:xfrm>
          <a:prstGeom prst="rect">
            <a:avLst/>
          </a:prstGeom>
          <a:noFill/>
          <a:ln/>
        </p:spPr>
        <p:txBody>
          <a:bodyPr wrap="square" lIns="0" tIns="0" rIns="0" bIns="0" rtlCol="0" anchor="t"/>
          <a:lstStyle/>
          <a:p>
            <a:pPr indent="0" marL="0">
              <a:buNone/>
            </a:pPr>
            <a:r>
              <a:rPr lang="en-US" sz="1250" dirty="0">
                <a:solidFill>
                  <a:schemeClr val="tx2"/>
                </a:solidFill>
              </a:rPr>
              <a:t>“Where Did My Variable Go?” Measures incomplete debug info; 24 bugs confirmed by gcc/clang developers.</a:t>
            </a:r>
            <a:endParaRPr lang="en-US" sz="1250" dirty="0"/>
          </a:p>
        </p:txBody>
      </p:sp>
      <p:sp>
        <p:nvSpPr>
          <p:cNvPr id="20" name="Text 18"/>
          <p:cNvSpPr txBox="1"/>
          <p:nvPr/>
        </p:nvSpPr>
        <p:spPr>
          <a:xfrm>
            <a:off x="548640" y="4023360"/>
            <a:ext cx="8046720" cy="594360"/>
          </a:xfrm>
          <a:prstGeom prst="rect">
            <a:avLst/>
          </a:prstGeom>
          <a:noFill/>
          <a:ln/>
        </p:spPr>
        <p:txBody>
          <a:bodyPr wrap="square" lIns="0" tIns="0" rIns="0" bIns="0" rtlCol="0" anchor="t"/>
          <a:lstStyle/>
          <a:p>
            <a:pPr indent="0" marL="0">
              <a:buNone/>
            </a:pPr>
            <a:r>
              <a:rPr lang="en-US" sz="1500" i="1" dirty="0">
                <a:solidFill>
                  <a:schemeClr val="tx1"/>
                </a:solidFill>
                <a:latin typeface="Cambria" pitchFamily="34" charset="0"/>
                <a:ea typeface="Cambria" pitchFamily="34" charset="-122"/>
                <a:cs typeface="Cambria" pitchFamily="34" charset="-120"/>
              </a:rPr>
              <a:t>If mature compilers ship wrong or incomplete debug information, Tether should not trust its own map: it checks it with an independent decoder and measures what -O1 loses.</a:t>
            </a:r>
            <a:endParaRPr lang="en-US" sz="1500" dirty="0"/>
          </a:p>
        </p:txBody>
      </p:sp>
      <p:sp>
        <p:nvSpPr>
          <p:cNvPr id="25" name="Slide Number Placeholder 0"/>
          <p:cNvSpPr>
            <a:spLocks noGrp="1"/>
          </p:cNvSpPr>
          <p:nvPr>
            <p:ph type="sldNum" sz="quarter" idx="4294967295"/>
          </p:nvPr>
        </p:nvSpPr>
        <p:spPr>
          <a:xfrm>
            <a:off x="8138160" y="25603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9AA1AC"/>
                </a:solidFill>
                <a:latin typeface="Consolas"/>
                <a:ea typeface="Consolas"/>
                <a:cs typeface="Consola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5486400" cy="228600"/>
          </a:xfrm>
          <a:prstGeom prst="rect">
            <a:avLst/>
          </a:prstGeom>
          <a:noFill/>
          <a:ln/>
        </p:spPr>
        <p:txBody>
          <a:bodyPr wrap="square" lIns="0" tIns="0" rIns="0" bIns="0" rtlCol="0"/>
          <a:lstStyle/>
          <a:p>
            <a:pPr indent="0" marL="0">
              <a:buNone/>
            </a:pPr>
            <a:r>
              <a:rPr lang="en-US" sz="1000" dirty="0">
                <a:solidFill>
                  <a:schemeClr val="accent5"/>
                </a:solidFill>
                <a:latin typeface="Consolas" pitchFamily="34" charset="0"/>
                <a:ea typeface="Consolas" pitchFamily="34" charset="-122"/>
                <a:cs typeface="Consolas" pitchFamily="34" charset="-120"/>
              </a:rPr>
              <a:t>tether / 02-gap</a:t>
            </a:r>
            <a:endParaRPr lang="en-US" sz="1000" dirty="0"/>
          </a:p>
        </p:txBody>
      </p:sp>
      <p:sp>
        <p:nvSpPr>
          <p:cNvPr id="3" name="Text 0"/>
          <p:cNvSpPr/>
          <p:nvPr>
            <p:ph idx="101" type="title" hasCustomPrompt="1"/>
          </p:nvPr>
        </p:nvSpPr>
        <p:spPr>
          <a:xfrm>
            <a:off x="548640" y="502920"/>
            <a:ext cx="8046720" cy="640080"/>
          </a:xfrm>
          <a:prstGeom prst="rect">
            <a:avLst/>
          </a:prstGeom>
          <a:noFill/>
          <a:ln/>
        </p:spPr>
        <p:txBody>
          <a:bodyPr wrap="square" lIns="0" tIns="0" rIns="0" bIns="0" rtlCol="0" anchor="t"/>
          <a:lstStyle/>
          <a:p>
            <a:pPr algn="l" indent="0" marL="0">
              <a:buNone/>
            </a:pPr>
            <a:r>
              <a:rPr lang="en-US" sz="2800" b="1" dirty="0">
                <a:solidFill>
                  <a:schemeClr val="tx1"/>
                </a:solidFill>
              </a:rPr>
              <a:t>The gap Tether fills</a:t>
            </a:r>
            <a:endParaRPr lang="en-US" sz="2800" dirty="0"/>
          </a:p>
        </p:txBody>
      </p:sp>
      <p:sp>
        <p:nvSpPr>
          <p:cNvPr id="4" name="Text 2"/>
          <p:cNvSpPr txBox="1"/>
          <p:nvPr/>
        </p:nvSpPr>
        <p:spPr>
          <a:xfrm>
            <a:off x="548640" y="1371600"/>
            <a:ext cx="1874520" cy="274320"/>
          </a:xfrm>
          <a:prstGeom prst="rect">
            <a:avLst/>
          </a:prstGeom>
          <a:noFill/>
          <a:ln/>
        </p:spPr>
        <p:txBody>
          <a:bodyPr wrap="square" lIns="0" tIns="0" rIns="0" bIns="0" rtlCol="0" anchor="t"/>
          <a:lstStyle/>
          <a:p>
            <a:pPr indent="0" marL="0">
              <a:buNone/>
            </a:pPr>
            <a:r>
              <a:rPr lang="en-US" sz="1500" b="1" dirty="0">
                <a:solidFill>
                  <a:schemeClr val="tx1"/>
                </a:solidFill>
              </a:rPr>
              <a:t>Native compilers</a:t>
            </a:r>
            <a:endParaRPr lang="en-US" sz="1500" dirty="0"/>
          </a:p>
        </p:txBody>
      </p:sp>
      <p:sp>
        <p:nvSpPr>
          <p:cNvPr id="5" name="Text 3"/>
          <p:cNvSpPr txBox="1"/>
          <p:nvPr/>
        </p:nvSpPr>
        <p:spPr>
          <a:xfrm>
            <a:off x="548640" y="1664208"/>
            <a:ext cx="1874520" cy="228600"/>
          </a:xfrm>
          <a:prstGeom prst="rect">
            <a:avLst/>
          </a:prstGeom>
          <a:noFill/>
          <a:ln/>
        </p:spPr>
        <p:txBody>
          <a:bodyPr wrap="square" lIns="0" tIns="0" rIns="0" bIns="0" rtlCol="0" anchor="t"/>
          <a:lstStyle/>
          <a:p>
            <a:pPr indent="0" marL="0">
              <a:buNone/>
            </a:pPr>
            <a:r>
              <a:rPr lang="en-US" sz="1200" dirty="0">
                <a:solidFill>
                  <a:schemeClr val="accent5"/>
                </a:solidFill>
              </a:rPr>
              <a:t>GCC, LLVM</a:t>
            </a:r>
            <a:endParaRPr lang="en-US" sz="1200" dirty="0"/>
          </a:p>
        </p:txBody>
      </p:sp>
      <p:sp>
        <p:nvSpPr>
          <p:cNvPr id="6" name="Text 4"/>
          <p:cNvSpPr txBox="1"/>
          <p:nvPr/>
        </p:nvSpPr>
        <p:spPr>
          <a:xfrm>
            <a:off x="548640" y="2103120"/>
            <a:ext cx="1874520" cy="731520"/>
          </a:xfrm>
          <a:prstGeom prst="rect">
            <a:avLst/>
          </a:prstGeom>
          <a:noFill/>
          <a:ln/>
        </p:spPr>
        <p:txBody>
          <a:bodyPr wrap="square" lIns="0" tIns="0" rIns="0" bIns="0" rtlCol="0" anchor="t"/>
          <a:lstStyle/>
          <a:p>
            <a:pPr indent="0" marL="0">
              <a:buNone/>
            </a:pPr>
            <a:r>
              <a:rPr lang="en-US" sz="1100" dirty="0">
                <a:solidFill>
                  <a:srgbClr val="1F7A4D"/>
                </a:solidFill>
                <a:latin typeface="Consolas" pitchFamily="34" charset="0"/>
                <a:ea typeface="Consolas" pitchFamily="34" charset="-122"/>
                <a:cs typeface="Consolas" pitchFamily="34" charset="-120"/>
              </a:rPr>
              <a:t>has  </a:t>
            </a:r>
            <a:pPr indent="0" marL="0">
              <a:buNone/>
            </a:pPr>
            <a:r>
              <a:rPr lang="en-US" sz="1300" dirty="0">
                <a:solidFill>
                  <a:schemeClr val="tx2"/>
                </a:solidFill>
              </a:rPr>
              <a:t>Debug-info quality studied in depth</a:t>
            </a:r>
            <a:endParaRPr lang="en-US" sz="1300" dirty="0"/>
          </a:p>
        </p:txBody>
      </p:sp>
      <p:sp>
        <p:nvSpPr>
          <p:cNvPr id="7" name="Text 5"/>
          <p:cNvSpPr txBox="1"/>
          <p:nvPr/>
        </p:nvSpPr>
        <p:spPr>
          <a:xfrm>
            <a:off x="548640" y="2926080"/>
            <a:ext cx="1874520" cy="731520"/>
          </a:xfrm>
          <a:prstGeom prst="rect">
            <a:avLst/>
          </a:prstGeom>
          <a:noFill/>
          <a:ln/>
        </p:spPr>
        <p:txBody>
          <a:bodyPr wrap="square" lIns="0" tIns="0" rIns="0" bIns="0" rtlCol="0" anchor="t"/>
          <a:lstStyle/>
          <a:p>
            <a:pPr indent="0" marL="0">
              <a:buNone/>
            </a:pPr>
            <a:r>
              <a:rPr lang="en-US" sz="1100" dirty="0">
                <a:solidFill>
                  <a:srgbClr val="B83227"/>
                </a:solidFill>
                <a:latin typeface="Consolas" pitchFamily="34" charset="0"/>
                <a:ea typeface="Consolas" pitchFamily="34" charset="-122"/>
                <a:cs typeface="Consolas" pitchFamily="34" charset="-120"/>
              </a:rPr>
              <a:t>lacks  </a:t>
            </a:r>
            <a:pPr indent="0" marL="0">
              <a:buNone/>
            </a:pPr>
            <a:r>
              <a:rPr lang="en-US" sz="1300" dirty="0">
                <a:solidFill>
                  <a:schemeClr val="tx2"/>
                </a:solidFill>
              </a:rPr>
              <a:t>Studies target native binaries, not transpilers</a:t>
            </a:r>
            <a:endParaRPr lang="en-US" sz="1300" dirty="0"/>
          </a:p>
        </p:txBody>
      </p:sp>
      <p:sp>
        <p:nvSpPr>
          <p:cNvPr id="8" name="Text 6"/>
          <p:cNvSpPr txBox="1"/>
          <p:nvPr/>
        </p:nvSpPr>
        <p:spPr>
          <a:xfrm>
            <a:off x="2606040" y="1371600"/>
            <a:ext cx="1874520" cy="274320"/>
          </a:xfrm>
          <a:prstGeom prst="rect">
            <a:avLst/>
          </a:prstGeom>
          <a:noFill/>
          <a:ln/>
        </p:spPr>
        <p:txBody>
          <a:bodyPr wrap="square" lIns="0" tIns="0" rIns="0" bIns="0" rtlCol="0" anchor="t"/>
          <a:lstStyle/>
          <a:p>
            <a:pPr indent="0" marL="0">
              <a:buNone/>
            </a:pPr>
            <a:r>
              <a:rPr lang="en-US" sz="1500" b="1" dirty="0">
                <a:solidFill>
                  <a:schemeClr val="tx1"/>
                </a:solidFill>
              </a:rPr>
              <a:t>Production transpilers</a:t>
            </a:r>
            <a:endParaRPr lang="en-US" sz="1500" dirty="0"/>
          </a:p>
        </p:txBody>
      </p:sp>
      <p:sp>
        <p:nvSpPr>
          <p:cNvPr id="9" name="Text 7"/>
          <p:cNvSpPr txBox="1"/>
          <p:nvPr/>
        </p:nvSpPr>
        <p:spPr>
          <a:xfrm>
            <a:off x="2606040" y="1664208"/>
            <a:ext cx="1874520" cy="228600"/>
          </a:xfrm>
          <a:prstGeom prst="rect">
            <a:avLst/>
          </a:prstGeom>
          <a:noFill/>
          <a:ln/>
        </p:spPr>
        <p:txBody>
          <a:bodyPr wrap="square" lIns="0" tIns="0" rIns="0" bIns="0" rtlCol="0" anchor="t"/>
          <a:lstStyle/>
          <a:p>
            <a:pPr indent="0" marL="0">
              <a:buNone/>
            </a:pPr>
            <a:r>
              <a:rPr lang="en-US" sz="1200" dirty="0">
                <a:solidFill>
                  <a:schemeClr val="accent5"/>
                </a:solidFill>
              </a:rPr>
              <a:t>TypeScript, Babel</a:t>
            </a:r>
            <a:endParaRPr lang="en-US" sz="1200" dirty="0"/>
          </a:p>
        </p:txBody>
      </p:sp>
      <p:sp>
        <p:nvSpPr>
          <p:cNvPr id="10" name="Text 8"/>
          <p:cNvSpPr txBox="1"/>
          <p:nvPr/>
        </p:nvSpPr>
        <p:spPr>
          <a:xfrm>
            <a:off x="2606040" y="2103120"/>
            <a:ext cx="1874520" cy="731520"/>
          </a:xfrm>
          <a:prstGeom prst="rect">
            <a:avLst/>
          </a:prstGeom>
          <a:noFill/>
          <a:ln/>
        </p:spPr>
        <p:txBody>
          <a:bodyPr wrap="square" lIns="0" tIns="0" rIns="0" bIns="0" rtlCol="0" anchor="t"/>
          <a:lstStyle/>
          <a:p>
            <a:pPr indent="0" marL="0">
              <a:buNone/>
            </a:pPr>
            <a:r>
              <a:rPr lang="en-US" sz="1100" dirty="0">
                <a:solidFill>
                  <a:srgbClr val="1F7A4D"/>
                </a:solidFill>
                <a:latin typeface="Consolas" pitchFamily="34" charset="0"/>
                <a:ea typeface="Consolas" pitchFamily="34" charset="-122"/>
                <a:cs typeface="Consolas" pitchFamily="34" charset="-120"/>
              </a:rPr>
              <a:t>has  </a:t>
            </a:r>
            <a:pPr indent="0" marL="0">
              <a:buNone/>
            </a:pPr>
            <a:r>
              <a:rPr lang="en-US" sz="1300" dirty="0">
                <a:solidFill>
                  <a:schemeClr val="tx2"/>
                </a:solidFill>
              </a:rPr>
              <a:t>Emit source maps every day</a:t>
            </a:r>
            <a:endParaRPr lang="en-US" sz="1300" dirty="0"/>
          </a:p>
        </p:txBody>
      </p:sp>
      <p:sp>
        <p:nvSpPr>
          <p:cNvPr id="11" name="Text 9"/>
          <p:cNvSpPr txBox="1"/>
          <p:nvPr/>
        </p:nvSpPr>
        <p:spPr>
          <a:xfrm>
            <a:off x="2606040" y="2926080"/>
            <a:ext cx="1874520" cy="731520"/>
          </a:xfrm>
          <a:prstGeom prst="rect">
            <a:avLst/>
          </a:prstGeom>
          <a:noFill/>
          <a:ln/>
        </p:spPr>
        <p:txBody>
          <a:bodyPr wrap="square" lIns="0" tIns="0" rIns="0" bIns="0" rtlCol="0" anchor="t"/>
          <a:lstStyle/>
          <a:p>
            <a:pPr indent="0" marL="0">
              <a:buNone/>
            </a:pPr>
            <a:r>
              <a:rPr lang="en-US" sz="1100" dirty="0">
                <a:solidFill>
                  <a:srgbClr val="B83227"/>
                </a:solidFill>
                <a:latin typeface="Consolas" pitchFamily="34" charset="0"/>
                <a:ea typeface="Consolas" pitchFamily="34" charset="-122"/>
                <a:cs typeface="Consolas" pitchFamily="34" charset="-120"/>
              </a:rPr>
              <a:t>lacks  </a:t>
            </a:r>
            <a:pPr indent="0" marL="0">
              <a:buNone/>
            </a:pPr>
            <a:r>
              <a:rPr lang="en-US" sz="1300" dirty="0">
                <a:solidFill>
                  <a:schemeClr val="tx2"/>
                </a:solidFill>
              </a:rPr>
              <a:t>Pipelines too large to study end to end</a:t>
            </a:r>
            <a:endParaRPr lang="en-US" sz="1300" dirty="0"/>
          </a:p>
        </p:txBody>
      </p:sp>
      <p:sp>
        <p:nvSpPr>
          <p:cNvPr id="12" name="Text 10"/>
          <p:cNvSpPr txBox="1"/>
          <p:nvPr/>
        </p:nvSpPr>
        <p:spPr>
          <a:xfrm>
            <a:off x="4663440" y="1371600"/>
            <a:ext cx="1874520" cy="274320"/>
          </a:xfrm>
          <a:prstGeom prst="rect">
            <a:avLst/>
          </a:prstGeom>
          <a:noFill/>
          <a:ln/>
        </p:spPr>
        <p:txBody>
          <a:bodyPr wrap="square" lIns="0" tIns="0" rIns="0" bIns="0" rtlCol="0" anchor="t"/>
          <a:lstStyle/>
          <a:p>
            <a:pPr indent="0" marL="0">
              <a:buNone/>
            </a:pPr>
            <a:r>
              <a:rPr lang="en-US" sz="1500" b="1" dirty="0">
                <a:solidFill>
                  <a:schemeClr val="tx1"/>
                </a:solidFill>
              </a:rPr>
              <a:t>Teaching compilers</a:t>
            </a:r>
            <a:endParaRPr lang="en-US" sz="1500" dirty="0"/>
          </a:p>
        </p:txBody>
      </p:sp>
      <p:sp>
        <p:nvSpPr>
          <p:cNvPr id="13" name="Text 11"/>
          <p:cNvSpPr txBox="1"/>
          <p:nvPr/>
        </p:nvSpPr>
        <p:spPr>
          <a:xfrm>
            <a:off x="4663440" y="1664208"/>
            <a:ext cx="1874520" cy="228600"/>
          </a:xfrm>
          <a:prstGeom prst="rect">
            <a:avLst/>
          </a:prstGeom>
          <a:noFill/>
          <a:ln/>
        </p:spPr>
        <p:txBody>
          <a:bodyPr wrap="square" lIns="0" tIns="0" rIns="0" bIns="0" rtlCol="0" anchor="t"/>
          <a:lstStyle/>
          <a:p>
            <a:pPr indent="0" marL="0">
              <a:buNone/>
            </a:pPr>
            <a:r>
              <a:rPr lang="en-US" sz="1200" dirty="0">
                <a:solidFill>
                  <a:schemeClr val="accent5"/>
                </a:solidFill>
              </a:rPr>
              <a:t>course projects</a:t>
            </a:r>
            <a:endParaRPr lang="en-US" sz="1200" dirty="0"/>
          </a:p>
        </p:txBody>
      </p:sp>
      <p:sp>
        <p:nvSpPr>
          <p:cNvPr id="14" name="Text 12"/>
          <p:cNvSpPr txBox="1"/>
          <p:nvPr/>
        </p:nvSpPr>
        <p:spPr>
          <a:xfrm>
            <a:off x="4663440" y="2103120"/>
            <a:ext cx="1874520" cy="731520"/>
          </a:xfrm>
          <a:prstGeom prst="rect">
            <a:avLst/>
          </a:prstGeom>
          <a:noFill/>
          <a:ln/>
        </p:spPr>
        <p:txBody>
          <a:bodyPr wrap="square" lIns="0" tIns="0" rIns="0" bIns="0" rtlCol="0" anchor="t"/>
          <a:lstStyle/>
          <a:p>
            <a:pPr indent="0" marL="0">
              <a:buNone/>
            </a:pPr>
            <a:r>
              <a:rPr lang="en-US" sz="1100" dirty="0">
                <a:solidFill>
                  <a:srgbClr val="1F7A4D"/>
                </a:solidFill>
                <a:latin typeface="Consolas" pitchFamily="34" charset="0"/>
                <a:ea typeface="Consolas" pitchFamily="34" charset="-122"/>
                <a:cs typeface="Consolas" pitchFamily="34" charset="-120"/>
              </a:rPr>
              <a:t>has  </a:t>
            </a:r>
            <a:pPr indent="0" marL="0">
              <a:buNone/>
            </a:pPr>
            <a:r>
              <a:rPr lang="en-US" sz="1300" dirty="0">
                <a:solidFill>
                  <a:schemeClr val="tx2"/>
                </a:solidFill>
              </a:rPr>
              <a:t>Cover every phase</a:t>
            </a:r>
            <a:endParaRPr lang="en-US" sz="1300" dirty="0"/>
          </a:p>
        </p:txBody>
      </p:sp>
      <p:sp>
        <p:nvSpPr>
          <p:cNvPr id="15" name="Text 13"/>
          <p:cNvSpPr txBox="1"/>
          <p:nvPr/>
        </p:nvSpPr>
        <p:spPr>
          <a:xfrm>
            <a:off x="4663440" y="2926080"/>
            <a:ext cx="1874520" cy="731520"/>
          </a:xfrm>
          <a:prstGeom prst="rect">
            <a:avLst/>
          </a:prstGeom>
          <a:noFill/>
          <a:ln/>
        </p:spPr>
        <p:txBody>
          <a:bodyPr wrap="square" lIns="0" tIns="0" rIns="0" bIns="0" rtlCol="0" anchor="t"/>
          <a:lstStyle/>
          <a:p>
            <a:pPr indent="0" marL="0">
              <a:buNone/>
            </a:pPr>
            <a:r>
              <a:rPr lang="en-US" sz="1100" dirty="0">
                <a:solidFill>
                  <a:srgbClr val="B83227"/>
                </a:solidFill>
                <a:latin typeface="Consolas" pitchFamily="34" charset="0"/>
                <a:ea typeface="Consolas" pitchFamily="34" charset="-122"/>
                <a:cs typeface="Consolas" pitchFamily="34" charset="-120"/>
              </a:rPr>
              <a:t>lacks  </a:t>
            </a:r>
            <a:pPr indent="0" marL="0">
              <a:buNone/>
            </a:pPr>
            <a:r>
              <a:rPr lang="en-US" sz="1300" dirty="0">
                <a:solidFill>
                  <a:schemeClr val="tx2"/>
                </a:solidFill>
              </a:rPr>
              <a:t>Positions serve error messages only</a:t>
            </a:r>
            <a:endParaRPr lang="en-US" sz="1300" dirty="0"/>
          </a:p>
        </p:txBody>
      </p:sp>
      <p:sp>
        <p:nvSpPr>
          <p:cNvPr id="16" name="tether-column"/>
          <p:cNvSpPr/>
          <p:nvPr/>
        </p:nvSpPr>
        <p:spPr>
          <a:xfrm>
            <a:off x="6675120" y="1234440"/>
            <a:ext cx="1920240" cy="3291840"/>
          </a:xfrm>
          <a:prstGeom prst="rect">
            <a:avLst/>
          </a:prstGeom>
          <a:solidFill>
            <a:schemeClr val="accent1">
              <a:alpha val="22000"/>
            </a:schemeClr>
          </a:solidFill>
          <a:ln/>
        </p:spPr>
      </p:sp>
      <p:sp>
        <p:nvSpPr>
          <p:cNvPr id="17" name="Text 15"/>
          <p:cNvSpPr txBox="1"/>
          <p:nvPr/>
        </p:nvSpPr>
        <p:spPr>
          <a:xfrm>
            <a:off x="6812280" y="1371600"/>
            <a:ext cx="1691640" cy="274320"/>
          </a:xfrm>
          <a:prstGeom prst="rect">
            <a:avLst/>
          </a:prstGeom>
          <a:noFill/>
          <a:ln/>
        </p:spPr>
        <p:txBody>
          <a:bodyPr wrap="square" lIns="0" tIns="0" rIns="0" bIns="0" rtlCol="0" anchor="t"/>
          <a:lstStyle/>
          <a:p>
            <a:pPr indent="0" marL="0">
              <a:buNone/>
            </a:pPr>
            <a:r>
              <a:rPr lang="en-US" sz="1500" b="1" dirty="0">
                <a:solidFill>
                  <a:schemeClr val="tx1"/>
                </a:solidFill>
              </a:rPr>
              <a:t>Tether</a:t>
            </a:r>
            <a:endParaRPr lang="en-US" sz="1500" dirty="0"/>
          </a:p>
        </p:txBody>
      </p:sp>
      <p:sp>
        <p:nvSpPr>
          <p:cNvPr id="18" name="Text 16"/>
          <p:cNvSpPr txBox="1"/>
          <p:nvPr/>
        </p:nvSpPr>
        <p:spPr>
          <a:xfrm>
            <a:off x="6812280" y="1664208"/>
            <a:ext cx="1691640" cy="228600"/>
          </a:xfrm>
          <a:prstGeom prst="rect">
            <a:avLst/>
          </a:prstGeom>
          <a:noFill/>
          <a:ln/>
        </p:spPr>
        <p:txBody>
          <a:bodyPr wrap="square" lIns="0" tIns="0" rIns="0" bIns="0" rtlCol="0" anchor="t"/>
          <a:lstStyle/>
          <a:p>
            <a:pPr indent="0" marL="0">
              <a:buNone/>
            </a:pPr>
            <a:r>
              <a:rPr lang="en-US" sz="1200" dirty="0">
                <a:solidFill>
                  <a:schemeClr val="tx2"/>
                </a:solidFill>
              </a:rPr>
              <a:t>this project</a:t>
            </a:r>
            <a:endParaRPr lang="en-US" sz="1200" dirty="0"/>
          </a:p>
        </p:txBody>
      </p:sp>
      <p:sp>
        <p:nvSpPr>
          <p:cNvPr id="19" name="Text 17"/>
          <p:cNvSpPr txBox="1"/>
          <p:nvPr/>
        </p:nvSpPr>
        <p:spPr>
          <a:xfrm>
            <a:off x="6812280" y="2103120"/>
            <a:ext cx="1691640" cy="2286000"/>
          </a:xfrm>
          <a:prstGeom prst="rect">
            <a:avLst/>
          </a:prstGeom>
          <a:noFill/>
          <a:ln/>
        </p:spPr>
        <p:txBody>
          <a:bodyPr wrap="square" lIns="0" tIns="0" rIns="0" bIns="0" rtlCol="0" anchor="t"/>
          <a:lstStyle/>
          <a:p>
            <a:pPr indent="0" marL="0">
              <a:buNone/>
            </a:pPr>
            <a:r>
              <a:rPr lang="en-US" sz="1300" dirty="0">
                <a:solidFill>
                  <a:schemeClr val="tx1"/>
                </a:solidFill>
              </a:rPr>
              <a:t>A small transpiler where positions are first-class in every phase</a:t>
            </a:r>
            <a:endParaRPr lang="en-US" sz="1300" dirty="0"/>
          </a:p>
          <a:p>
            <a:pPr indent="0" marL="0">
              <a:buNone/>
            </a:pPr>
            <a:r>
              <a:rPr lang="en-US" sz="600" dirty="0">
                <a:solidFill>
                  <a:schemeClr val="tx1"/>
                </a:solidFill>
              </a:rPr>
              <a:t> </a:t>
            </a:r>
            <a:endParaRPr lang="en-US" sz="1300" dirty="0"/>
          </a:p>
          <a:p>
            <a:pPr indent="0" marL="0">
              <a:buNone/>
            </a:pPr>
            <a:r>
              <a:rPr lang="en-US" sz="1300" dirty="0">
                <a:solidFill>
                  <a:schemeClr val="tx1"/>
                </a:solidFill>
              </a:rPr>
              <a:t>Map checked by an independent decoder</a:t>
            </a:r>
            <a:endParaRPr lang="en-US" sz="1300" dirty="0"/>
          </a:p>
          <a:p>
            <a:pPr indent="0" marL="0">
              <a:buNone/>
            </a:pPr>
            <a:r>
              <a:rPr lang="en-US" sz="600" dirty="0">
                <a:solidFill>
                  <a:schemeClr val="tx1"/>
                </a:solidFill>
              </a:rPr>
              <a:t> </a:t>
            </a:r>
            <a:endParaRPr lang="en-US" sz="1300" dirty="0"/>
          </a:p>
          <a:p>
            <a:pPr indent="0" marL="0">
              <a:buNone/>
            </a:pPr>
            <a:r>
              <a:rPr lang="en-US" sz="1300" dirty="0">
                <a:solidFill>
                  <a:schemeClr val="tx1"/>
                </a:solidFill>
              </a:rPr>
              <a:t>Fidelity loss under -O1 measured</a:t>
            </a:r>
            <a:endParaRPr lang="en-US" sz="1300" dirty="0"/>
          </a:p>
        </p:txBody>
      </p:sp>
      <p:sp>
        <p:nvSpPr>
          <p:cNvPr id="25" name="Slide Number Placeholder 0"/>
          <p:cNvSpPr>
            <a:spLocks noGrp="1"/>
          </p:cNvSpPr>
          <p:nvPr>
            <p:ph type="sldNum" sz="quarter" idx="4294967295"/>
          </p:nvPr>
        </p:nvSpPr>
        <p:spPr>
          <a:xfrm>
            <a:off x="8138160" y="25603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9AA1AC"/>
                </a:solidFill>
                <a:latin typeface="Consolas"/>
                <a:ea typeface="Consolas"/>
                <a:cs typeface="Consola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5486400" cy="228600"/>
          </a:xfrm>
          <a:prstGeom prst="rect">
            <a:avLst/>
          </a:prstGeom>
          <a:noFill/>
          <a:ln/>
        </p:spPr>
        <p:txBody>
          <a:bodyPr wrap="square" lIns="0" tIns="0" rIns="0" bIns="0" rtlCol="0"/>
          <a:lstStyle/>
          <a:p>
            <a:pPr indent="0" marL="0">
              <a:buNone/>
            </a:pPr>
            <a:r>
              <a:rPr lang="en-US" sz="1000" dirty="0">
                <a:solidFill>
                  <a:schemeClr val="accent5"/>
                </a:solidFill>
                <a:latin typeface="Consolas" pitchFamily="34" charset="0"/>
                <a:ea typeface="Consolas" pitchFamily="34" charset="-122"/>
                <a:cs typeface="Consolas" pitchFamily="34" charset="-120"/>
              </a:rPr>
              <a:t>tether / 03-novelty</a:t>
            </a:r>
            <a:endParaRPr lang="en-US" sz="1000" dirty="0"/>
          </a:p>
        </p:txBody>
      </p:sp>
      <p:sp>
        <p:nvSpPr>
          <p:cNvPr id="3" name="Text 0"/>
          <p:cNvSpPr/>
          <p:nvPr>
            <p:ph idx="101" type="title" hasCustomPrompt="1"/>
          </p:nvPr>
        </p:nvSpPr>
        <p:spPr>
          <a:xfrm>
            <a:off x="548640" y="502920"/>
            <a:ext cx="8046720" cy="640080"/>
          </a:xfrm>
          <a:prstGeom prst="rect">
            <a:avLst/>
          </a:prstGeom>
          <a:noFill/>
          <a:ln/>
        </p:spPr>
        <p:txBody>
          <a:bodyPr wrap="square" lIns="0" tIns="0" rIns="0" bIns="0" rtlCol="0" anchor="t"/>
          <a:lstStyle/>
          <a:p>
            <a:pPr algn="l" indent="0" marL="0">
              <a:buNone/>
            </a:pPr>
            <a:r>
              <a:rPr lang="en-US" sz="2800" b="1" dirty="0">
                <a:solidFill>
                  <a:schemeClr val="tx1"/>
                </a:solidFill>
              </a:rPr>
              <a:t>What is new</a:t>
            </a:r>
            <a:endParaRPr lang="en-US" sz="2800" dirty="0"/>
          </a:p>
        </p:txBody>
      </p:sp>
      <p:sp>
        <p:nvSpPr>
          <p:cNvPr id="4" name="Text 2"/>
          <p:cNvSpPr txBox="1"/>
          <p:nvPr/>
        </p:nvSpPr>
        <p:spPr>
          <a:xfrm>
            <a:off x="548640" y="1252728"/>
            <a:ext cx="457200" cy="64008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1</a:t>
            </a:r>
            <a:endParaRPr lang="en-US" sz="4000" dirty="0"/>
          </a:p>
        </p:txBody>
      </p:sp>
      <p:sp>
        <p:nvSpPr>
          <p:cNvPr id="5" name="Text 3"/>
          <p:cNvSpPr txBox="1"/>
          <p:nvPr/>
        </p:nvSpPr>
        <p:spPr>
          <a:xfrm>
            <a:off x="1051560" y="1325880"/>
            <a:ext cx="3383280" cy="274320"/>
          </a:xfrm>
          <a:prstGeom prst="rect">
            <a:avLst/>
          </a:prstGeom>
          <a:noFill/>
          <a:ln/>
        </p:spPr>
        <p:txBody>
          <a:bodyPr wrap="square" lIns="0" tIns="0" rIns="0" bIns="0" rtlCol="0" anchor="t"/>
          <a:lstStyle/>
          <a:p>
            <a:pPr indent="0" marL="0">
              <a:buNone/>
            </a:pPr>
            <a:r>
              <a:rPr lang="en-US" sz="1500" b="1" dirty="0">
                <a:solidFill>
                  <a:schemeClr val="tx1"/>
                </a:solidFill>
              </a:rPr>
              <a:t>Position as a first-class artifact</a:t>
            </a:r>
            <a:endParaRPr lang="en-US" sz="1500" dirty="0"/>
          </a:p>
        </p:txBody>
      </p:sp>
      <p:sp>
        <p:nvSpPr>
          <p:cNvPr id="6" name="Text 4"/>
          <p:cNvSpPr txBox="1"/>
          <p:nvPr/>
        </p:nvSpPr>
        <p:spPr>
          <a:xfrm>
            <a:off x="1051560" y="1618488"/>
            <a:ext cx="3383280" cy="201168"/>
          </a:xfrm>
          <a:prstGeom prst="rect">
            <a:avLst/>
          </a:prstGeom>
          <a:noFill/>
          <a:ln/>
        </p:spPr>
        <p:txBody>
          <a:bodyPr wrap="square" lIns="0" tIns="0" rIns="0" bIns="0" rtlCol="0" anchor="t"/>
          <a:lstStyle/>
          <a:p>
            <a:pPr indent="0" marL="0">
              <a:buNone/>
            </a:pPr>
            <a:r>
              <a:rPr lang="en-US" sz="1050" dirty="0">
                <a:solidFill>
                  <a:srgbClr val="1F7A4D"/>
                </a:solidFill>
                <a:latin typeface="Consolas" pitchFamily="34" charset="0"/>
                <a:ea typeface="Consolas" pitchFamily="34" charset="-122"/>
                <a:cs typeface="Consolas" pitchFamily="34" charset="-120"/>
              </a:rPr>
              <a:t>[done]</a:t>
            </a:r>
            <a:endParaRPr lang="en-US" sz="1050" dirty="0"/>
          </a:p>
        </p:txBody>
      </p:sp>
      <p:sp>
        <p:nvSpPr>
          <p:cNvPr id="7" name="Text 5"/>
          <p:cNvSpPr txBox="1"/>
          <p:nvPr/>
        </p:nvSpPr>
        <p:spPr>
          <a:xfrm>
            <a:off x="1051560" y="1874520"/>
            <a:ext cx="3429000" cy="731520"/>
          </a:xfrm>
          <a:prstGeom prst="rect">
            <a:avLst/>
          </a:prstGeom>
          <a:noFill/>
          <a:ln/>
        </p:spPr>
        <p:txBody>
          <a:bodyPr wrap="square" lIns="0" tIns="0" rIns="0" bIns="0" rtlCol="0" anchor="t"/>
          <a:lstStyle/>
          <a:p>
            <a:pPr indent="0" marL="0">
              <a:buNone/>
            </a:pPr>
            <a:r>
              <a:rPr lang="en-US" sz="1300" dirty="0">
                <a:solidFill>
                  <a:schemeClr val="tx2"/>
                </a:solidFill>
              </a:rPr>
              <a:t>Every token and tree node carries an exact span. An invariant is checked over every node of every benchmark.</a:t>
            </a:r>
            <a:endParaRPr lang="en-US" sz="1300" dirty="0"/>
          </a:p>
        </p:txBody>
      </p:sp>
      <p:sp>
        <p:nvSpPr>
          <p:cNvPr id="8" name="Text 6"/>
          <p:cNvSpPr txBox="1"/>
          <p:nvPr/>
        </p:nvSpPr>
        <p:spPr>
          <a:xfrm>
            <a:off x="4663440" y="1252728"/>
            <a:ext cx="457200" cy="64008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2</a:t>
            </a:r>
            <a:endParaRPr lang="en-US" sz="4000" dirty="0"/>
          </a:p>
        </p:txBody>
      </p:sp>
      <p:sp>
        <p:nvSpPr>
          <p:cNvPr id="9" name="Text 7"/>
          <p:cNvSpPr txBox="1"/>
          <p:nvPr/>
        </p:nvSpPr>
        <p:spPr>
          <a:xfrm>
            <a:off x="5166360" y="1325880"/>
            <a:ext cx="3383280" cy="274320"/>
          </a:xfrm>
          <a:prstGeom prst="rect">
            <a:avLst/>
          </a:prstGeom>
          <a:noFill/>
          <a:ln/>
        </p:spPr>
        <p:txBody>
          <a:bodyPr wrap="square" lIns="0" tIns="0" rIns="0" bIns="0" rtlCol="0" anchor="t"/>
          <a:lstStyle/>
          <a:p>
            <a:pPr indent="0" marL="0">
              <a:buNone/>
            </a:pPr>
            <a:r>
              <a:rPr lang="en-US" sz="1500" b="1" dirty="0">
                <a:solidFill>
                  <a:schemeClr val="tx1"/>
                </a:solidFill>
              </a:rPr>
              <a:t>One conversion boundary, property-tested</a:t>
            </a:r>
            <a:endParaRPr lang="en-US" sz="1500" dirty="0"/>
          </a:p>
        </p:txBody>
      </p:sp>
      <p:sp>
        <p:nvSpPr>
          <p:cNvPr id="10" name="Text 8"/>
          <p:cNvSpPr txBox="1"/>
          <p:nvPr/>
        </p:nvSpPr>
        <p:spPr>
          <a:xfrm>
            <a:off x="5166360" y="1618488"/>
            <a:ext cx="3383280" cy="201168"/>
          </a:xfrm>
          <a:prstGeom prst="rect">
            <a:avLst/>
          </a:prstGeom>
          <a:noFill/>
          <a:ln/>
        </p:spPr>
        <p:txBody>
          <a:bodyPr wrap="square" lIns="0" tIns="0" rIns="0" bIns="0" rtlCol="0" anchor="t"/>
          <a:lstStyle/>
          <a:p>
            <a:pPr indent="0" marL="0">
              <a:buNone/>
            </a:pPr>
            <a:r>
              <a:rPr lang="en-US" sz="1050" dirty="0">
                <a:solidFill>
                  <a:srgbClr val="1F7A4D"/>
                </a:solidFill>
                <a:latin typeface="Consolas" pitchFamily="34" charset="0"/>
                <a:ea typeface="Consolas" pitchFamily="34" charset="-122"/>
                <a:cs typeface="Consolas" pitchFamily="34" charset="-120"/>
              </a:rPr>
              <a:t>[done]</a:t>
            </a:r>
            <a:endParaRPr lang="en-US" sz="1050" dirty="0"/>
          </a:p>
        </p:txBody>
      </p:sp>
      <p:sp>
        <p:nvSpPr>
          <p:cNvPr id="11" name="Text 9"/>
          <p:cNvSpPr txBox="1"/>
          <p:nvPr/>
        </p:nvSpPr>
        <p:spPr>
          <a:xfrm>
            <a:off x="5166360" y="1874520"/>
            <a:ext cx="3429000" cy="731520"/>
          </a:xfrm>
          <a:prstGeom prst="rect">
            <a:avLst/>
          </a:prstGeom>
          <a:noFill/>
          <a:ln/>
        </p:spPr>
        <p:txBody>
          <a:bodyPr wrap="square" lIns="0" tIns="0" rIns="0" bIns="0" rtlCol="0" anchor="t"/>
          <a:lstStyle/>
          <a:p>
            <a:pPr indent="0" marL="0">
              <a:buNone/>
            </a:pPr>
            <a:r>
              <a:rPr lang="en-US" sz="1300" dirty="0">
                <a:solidFill>
                  <a:schemeClr val="tx2"/>
                </a:solidFill>
              </a:rPr>
              <a:t>1-based → 0-based happens only in toMapPosition(), tested on random text with tabs, CRLF and emoji.</a:t>
            </a:r>
            <a:endParaRPr lang="en-US" sz="1300" dirty="0"/>
          </a:p>
        </p:txBody>
      </p:sp>
      <p:sp>
        <p:nvSpPr>
          <p:cNvPr id="12" name="Text 10"/>
          <p:cNvSpPr txBox="1"/>
          <p:nvPr/>
        </p:nvSpPr>
        <p:spPr>
          <a:xfrm>
            <a:off x="548640" y="2670048"/>
            <a:ext cx="457200" cy="64008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3</a:t>
            </a:r>
            <a:endParaRPr lang="en-US" sz="4000" dirty="0"/>
          </a:p>
        </p:txBody>
      </p:sp>
      <p:sp>
        <p:nvSpPr>
          <p:cNvPr id="13" name="Text 11"/>
          <p:cNvSpPr txBox="1"/>
          <p:nvPr/>
        </p:nvSpPr>
        <p:spPr>
          <a:xfrm>
            <a:off x="1051560" y="2743200"/>
            <a:ext cx="3383280" cy="274320"/>
          </a:xfrm>
          <a:prstGeom prst="rect">
            <a:avLst/>
          </a:prstGeom>
          <a:noFill/>
          <a:ln/>
        </p:spPr>
        <p:txBody>
          <a:bodyPr wrap="square" lIns="0" tIns="0" rIns="0" bIns="0" rtlCol="0" anchor="t"/>
          <a:lstStyle/>
          <a:p>
            <a:pPr indent="0" marL="0">
              <a:buNone/>
            </a:pPr>
            <a:r>
              <a:rPr lang="en-US" sz="1500" b="1" dirty="0">
                <a:solidFill>
                  <a:schemeClr val="tx1"/>
                </a:solidFill>
              </a:rPr>
              <a:t>Span inheritance for synthesised code</a:t>
            </a:r>
            <a:endParaRPr lang="en-US" sz="1500" dirty="0"/>
          </a:p>
        </p:txBody>
      </p:sp>
      <p:sp>
        <p:nvSpPr>
          <p:cNvPr id="14" name="Text 12"/>
          <p:cNvSpPr txBox="1"/>
          <p:nvPr/>
        </p:nvSpPr>
        <p:spPr>
          <a:xfrm>
            <a:off x="1051560" y="3035808"/>
            <a:ext cx="3383280" cy="201168"/>
          </a:xfrm>
          <a:prstGeom prst="rect">
            <a:avLst/>
          </a:prstGeom>
          <a:noFill/>
          <a:ln/>
        </p:spPr>
        <p:txBody>
          <a:bodyPr wrap="square" lIns="0" tIns="0" rIns="0" bIns="0" rtlCol="0" anchor="t"/>
          <a:lstStyle/>
          <a:p>
            <a:pPr indent="0" marL="0">
              <a:buNone/>
            </a:pPr>
            <a:r>
              <a:rPr lang="en-US" sz="1050" dirty="0">
                <a:solidFill>
                  <a:srgbClr val="9AA1AC"/>
                </a:solidFill>
                <a:latin typeface="Consolas" pitchFamily="34" charset="0"/>
                <a:ea typeface="Consolas" pitchFamily="34" charset="-122"/>
                <a:cs typeface="Consolas" pitchFamily="34" charset="-120"/>
              </a:rPr>
              <a:t>[planned · M4]</a:t>
            </a:r>
            <a:endParaRPr lang="en-US" sz="1050" dirty="0"/>
          </a:p>
        </p:txBody>
      </p:sp>
      <p:sp>
        <p:nvSpPr>
          <p:cNvPr id="15" name="Text 13"/>
          <p:cNvSpPr txBox="1"/>
          <p:nvPr/>
        </p:nvSpPr>
        <p:spPr>
          <a:xfrm>
            <a:off x="1051560" y="3291840"/>
            <a:ext cx="3429000" cy="731520"/>
          </a:xfrm>
          <a:prstGeom prst="rect">
            <a:avLst/>
          </a:prstGeom>
          <a:noFill/>
          <a:ln/>
        </p:spPr>
        <p:txBody>
          <a:bodyPr wrap="square" lIns="0" tIns="0" rIns="0" bIns="0" rtlCol="0" anchor="t"/>
          <a:lstStyle/>
          <a:p>
            <a:pPr indent="0" marL="0">
              <a:buNone/>
            </a:pPr>
            <a:r>
              <a:rPr lang="en-US" sz="1300" dirty="0">
                <a:solidFill>
                  <a:schemeClr val="tx2"/>
                </a:solidFill>
              </a:rPr>
              <a:t>Code the compiler invents (for → while, x += e → x = x + e) inherits the span of the code that caused it.</a:t>
            </a:r>
            <a:endParaRPr lang="en-US" sz="1300" dirty="0"/>
          </a:p>
        </p:txBody>
      </p:sp>
      <p:sp>
        <p:nvSpPr>
          <p:cNvPr id="16" name="Text 14"/>
          <p:cNvSpPr txBox="1"/>
          <p:nvPr/>
        </p:nvSpPr>
        <p:spPr>
          <a:xfrm>
            <a:off x="4663440" y="2670048"/>
            <a:ext cx="457200" cy="64008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4</a:t>
            </a:r>
            <a:endParaRPr lang="en-US" sz="4000" dirty="0"/>
          </a:p>
        </p:txBody>
      </p:sp>
      <p:sp>
        <p:nvSpPr>
          <p:cNvPr id="17" name="Text 15"/>
          <p:cNvSpPr txBox="1"/>
          <p:nvPr/>
        </p:nvSpPr>
        <p:spPr>
          <a:xfrm>
            <a:off x="5166360" y="2743200"/>
            <a:ext cx="3383280" cy="274320"/>
          </a:xfrm>
          <a:prstGeom prst="rect">
            <a:avLst/>
          </a:prstGeom>
          <a:noFill/>
          <a:ln/>
        </p:spPr>
        <p:txBody>
          <a:bodyPr wrap="square" lIns="0" tIns="0" rIns="0" bIns="0" rtlCol="0" anchor="t"/>
          <a:lstStyle/>
          <a:p>
            <a:pPr indent="0" marL="0">
              <a:buNone/>
            </a:pPr>
            <a:r>
              <a:rPr lang="en-US" sz="1500" b="1" dirty="0">
                <a:solidFill>
                  <a:schemeClr val="tx1"/>
                </a:solidFill>
              </a:rPr>
              <a:t>A verified and measured map</a:t>
            </a:r>
            <a:endParaRPr lang="en-US" sz="1500" dirty="0"/>
          </a:p>
        </p:txBody>
      </p:sp>
      <p:sp>
        <p:nvSpPr>
          <p:cNvPr id="18" name="Text 16"/>
          <p:cNvSpPr txBox="1"/>
          <p:nvPr/>
        </p:nvSpPr>
        <p:spPr>
          <a:xfrm>
            <a:off x="5166360" y="3035808"/>
            <a:ext cx="3383280" cy="201168"/>
          </a:xfrm>
          <a:prstGeom prst="rect">
            <a:avLst/>
          </a:prstGeom>
          <a:noFill/>
          <a:ln/>
        </p:spPr>
        <p:txBody>
          <a:bodyPr wrap="square" lIns="0" tIns="0" rIns="0" bIns="0" rtlCol="0" anchor="t"/>
          <a:lstStyle/>
          <a:p>
            <a:pPr indent="0" marL="0">
              <a:buNone/>
            </a:pPr>
            <a:r>
              <a:rPr lang="en-US" sz="1050" dirty="0">
                <a:solidFill>
                  <a:srgbClr val="9AA1AC"/>
                </a:solidFill>
                <a:latin typeface="Consolas" pitchFamily="34" charset="0"/>
                <a:ea typeface="Consolas" pitchFamily="34" charset="-122"/>
                <a:cs typeface="Consolas" pitchFamily="34" charset="-120"/>
              </a:rPr>
              <a:t>[planned · M6, M8]</a:t>
            </a:r>
            <a:endParaRPr lang="en-US" sz="1050" dirty="0"/>
          </a:p>
        </p:txBody>
      </p:sp>
      <p:sp>
        <p:nvSpPr>
          <p:cNvPr id="19" name="Text 17"/>
          <p:cNvSpPr txBox="1"/>
          <p:nvPr/>
        </p:nvSpPr>
        <p:spPr>
          <a:xfrm>
            <a:off x="5166360" y="3291840"/>
            <a:ext cx="3429000" cy="731520"/>
          </a:xfrm>
          <a:prstGeom prst="rect">
            <a:avLst/>
          </a:prstGeom>
          <a:noFill/>
          <a:ln/>
        </p:spPr>
        <p:txBody>
          <a:bodyPr wrap="square" lIns="0" tIns="0" rIns="0" bIns="0" rtlCol="0" anchor="t"/>
          <a:lstStyle/>
          <a:p>
            <a:pPr indent="0" marL="0">
              <a:buNone/>
            </a:pPr>
            <a:r>
              <a:rPr lang="en-US" sz="1300" dirty="0">
                <a:solidFill>
                  <a:schemeClr val="tx2"/>
                </a:solidFill>
              </a:rPr>
              <a:t>An independent decoder must agree on 100% of mappings; --map-report measures how many survive -O1.</a:t>
            </a:r>
            <a:endParaRPr lang="en-US" sz="1300" dirty="0"/>
          </a:p>
        </p:txBody>
      </p:sp>
      <p:sp>
        <p:nvSpPr>
          <p:cNvPr id="20" name="rule"/>
          <p:cNvSpPr/>
          <p:nvPr/>
        </p:nvSpPr>
        <p:spPr>
          <a:xfrm>
            <a:off x="548640" y="4160520"/>
            <a:ext cx="8046720" cy="0"/>
          </a:xfrm>
          <a:prstGeom prst="line">
            <a:avLst/>
          </a:prstGeom>
          <a:noFill/>
          <a:ln w="9525">
            <a:solidFill>
              <a:srgbClr val="DADDE2"/>
            </a:solidFill>
            <a:prstDash val="solid"/>
          </a:ln>
        </p:spPr>
      </p:sp>
      <p:sp>
        <p:nvSpPr>
          <p:cNvPr id="21" name="Text 19"/>
          <p:cNvSpPr txBox="1"/>
          <p:nvPr/>
        </p:nvSpPr>
        <p:spPr>
          <a:xfrm>
            <a:off x="548640" y="4251960"/>
            <a:ext cx="8046720" cy="320040"/>
          </a:xfrm>
          <a:prstGeom prst="rect">
            <a:avLst/>
          </a:prstGeom>
          <a:noFill/>
          <a:ln/>
        </p:spPr>
        <p:txBody>
          <a:bodyPr wrap="square" lIns="0" tIns="0" rIns="0" bIns="0" rtlCol="0" anchor="t"/>
          <a:lstStyle/>
          <a:p>
            <a:pPr indent="0" marL="0">
              <a:buNone/>
            </a:pPr>
            <a:r>
              <a:rPr lang="en-US" sz="1500" i="1" dirty="0">
                <a:solidFill>
                  <a:schemeClr val="tx1"/>
                </a:solidFill>
                <a:latin typeface="Cambria" pitchFamily="34" charset="0"/>
                <a:ea typeface="Cambria" pitchFamily="34" charset="-122"/>
                <a:cs typeface="Cambria" pitchFamily="34" charset="-120"/>
              </a:rPr>
              <a:t>Source maps are not new. Treating positions as a verified, measured artifact through every phase is.</a:t>
            </a:r>
            <a:endParaRPr lang="en-US" sz="1500" dirty="0"/>
          </a:p>
        </p:txBody>
      </p:sp>
      <p:sp>
        <p:nvSpPr>
          <p:cNvPr id="25" name="Slide Number Placeholder 0"/>
          <p:cNvSpPr>
            <a:spLocks noGrp="1"/>
          </p:cNvSpPr>
          <p:nvPr>
            <p:ph type="sldNum" sz="quarter" idx="4294967295"/>
          </p:nvPr>
        </p:nvSpPr>
        <p:spPr>
          <a:xfrm>
            <a:off x="8138160" y="25603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9AA1AC"/>
                </a:solidFill>
                <a:latin typeface="Consolas"/>
                <a:ea typeface="Consolas"/>
                <a:cs typeface="Consolas"/>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5486400" cy="228600"/>
          </a:xfrm>
          <a:prstGeom prst="rect">
            <a:avLst/>
          </a:prstGeom>
          <a:noFill/>
          <a:ln/>
        </p:spPr>
        <p:txBody>
          <a:bodyPr wrap="square" lIns="0" tIns="0" rIns="0" bIns="0" rtlCol="0"/>
          <a:lstStyle/>
          <a:p>
            <a:pPr indent="0" marL="0">
              <a:buNone/>
            </a:pPr>
            <a:r>
              <a:rPr lang="en-US" sz="1000" dirty="0">
                <a:solidFill>
                  <a:schemeClr val="accent5"/>
                </a:solidFill>
                <a:latin typeface="Consolas" pitchFamily="34" charset="0"/>
                <a:ea typeface="Consolas" pitchFamily="34" charset="-122"/>
                <a:cs typeface="Consolas" pitchFamily="34" charset="-120"/>
              </a:rPr>
              <a:t>tether / 04-progress</a:t>
            </a:r>
            <a:endParaRPr lang="en-US" sz="1000" dirty="0"/>
          </a:p>
        </p:txBody>
      </p:sp>
      <p:sp>
        <p:nvSpPr>
          <p:cNvPr id="3" name="Text 0"/>
          <p:cNvSpPr/>
          <p:nvPr>
            <p:ph idx="101" type="title" hasCustomPrompt="1"/>
          </p:nvPr>
        </p:nvSpPr>
        <p:spPr>
          <a:xfrm>
            <a:off x="548640" y="502920"/>
            <a:ext cx="8046720" cy="640080"/>
          </a:xfrm>
          <a:prstGeom prst="rect">
            <a:avLst/>
          </a:prstGeom>
          <a:noFill/>
          <a:ln/>
        </p:spPr>
        <p:txBody>
          <a:bodyPr wrap="square" lIns="0" tIns="0" rIns="0" bIns="0" rtlCol="0" anchor="t"/>
          <a:lstStyle/>
          <a:p>
            <a:pPr algn="l" indent="0" marL="0">
              <a:buNone/>
            </a:pPr>
            <a:r>
              <a:rPr lang="en-US" sz="2800" b="1" dirty="0">
                <a:solidFill>
                  <a:schemeClr val="tx1"/>
                </a:solidFill>
              </a:rPr>
              <a:t>Two of eight milestones complete</a:t>
            </a:r>
            <a:endParaRPr lang="en-US" sz="2800" dirty="0"/>
          </a:p>
        </p:txBody>
      </p:sp>
      <p:sp>
        <p:nvSpPr>
          <p:cNvPr id="4" name="Text 2"/>
          <p:cNvSpPr txBox="1"/>
          <p:nvPr/>
        </p:nvSpPr>
        <p:spPr>
          <a:xfrm>
            <a:off x="548640" y="1188720"/>
            <a:ext cx="2926080" cy="1188720"/>
          </a:xfrm>
          <a:prstGeom prst="rect">
            <a:avLst/>
          </a:prstGeom>
          <a:noFill/>
          <a:ln/>
        </p:spPr>
        <p:txBody>
          <a:bodyPr wrap="square" lIns="0" tIns="0" rIns="0" bIns="0" rtlCol="0" anchor="t"/>
          <a:lstStyle/>
          <a:p>
            <a:pPr indent="0" marL="0">
              <a:buNone/>
            </a:pPr>
            <a:r>
              <a:rPr lang="en-US" sz="8000" b="1" dirty="0">
                <a:solidFill>
                  <a:schemeClr val="tx1"/>
                </a:solidFill>
                <a:latin typeface="Cambria" pitchFamily="34" charset="0"/>
                <a:ea typeface="Cambria" pitchFamily="34" charset="-122"/>
                <a:cs typeface="Cambria" pitchFamily="34" charset="-120"/>
              </a:rPr>
              <a:t>25%</a:t>
            </a:r>
            <a:endParaRPr lang="en-US" sz="8000" dirty="0"/>
          </a:p>
        </p:txBody>
      </p:sp>
      <p:sp>
        <p:nvSpPr>
          <p:cNvPr id="5" name="Text 3"/>
          <p:cNvSpPr txBox="1"/>
          <p:nvPr/>
        </p:nvSpPr>
        <p:spPr>
          <a:xfrm>
            <a:off x="548640" y="2423160"/>
            <a:ext cx="2926080" cy="502920"/>
          </a:xfrm>
          <a:prstGeom prst="rect">
            <a:avLst/>
          </a:prstGeom>
          <a:noFill/>
          <a:ln/>
        </p:spPr>
        <p:txBody>
          <a:bodyPr wrap="square" lIns="0" tIns="0" rIns="0" bIns="0" rtlCol="0" anchor="t"/>
          <a:lstStyle/>
          <a:p>
            <a:pPr indent="0" marL="0">
              <a:buNone/>
            </a:pPr>
            <a:r>
              <a:rPr lang="en-US" sz="1300" dirty="0">
                <a:solidFill>
                  <a:schemeClr val="tx2"/>
                </a:solidFill>
              </a:rPr>
              <a:t>of the planned work: the complete front end</a:t>
            </a:r>
            <a:endParaRPr lang="en-US" sz="1300" dirty="0"/>
          </a:p>
        </p:txBody>
      </p:sp>
      <p:sp>
        <p:nvSpPr>
          <p:cNvPr id="6" name="Text 4"/>
          <p:cNvSpPr txBox="1"/>
          <p:nvPr/>
        </p:nvSpPr>
        <p:spPr>
          <a:xfrm>
            <a:off x="3840480" y="1371600"/>
            <a:ext cx="4754880" cy="1645920"/>
          </a:xfrm>
          <a:prstGeom prst="rect">
            <a:avLst/>
          </a:prstGeom>
          <a:noFill/>
          <a:ln/>
        </p:spPr>
        <p:txBody>
          <a:bodyPr wrap="square" lIns="0" tIns="0" rIns="0" bIns="0" rtlCol="0" anchor="t"/>
          <a:lstStyle/>
          <a:p>
            <a:pPr marL="177800" indent="-177800">
              <a:spcAft>
                <a:spcPts val="500"/>
              </a:spcAft>
              <a:buSzPct val="100000"/>
              <a:buChar char="•"/>
            </a:pPr>
            <a:r>
              <a:rPr lang="en-US" sz="1450" dirty="0">
                <a:solidFill>
                  <a:schemeClr val="tx1"/>
                </a:solidFill>
              </a:rPr>
              <a:t>Grammar frozen in BNF (docs/grammar.md)</a:t>
            </a:r>
            <a:endParaRPr lang="en-US" sz="1450" dirty="0"/>
          </a:p>
          <a:p>
            <a:pPr marL="177800" indent="-177800">
              <a:spcAft>
                <a:spcPts val="500"/>
              </a:spcAft>
              <a:buSzPct val="100000"/>
              <a:buChar char="•"/>
            </a:pPr>
            <a:r>
              <a:rPr lang="en-US" sz="1450" dirty="0">
                <a:solidFill>
                  <a:schemeClr val="tx1"/>
                </a:solidFill>
              </a:rPr>
              <a:t>Lexer: a span on every token</a:t>
            </a:r>
            <a:endParaRPr lang="en-US" sz="1450" dirty="0"/>
          </a:p>
          <a:p>
            <a:pPr marL="177800" indent="-177800">
              <a:spcAft>
                <a:spcPts val="500"/>
              </a:spcAft>
              <a:buSzPct val="100000"/>
              <a:buChar char="•"/>
            </a:pPr>
            <a:r>
              <a:rPr lang="en-US" sz="1450" dirty="0">
                <a:solidFill>
                  <a:schemeClr val="tx1"/>
                </a:solidFill>
              </a:rPr>
              <a:t>Recursive-descent parser, 21 AST node kinds</a:t>
            </a:r>
            <a:endParaRPr lang="en-US" sz="1450" dirty="0"/>
          </a:p>
          <a:p>
            <a:pPr marL="177800" indent="-177800">
              <a:spcAft>
                <a:spcPts val="500"/>
              </a:spcAft>
              <a:buSzPct val="100000"/>
              <a:buChar char="•"/>
            </a:pPr>
            <a:r>
              <a:rPr lang="en-US" sz="1450" dirty="0">
                <a:solidFill>
                  <a:schemeClr val="tx1"/>
                </a:solidFill>
              </a:rPr>
              <a:t>Panic-mode recovery and caret diagnostics</a:t>
            </a:r>
            <a:endParaRPr lang="en-US" sz="1450" dirty="0"/>
          </a:p>
          <a:p>
            <a:pPr marL="177800" indent="-177800">
              <a:spcAft>
                <a:spcPts val="500"/>
              </a:spcAft>
              <a:buSzPct val="100000"/>
              <a:buChar char="•"/>
            </a:pPr>
            <a:r>
              <a:rPr lang="en-US" sz="1450" dirty="0">
                <a:solidFill>
                  <a:schemeClr val="tx1"/>
                </a:solidFill>
              </a:rPr>
              <a:t>CLI, browser playground, 63 passing tests</a:t>
            </a:r>
            <a:endParaRPr lang="en-US" sz="1450" dirty="0"/>
          </a:p>
        </p:txBody>
      </p:sp>
      <p:sp>
        <p:nvSpPr>
          <p:cNvPr id="7" name="milestone"/>
          <p:cNvSpPr/>
          <p:nvPr/>
        </p:nvSpPr>
        <p:spPr>
          <a:xfrm>
            <a:off x="566928" y="3429000"/>
            <a:ext cx="969264" cy="329184"/>
          </a:xfrm>
          <a:prstGeom prst="rect">
            <a:avLst/>
          </a:prstGeom>
          <a:solidFill>
            <a:schemeClr val="tx1"/>
          </a:solidFill>
          <a:ln w="9525">
            <a:solidFill>
              <a:srgbClr val="15181D"/>
            </a:solidFill>
            <a:prstDash val="solid"/>
          </a:ln>
        </p:spPr>
      </p:sp>
      <p:sp>
        <p:nvSpPr>
          <p:cNvPr id="8" name="Text 6"/>
          <p:cNvSpPr txBox="1"/>
          <p:nvPr/>
        </p:nvSpPr>
        <p:spPr>
          <a:xfrm>
            <a:off x="566928" y="3429000"/>
            <a:ext cx="969264" cy="329184"/>
          </a:xfrm>
          <a:prstGeom prst="rect">
            <a:avLst/>
          </a:prstGeom>
          <a:noFill/>
          <a:ln/>
        </p:spPr>
        <p:txBody>
          <a:bodyPr wrap="square" lIns="0" tIns="0" rIns="0" bIns="0" rtlCol="0" anchor="ctr"/>
          <a:lstStyle/>
          <a:p>
            <a:pPr algn="ctr" indent="0" marL="0">
              <a:buNone/>
            </a:pPr>
            <a:r>
              <a:rPr lang="en-US" sz="1100" b="1" dirty="0">
                <a:solidFill>
                  <a:schemeClr val="bg1"/>
                </a:solidFill>
                <a:latin typeface="Consolas" pitchFamily="34" charset="0"/>
                <a:ea typeface="Consolas" pitchFamily="34" charset="-122"/>
                <a:cs typeface="Consolas" pitchFamily="34" charset="-120"/>
              </a:rPr>
              <a:t>M1</a:t>
            </a:r>
            <a:endParaRPr lang="en-US" sz="1100" dirty="0"/>
          </a:p>
        </p:txBody>
      </p:sp>
      <p:sp>
        <p:nvSpPr>
          <p:cNvPr id="9" name="Text 7"/>
          <p:cNvSpPr txBox="1"/>
          <p:nvPr/>
        </p:nvSpPr>
        <p:spPr>
          <a:xfrm>
            <a:off x="548640" y="3840480"/>
            <a:ext cx="1005840" cy="274320"/>
          </a:xfrm>
          <a:prstGeom prst="rect">
            <a:avLst/>
          </a:prstGeom>
          <a:noFill/>
          <a:ln/>
        </p:spPr>
        <p:txBody>
          <a:bodyPr wrap="square" lIns="0" tIns="0" rIns="0" bIns="0" rtlCol="0" anchor="t"/>
          <a:lstStyle/>
          <a:p>
            <a:pPr algn="ctr" indent="0" marL="0">
              <a:buNone/>
            </a:pPr>
            <a:r>
              <a:rPr lang="en-US" sz="1100" dirty="0">
                <a:solidFill>
                  <a:schemeClr val="tx1"/>
                </a:solidFill>
              </a:rPr>
              <a:t>Grammar, lexer</a:t>
            </a:r>
            <a:endParaRPr lang="en-US" sz="1100" dirty="0"/>
          </a:p>
        </p:txBody>
      </p:sp>
      <p:sp>
        <p:nvSpPr>
          <p:cNvPr id="10" name="milestone"/>
          <p:cNvSpPr/>
          <p:nvPr/>
        </p:nvSpPr>
        <p:spPr>
          <a:xfrm>
            <a:off x="1572768" y="3429000"/>
            <a:ext cx="969264" cy="329184"/>
          </a:xfrm>
          <a:prstGeom prst="rect">
            <a:avLst/>
          </a:prstGeom>
          <a:solidFill>
            <a:schemeClr val="tx1"/>
          </a:solidFill>
          <a:ln w="9525">
            <a:solidFill>
              <a:srgbClr val="15181D"/>
            </a:solidFill>
            <a:prstDash val="solid"/>
          </a:ln>
        </p:spPr>
      </p:sp>
      <p:sp>
        <p:nvSpPr>
          <p:cNvPr id="11" name="Text 9"/>
          <p:cNvSpPr txBox="1"/>
          <p:nvPr/>
        </p:nvSpPr>
        <p:spPr>
          <a:xfrm>
            <a:off x="1572768" y="3429000"/>
            <a:ext cx="969264" cy="329184"/>
          </a:xfrm>
          <a:prstGeom prst="rect">
            <a:avLst/>
          </a:prstGeom>
          <a:noFill/>
          <a:ln/>
        </p:spPr>
        <p:txBody>
          <a:bodyPr wrap="square" lIns="0" tIns="0" rIns="0" bIns="0" rtlCol="0" anchor="ctr"/>
          <a:lstStyle/>
          <a:p>
            <a:pPr algn="ctr" indent="0" marL="0">
              <a:buNone/>
            </a:pPr>
            <a:r>
              <a:rPr lang="en-US" sz="1100" b="1" dirty="0">
                <a:solidFill>
                  <a:schemeClr val="bg1"/>
                </a:solidFill>
                <a:latin typeface="Consolas" pitchFamily="34" charset="0"/>
                <a:ea typeface="Consolas" pitchFamily="34" charset="-122"/>
                <a:cs typeface="Consolas" pitchFamily="34" charset="-120"/>
              </a:rPr>
              <a:t>M2</a:t>
            </a:r>
            <a:endParaRPr lang="en-US" sz="1100" dirty="0"/>
          </a:p>
        </p:txBody>
      </p:sp>
      <p:sp>
        <p:nvSpPr>
          <p:cNvPr id="12" name="Text 10"/>
          <p:cNvSpPr txBox="1"/>
          <p:nvPr/>
        </p:nvSpPr>
        <p:spPr>
          <a:xfrm>
            <a:off x="1554480" y="3840480"/>
            <a:ext cx="1005840" cy="274320"/>
          </a:xfrm>
          <a:prstGeom prst="rect">
            <a:avLst/>
          </a:prstGeom>
          <a:noFill/>
          <a:ln/>
        </p:spPr>
        <p:txBody>
          <a:bodyPr wrap="square" lIns="0" tIns="0" rIns="0" bIns="0" rtlCol="0" anchor="t"/>
          <a:lstStyle/>
          <a:p>
            <a:pPr algn="ctr" indent="0" marL="0">
              <a:buNone/>
            </a:pPr>
            <a:r>
              <a:rPr lang="en-US" sz="1100" dirty="0">
                <a:solidFill>
                  <a:schemeClr val="tx1"/>
                </a:solidFill>
              </a:rPr>
              <a:t>Parser, AST</a:t>
            </a:r>
            <a:endParaRPr lang="en-US" sz="1100" dirty="0"/>
          </a:p>
        </p:txBody>
      </p:sp>
      <p:sp>
        <p:nvSpPr>
          <p:cNvPr id="13" name="milestone"/>
          <p:cNvSpPr/>
          <p:nvPr/>
        </p:nvSpPr>
        <p:spPr>
          <a:xfrm>
            <a:off x="2578608" y="3429000"/>
            <a:ext cx="969264" cy="329184"/>
          </a:xfrm>
          <a:prstGeom prst="rect">
            <a:avLst/>
          </a:prstGeom>
          <a:solidFill>
            <a:schemeClr val="accent1"/>
          </a:solidFill>
          <a:ln w="9525">
            <a:solidFill>
              <a:srgbClr val="F5B82E"/>
            </a:solidFill>
            <a:prstDash val="solid"/>
          </a:ln>
        </p:spPr>
      </p:sp>
      <p:sp>
        <p:nvSpPr>
          <p:cNvPr id="14" name="Text 12"/>
          <p:cNvSpPr txBox="1"/>
          <p:nvPr/>
        </p:nvSpPr>
        <p:spPr>
          <a:xfrm>
            <a:off x="2578608" y="3429000"/>
            <a:ext cx="969264" cy="329184"/>
          </a:xfrm>
          <a:prstGeom prst="rect">
            <a:avLst/>
          </a:prstGeom>
          <a:noFill/>
          <a:ln/>
        </p:spPr>
        <p:txBody>
          <a:bodyPr wrap="square" lIns="0" tIns="0" rIns="0" bIns="0" rtlCol="0" anchor="ctr"/>
          <a:lstStyle/>
          <a:p>
            <a:pPr algn="ctr" indent="0" marL="0">
              <a:buNone/>
            </a:pPr>
            <a:r>
              <a:rPr lang="en-US" sz="1100" b="1" dirty="0">
                <a:solidFill>
                  <a:schemeClr val="tx1"/>
                </a:solidFill>
                <a:latin typeface="Consolas" pitchFamily="34" charset="0"/>
                <a:ea typeface="Consolas" pitchFamily="34" charset="-122"/>
                <a:cs typeface="Consolas" pitchFamily="34" charset="-120"/>
              </a:rPr>
              <a:t>M3</a:t>
            </a:r>
            <a:endParaRPr lang="en-US" sz="1100" dirty="0"/>
          </a:p>
        </p:txBody>
      </p:sp>
      <p:sp>
        <p:nvSpPr>
          <p:cNvPr id="15" name="Text 13"/>
          <p:cNvSpPr txBox="1"/>
          <p:nvPr/>
        </p:nvSpPr>
        <p:spPr>
          <a:xfrm>
            <a:off x="2560320" y="3840480"/>
            <a:ext cx="1005840" cy="274320"/>
          </a:xfrm>
          <a:prstGeom prst="rect">
            <a:avLst/>
          </a:prstGeom>
          <a:noFill/>
          <a:ln/>
        </p:spPr>
        <p:txBody>
          <a:bodyPr wrap="square" lIns="0" tIns="0" rIns="0" bIns="0" rtlCol="0" anchor="t"/>
          <a:lstStyle/>
          <a:p>
            <a:pPr algn="ctr" indent="0" marL="0">
              <a:buNone/>
            </a:pPr>
            <a:r>
              <a:rPr lang="en-US" sz="1100" dirty="0">
                <a:solidFill>
                  <a:schemeClr val="tx1"/>
                </a:solidFill>
              </a:rPr>
              <a:t>Type checker</a:t>
            </a:r>
            <a:endParaRPr lang="en-US" sz="1100" dirty="0"/>
          </a:p>
        </p:txBody>
      </p:sp>
      <p:sp>
        <p:nvSpPr>
          <p:cNvPr id="16" name="milestone"/>
          <p:cNvSpPr/>
          <p:nvPr/>
        </p:nvSpPr>
        <p:spPr>
          <a:xfrm>
            <a:off x="3584448" y="3429000"/>
            <a:ext cx="969264" cy="329184"/>
          </a:xfrm>
          <a:prstGeom prst="rect">
            <a:avLst/>
          </a:prstGeom>
          <a:solidFill>
            <a:schemeClr val="bg1"/>
          </a:solidFill>
          <a:ln w="9525">
            <a:solidFill>
              <a:srgbClr val="C3C8D0"/>
            </a:solidFill>
            <a:prstDash val="solid"/>
          </a:ln>
        </p:spPr>
      </p:sp>
      <p:sp>
        <p:nvSpPr>
          <p:cNvPr id="17" name="Text 15"/>
          <p:cNvSpPr txBox="1"/>
          <p:nvPr/>
        </p:nvSpPr>
        <p:spPr>
          <a:xfrm>
            <a:off x="3584448" y="3429000"/>
            <a:ext cx="969264" cy="329184"/>
          </a:xfrm>
          <a:prstGeom prst="rect">
            <a:avLst/>
          </a:prstGeom>
          <a:noFill/>
          <a:ln/>
        </p:spPr>
        <p:txBody>
          <a:bodyPr wrap="square" lIns="0" tIns="0" rIns="0" bIns="0" rtlCol="0" anchor="ctr"/>
          <a:lstStyle/>
          <a:p>
            <a:pPr algn="ctr" indent="0" marL="0">
              <a:buNone/>
            </a:pPr>
            <a:r>
              <a:rPr lang="en-US" sz="1100" b="1" dirty="0">
                <a:solidFill>
                  <a:schemeClr val="accent5"/>
                </a:solidFill>
                <a:latin typeface="Consolas" pitchFamily="34" charset="0"/>
                <a:ea typeface="Consolas" pitchFamily="34" charset="-122"/>
                <a:cs typeface="Consolas" pitchFamily="34" charset="-120"/>
              </a:rPr>
              <a:t>M4</a:t>
            </a:r>
            <a:endParaRPr lang="en-US" sz="1100" dirty="0"/>
          </a:p>
        </p:txBody>
      </p:sp>
      <p:sp>
        <p:nvSpPr>
          <p:cNvPr id="18" name="Text 16"/>
          <p:cNvSpPr txBox="1"/>
          <p:nvPr/>
        </p:nvSpPr>
        <p:spPr>
          <a:xfrm>
            <a:off x="3566160" y="3840480"/>
            <a:ext cx="1005840" cy="274320"/>
          </a:xfrm>
          <a:prstGeom prst="rect">
            <a:avLst/>
          </a:prstGeom>
          <a:noFill/>
          <a:ln/>
        </p:spPr>
        <p:txBody>
          <a:bodyPr wrap="square" lIns="0" tIns="0" rIns="0" bIns="0" rtlCol="0" anchor="t"/>
          <a:lstStyle/>
          <a:p>
            <a:pPr algn="ctr" indent="0" marL="0">
              <a:buNone/>
            </a:pPr>
            <a:r>
              <a:rPr lang="en-US" sz="1100" dirty="0">
                <a:solidFill>
                  <a:schemeClr val="accent5"/>
                </a:solidFill>
              </a:rPr>
              <a:t>Lowering, JS</a:t>
            </a:r>
            <a:endParaRPr lang="en-US" sz="1100" dirty="0"/>
          </a:p>
        </p:txBody>
      </p:sp>
      <p:sp>
        <p:nvSpPr>
          <p:cNvPr id="19" name="milestone"/>
          <p:cNvSpPr/>
          <p:nvPr/>
        </p:nvSpPr>
        <p:spPr>
          <a:xfrm>
            <a:off x="4590288" y="3429000"/>
            <a:ext cx="969264" cy="329184"/>
          </a:xfrm>
          <a:prstGeom prst="rect">
            <a:avLst/>
          </a:prstGeom>
          <a:solidFill>
            <a:schemeClr val="bg1"/>
          </a:solidFill>
          <a:ln w="9525">
            <a:solidFill>
              <a:srgbClr val="C3C8D0"/>
            </a:solidFill>
            <a:prstDash val="solid"/>
          </a:ln>
        </p:spPr>
      </p:sp>
      <p:sp>
        <p:nvSpPr>
          <p:cNvPr id="20" name="Text 18"/>
          <p:cNvSpPr txBox="1"/>
          <p:nvPr/>
        </p:nvSpPr>
        <p:spPr>
          <a:xfrm>
            <a:off x="4590288" y="3429000"/>
            <a:ext cx="969264" cy="329184"/>
          </a:xfrm>
          <a:prstGeom prst="rect">
            <a:avLst/>
          </a:prstGeom>
          <a:noFill/>
          <a:ln/>
        </p:spPr>
        <p:txBody>
          <a:bodyPr wrap="square" lIns="0" tIns="0" rIns="0" bIns="0" rtlCol="0" anchor="ctr"/>
          <a:lstStyle/>
          <a:p>
            <a:pPr algn="ctr" indent="0" marL="0">
              <a:buNone/>
            </a:pPr>
            <a:r>
              <a:rPr lang="en-US" sz="1100" b="1" dirty="0">
                <a:solidFill>
                  <a:schemeClr val="accent5"/>
                </a:solidFill>
                <a:latin typeface="Consolas" pitchFamily="34" charset="0"/>
                <a:ea typeface="Consolas" pitchFamily="34" charset="-122"/>
                <a:cs typeface="Consolas" pitchFamily="34" charset="-120"/>
              </a:rPr>
              <a:t>M5</a:t>
            </a:r>
            <a:endParaRPr lang="en-US" sz="1100" dirty="0"/>
          </a:p>
        </p:txBody>
      </p:sp>
      <p:sp>
        <p:nvSpPr>
          <p:cNvPr id="21" name="Text 19"/>
          <p:cNvSpPr txBox="1"/>
          <p:nvPr/>
        </p:nvSpPr>
        <p:spPr>
          <a:xfrm>
            <a:off x="4572000" y="3840480"/>
            <a:ext cx="1005840" cy="274320"/>
          </a:xfrm>
          <a:prstGeom prst="rect">
            <a:avLst/>
          </a:prstGeom>
          <a:noFill/>
          <a:ln/>
        </p:spPr>
        <p:txBody>
          <a:bodyPr wrap="square" lIns="0" tIns="0" rIns="0" bIns="0" rtlCol="0" anchor="t"/>
          <a:lstStyle/>
          <a:p>
            <a:pPr algn="ctr" indent="0" marL="0">
              <a:buNone/>
            </a:pPr>
            <a:r>
              <a:rPr lang="en-US" sz="1100" dirty="0">
                <a:solidFill>
                  <a:schemeClr val="accent5"/>
                </a:solidFill>
              </a:rPr>
              <a:t>VLQ encoder</a:t>
            </a:r>
            <a:endParaRPr lang="en-US" sz="1100" dirty="0"/>
          </a:p>
        </p:txBody>
      </p:sp>
      <p:sp>
        <p:nvSpPr>
          <p:cNvPr id="22" name="milestone"/>
          <p:cNvSpPr/>
          <p:nvPr/>
        </p:nvSpPr>
        <p:spPr>
          <a:xfrm>
            <a:off x="5596128" y="3429000"/>
            <a:ext cx="969264" cy="329184"/>
          </a:xfrm>
          <a:prstGeom prst="rect">
            <a:avLst/>
          </a:prstGeom>
          <a:solidFill>
            <a:schemeClr val="bg1"/>
          </a:solidFill>
          <a:ln w="9525">
            <a:solidFill>
              <a:srgbClr val="C3C8D0"/>
            </a:solidFill>
            <a:prstDash val="solid"/>
          </a:ln>
        </p:spPr>
      </p:sp>
      <p:sp>
        <p:nvSpPr>
          <p:cNvPr id="23" name="Text 21"/>
          <p:cNvSpPr txBox="1"/>
          <p:nvPr/>
        </p:nvSpPr>
        <p:spPr>
          <a:xfrm>
            <a:off x="5596128" y="3429000"/>
            <a:ext cx="969264" cy="329184"/>
          </a:xfrm>
          <a:prstGeom prst="rect">
            <a:avLst/>
          </a:prstGeom>
          <a:noFill/>
          <a:ln/>
        </p:spPr>
        <p:txBody>
          <a:bodyPr wrap="square" lIns="0" tIns="0" rIns="0" bIns="0" rtlCol="0" anchor="ctr"/>
          <a:lstStyle/>
          <a:p>
            <a:pPr algn="ctr" indent="0" marL="0">
              <a:buNone/>
            </a:pPr>
            <a:r>
              <a:rPr lang="en-US" sz="1100" b="1" dirty="0">
                <a:solidFill>
                  <a:schemeClr val="accent5"/>
                </a:solidFill>
                <a:latin typeface="Consolas" pitchFamily="34" charset="0"/>
                <a:ea typeface="Consolas" pitchFamily="34" charset="-122"/>
                <a:cs typeface="Consolas" pitchFamily="34" charset="-120"/>
              </a:rPr>
              <a:t>M6</a:t>
            </a:r>
            <a:endParaRPr lang="en-US" sz="1100" dirty="0"/>
          </a:p>
        </p:txBody>
      </p:sp>
      <p:sp>
        <p:nvSpPr>
          <p:cNvPr id="24" name="Text 22"/>
          <p:cNvSpPr txBox="1"/>
          <p:nvPr/>
        </p:nvSpPr>
        <p:spPr>
          <a:xfrm>
            <a:off x="5577840" y="3840480"/>
            <a:ext cx="1005840" cy="274320"/>
          </a:xfrm>
          <a:prstGeom prst="rect">
            <a:avLst/>
          </a:prstGeom>
          <a:noFill/>
          <a:ln/>
        </p:spPr>
        <p:txBody>
          <a:bodyPr wrap="square" lIns="0" tIns="0" rIns="0" bIns="0" rtlCol="0" anchor="t"/>
          <a:lstStyle/>
          <a:p>
            <a:pPr algn="ctr" indent="0" marL="0">
              <a:buNone/>
            </a:pPr>
            <a:r>
              <a:rPr lang="en-US" sz="1100" dirty="0">
                <a:solidFill>
                  <a:schemeClr val="accent5"/>
                </a:solidFill>
              </a:rPr>
              <a:t>Source map</a:t>
            </a:r>
            <a:endParaRPr lang="en-US" sz="1100" dirty="0"/>
          </a:p>
        </p:txBody>
      </p:sp>
      <p:sp>
        <p:nvSpPr>
          <p:cNvPr id="25" name="milestone"/>
          <p:cNvSpPr/>
          <p:nvPr/>
        </p:nvSpPr>
        <p:spPr>
          <a:xfrm>
            <a:off x="6601968" y="3429000"/>
            <a:ext cx="969264" cy="329184"/>
          </a:xfrm>
          <a:prstGeom prst="rect">
            <a:avLst/>
          </a:prstGeom>
          <a:solidFill>
            <a:schemeClr val="bg1"/>
          </a:solidFill>
          <a:ln w="9525">
            <a:solidFill>
              <a:srgbClr val="C3C8D0"/>
            </a:solidFill>
            <a:prstDash val="solid"/>
          </a:ln>
        </p:spPr>
      </p:sp>
      <p:sp>
        <p:nvSpPr>
          <p:cNvPr id="26" name="Text 24"/>
          <p:cNvSpPr txBox="1"/>
          <p:nvPr/>
        </p:nvSpPr>
        <p:spPr>
          <a:xfrm>
            <a:off x="6601968" y="3429000"/>
            <a:ext cx="969264" cy="329184"/>
          </a:xfrm>
          <a:prstGeom prst="rect">
            <a:avLst/>
          </a:prstGeom>
          <a:noFill/>
          <a:ln/>
        </p:spPr>
        <p:txBody>
          <a:bodyPr wrap="square" lIns="0" tIns="0" rIns="0" bIns="0" rtlCol="0" anchor="ctr"/>
          <a:lstStyle/>
          <a:p>
            <a:pPr algn="ctr" indent="0" marL="0">
              <a:buNone/>
            </a:pPr>
            <a:r>
              <a:rPr lang="en-US" sz="1100" b="1" dirty="0">
                <a:solidFill>
                  <a:schemeClr val="accent5"/>
                </a:solidFill>
                <a:latin typeface="Consolas" pitchFamily="34" charset="0"/>
                <a:ea typeface="Consolas" pitchFamily="34" charset="-122"/>
                <a:cs typeface="Consolas" pitchFamily="34" charset="-120"/>
              </a:rPr>
              <a:t>M7</a:t>
            </a:r>
            <a:endParaRPr lang="en-US" sz="1100" dirty="0"/>
          </a:p>
        </p:txBody>
      </p:sp>
      <p:sp>
        <p:nvSpPr>
          <p:cNvPr id="27" name="Text 25"/>
          <p:cNvSpPr txBox="1"/>
          <p:nvPr/>
        </p:nvSpPr>
        <p:spPr>
          <a:xfrm>
            <a:off x="6583680" y="3840480"/>
            <a:ext cx="1005840" cy="274320"/>
          </a:xfrm>
          <a:prstGeom prst="rect">
            <a:avLst/>
          </a:prstGeom>
          <a:noFill/>
          <a:ln/>
        </p:spPr>
        <p:txBody>
          <a:bodyPr wrap="square" lIns="0" tIns="0" rIns="0" bIns="0" rtlCol="0" anchor="t"/>
          <a:lstStyle/>
          <a:p>
            <a:pPr algn="ctr" indent="0" marL="0">
              <a:buNone/>
            </a:pPr>
            <a:r>
              <a:rPr lang="en-US" sz="1100" dirty="0">
                <a:solidFill>
                  <a:schemeClr val="accent5"/>
                </a:solidFill>
              </a:rPr>
              <a:t>Browser proof</a:t>
            </a:r>
            <a:endParaRPr lang="en-US" sz="1100" dirty="0"/>
          </a:p>
        </p:txBody>
      </p:sp>
      <p:sp>
        <p:nvSpPr>
          <p:cNvPr id="28" name="milestone"/>
          <p:cNvSpPr/>
          <p:nvPr/>
        </p:nvSpPr>
        <p:spPr>
          <a:xfrm>
            <a:off x="7607808" y="3429000"/>
            <a:ext cx="969264" cy="329184"/>
          </a:xfrm>
          <a:prstGeom prst="rect">
            <a:avLst/>
          </a:prstGeom>
          <a:solidFill>
            <a:schemeClr val="bg1"/>
          </a:solidFill>
          <a:ln w="9525">
            <a:solidFill>
              <a:srgbClr val="C3C8D0"/>
            </a:solidFill>
            <a:prstDash val="solid"/>
          </a:ln>
        </p:spPr>
      </p:sp>
      <p:sp>
        <p:nvSpPr>
          <p:cNvPr id="29" name="Text 27"/>
          <p:cNvSpPr txBox="1"/>
          <p:nvPr/>
        </p:nvSpPr>
        <p:spPr>
          <a:xfrm>
            <a:off x="7607808" y="3429000"/>
            <a:ext cx="969264" cy="329184"/>
          </a:xfrm>
          <a:prstGeom prst="rect">
            <a:avLst/>
          </a:prstGeom>
          <a:noFill/>
          <a:ln/>
        </p:spPr>
        <p:txBody>
          <a:bodyPr wrap="square" lIns="0" tIns="0" rIns="0" bIns="0" rtlCol="0" anchor="ctr"/>
          <a:lstStyle/>
          <a:p>
            <a:pPr algn="ctr" indent="0" marL="0">
              <a:buNone/>
            </a:pPr>
            <a:r>
              <a:rPr lang="en-US" sz="1100" b="1" dirty="0">
                <a:solidFill>
                  <a:schemeClr val="accent5"/>
                </a:solidFill>
                <a:latin typeface="Consolas" pitchFamily="34" charset="0"/>
                <a:ea typeface="Consolas" pitchFamily="34" charset="-122"/>
                <a:cs typeface="Consolas" pitchFamily="34" charset="-120"/>
              </a:rPr>
              <a:t>M8</a:t>
            </a:r>
            <a:endParaRPr lang="en-US" sz="1100" dirty="0"/>
          </a:p>
        </p:txBody>
      </p:sp>
      <p:sp>
        <p:nvSpPr>
          <p:cNvPr id="30" name="Text 28"/>
          <p:cNvSpPr txBox="1"/>
          <p:nvPr/>
        </p:nvSpPr>
        <p:spPr>
          <a:xfrm>
            <a:off x="7589520" y="3840480"/>
            <a:ext cx="1005840" cy="274320"/>
          </a:xfrm>
          <a:prstGeom prst="rect">
            <a:avLst/>
          </a:prstGeom>
          <a:noFill/>
          <a:ln/>
        </p:spPr>
        <p:txBody>
          <a:bodyPr wrap="square" lIns="0" tIns="0" rIns="0" bIns="0" rtlCol="0" anchor="t"/>
          <a:lstStyle/>
          <a:p>
            <a:pPr algn="ctr" indent="0" marL="0">
              <a:buNone/>
            </a:pPr>
            <a:r>
              <a:rPr lang="en-US" sz="1100" dirty="0">
                <a:solidFill>
                  <a:schemeClr val="accent5"/>
                </a:solidFill>
              </a:rPr>
              <a:t>-O1, report</a:t>
            </a:r>
            <a:endParaRPr lang="en-US" sz="1100" dirty="0"/>
          </a:p>
        </p:txBody>
      </p:sp>
      <p:sp>
        <p:nvSpPr>
          <p:cNvPr id="31" name="Text 29"/>
          <p:cNvSpPr txBox="1"/>
          <p:nvPr/>
        </p:nvSpPr>
        <p:spPr>
          <a:xfrm>
            <a:off x="548640" y="4251960"/>
            <a:ext cx="8046720" cy="228600"/>
          </a:xfrm>
          <a:prstGeom prst="rect">
            <a:avLst/>
          </a:prstGeom>
          <a:noFill/>
          <a:ln/>
        </p:spPr>
        <p:txBody>
          <a:bodyPr wrap="square" lIns="0" tIns="0" rIns="0" bIns="0" rtlCol="0" anchor="t"/>
          <a:lstStyle/>
          <a:p>
            <a:pPr indent="0" marL="0">
              <a:buNone/>
            </a:pPr>
            <a:r>
              <a:rPr lang="en-US" sz="1100" i="1" dirty="0">
                <a:solidFill>
                  <a:schemeClr val="accent5"/>
                </a:solidFill>
              </a:rPr>
              <a:t>one milestone per week · M3 has started</a:t>
            </a:r>
            <a:endParaRPr lang="en-US" sz="1100" dirty="0"/>
          </a:p>
        </p:txBody>
      </p:sp>
      <p:sp>
        <p:nvSpPr>
          <p:cNvPr id="25" name="Slide Number Placeholder 0"/>
          <p:cNvSpPr>
            <a:spLocks noGrp="1"/>
          </p:cNvSpPr>
          <p:nvPr>
            <p:ph type="sldNum" sz="quarter" idx="4294967295"/>
          </p:nvPr>
        </p:nvSpPr>
        <p:spPr>
          <a:xfrm>
            <a:off x="8138160" y="25603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9AA1AC"/>
                </a:solidFill>
                <a:latin typeface="Consolas"/>
                <a:ea typeface="Consolas"/>
                <a:cs typeface="Consolas"/>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5486400" cy="228600"/>
          </a:xfrm>
          <a:prstGeom prst="rect">
            <a:avLst/>
          </a:prstGeom>
          <a:noFill/>
          <a:ln/>
        </p:spPr>
        <p:txBody>
          <a:bodyPr wrap="square" lIns="0" tIns="0" rIns="0" bIns="0" rtlCol="0"/>
          <a:lstStyle/>
          <a:p>
            <a:pPr indent="0" marL="0">
              <a:buNone/>
            </a:pPr>
            <a:r>
              <a:rPr lang="en-US" sz="1000" dirty="0">
                <a:solidFill>
                  <a:schemeClr val="accent5"/>
                </a:solidFill>
                <a:latin typeface="Consolas" pitchFamily="34" charset="0"/>
                <a:ea typeface="Consolas" pitchFamily="34" charset="-122"/>
                <a:cs typeface="Consolas" pitchFamily="34" charset="-120"/>
              </a:rPr>
              <a:t>tether / 04-architecture</a:t>
            </a:r>
            <a:endParaRPr lang="en-US" sz="1000" dirty="0"/>
          </a:p>
        </p:txBody>
      </p:sp>
      <p:sp>
        <p:nvSpPr>
          <p:cNvPr id="3" name="Text 0"/>
          <p:cNvSpPr/>
          <p:nvPr>
            <p:ph idx="101" type="title" hasCustomPrompt="1"/>
          </p:nvPr>
        </p:nvSpPr>
        <p:spPr>
          <a:xfrm>
            <a:off x="548640" y="502920"/>
            <a:ext cx="8046720" cy="640080"/>
          </a:xfrm>
          <a:prstGeom prst="rect">
            <a:avLst/>
          </a:prstGeom>
          <a:noFill/>
          <a:ln/>
        </p:spPr>
        <p:txBody>
          <a:bodyPr wrap="square" lIns="0" tIns="0" rIns="0" bIns="0" rtlCol="0" anchor="t"/>
          <a:lstStyle/>
          <a:p>
            <a:pPr algn="l" indent="0" marL="0">
              <a:buNone/>
            </a:pPr>
            <a:r>
              <a:rPr lang="en-US" sz="2800" b="1" dirty="0">
                <a:solidFill>
                  <a:schemeClr val="tx1"/>
                </a:solidFill>
              </a:rPr>
              <a:t>Architecture</a:t>
            </a:r>
            <a:endParaRPr lang="en-US" sz="2800" dirty="0"/>
          </a:p>
        </p:txBody>
      </p:sp>
      <p:sp>
        <p:nvSpPr>
          <p:cNvPr id="4" name="Text 2"/>
          <p:cNvSpPr txBox="1"/>
          <p:nvPr/>
        </p:nvSpPr>
        <p:spPr>
          <a:xfrm>
            <a:off x="548640" y="1371600"/>
            <a:ext cx="1828800" cy="228600"/>
          </a:xfrm>
          <a:prstGeom prst="rect">
            <a:avLst/>
          </a:prstGeom>
          <a:noFill/>
          <a:ln/>
        </p:spPr>
        <p:txBody>
          <a:bodyPr wrap="square" lIns="0" tIns="0" rIns="0" bIns="0" rtlCol="0" anchor="t"/>
          <a:lstStyle/>
          <a:p>
            <a:pPr indent="0" marL="0">
              <a:buNone/>
            </a:pPr>
            <a:r>
              <a:rPr lang="en-US" sz="1200" dirty="0">
                <a:solidFill>
                  <a:schemeClr val="tx2"/>
                </a:solidFill>
                <a:latin typeface="Consolas" pitchFamily="34" charset="0"/>
                <a:ea typeface="Consolas" pitchFamily="34" charset="-122"/>
                <a:cs typeface="Consolas" pitchFamily="34" charset="-120"/>
              </a:rPr>
              <a:t>program.tth</a:t>
            </a:r>
            <a:endParaRPr lang="en-US" sz="1200" dirty="0"/>
          </a:p>
        </p:txBody>
      </p:sp>
      <p:sp>
        <p:nvSpPr>
          <p:cNvPr id="5" name="Text 3"/>
          <p:cNvSpPr txBox="1"/>
          <p:nvPr/>
        </p:nvSpPr>
        <p:spPr>
          <a:xfrm>
            <a:off x="4937760" y="1371600"/>
            <a:ext cx="3657600" cy="228600"/>
          </a:xfrm>
          <a:prstGeom prst="rect">
            <a:avLst/>
          </a:prstGeom>
          <a:noFill/>
          <a:ln/>
        </p:spPr>
        <p:txBody>
          <a:bodyPr wrap="square" lIns="0" tIns="0" rIns="0" bIns="0" rtlCol="0" anchor="t"/>
          <a:lstStyle/>
          <a:p>
            <a:pPr algn="r" indent="0" marL="0">
              <a:buNone/>
            </a:pPr>
            <a:r>
              <a:rPr lang="en-US" sz="1200" dirty="0">
                <a:solidFill>
                  <a:schemeClr val="tx2"/>
                </a:solidFill>
                <a:latin typeface="Consolas" pitchFamily="34" charset="0"/>
                <a:ea typeface="Consolas" pitchFamily="34" charset="-122"/>
                <a:cs typeface="Consolas" pitchFamily="34" charset="-120"/>
              </a:rPr>
              <a:t>program.js + program.js.map</a:t>
            </a:r>
            <a:endParaRPr lang="en-US" sz="1200" dirty="0"/>
          </a:p>
        </p:txBody>
      </p:sp>
      <p:sp>
        <p:nvSpPr>
          <p:cNvPr id="6" name="stage"/>
          <p:cNvSpPr/>
          <p:nvPr/>
        </p:nvSpPr>
        <p:spPr>
          <a:xfrm>
            <a:off x="548640" y="1737360"/>
            <a:ext cx="1188720" cy="868680"/>
          </a:xfrm>
          <a:prstGeom prst="rect">
            <a:avLst/>
          </a:prstGeom>
          <a:solidFill>
            <a:schemeClr val="tx1"/>
          </a:solidFill>
          <a:ln w="12700">
            <a:solidFill>
              <a:srgbClr val="15181D"/>
            </a:solidFill>
            <a:prstDash val="solid"/>
          </a:ln>
        </p:spPr>
      </p:sp>
      <p:sp>
        <p:nvSpPr>
          <p:cNvPr id="7" name="Text 5"/>
          <p:cNvSpPr txBox="1"/>
          <p:nvPr/>
        </p:nvSpPr>
        <p:spPr>
          <a:xfrm>
            <a:off x="548640" y="1737360"/>
            <a:ext cx="1188720" cy="868680"/>
          </a:xfrm>
          <a:prstGeom prst="rect">
            <a:avLst/>
          </a:prstGeom>
          <a:noFill/>
          <a:ln/>
        </p:spPr>
        <p:txBody>
          <a:bodyPr wrap="square" lIns="0" tIns="0" rIns="0" bIns="0" rtlCol="0" anchor="ctr"/>
          <a:lstStyle/>
          <a:p>
            <a:pPr algn="ctr" indent="0" marL="0">
              <a:buNone/>
            </a:pPr>
            <a:r>
              <a:rPr lang="en-US" sz="1400" b="1" dirty="0">
                <a:solidFill>
                  <a:schemeClr val="bg1"/>
                </a:solidFill>
              </a:rPr>
              <a:t>Lexer</a:t>
            </a:r>
            <a:endParaRPr lang="en-US" sz="1400" dirty="0"/>
          </a:p>
          <a:p>
            <a:pPr algn="ctr" indent="0" marL="0">
              <a:buNone/>
            </a:pPr>
            <a:r>
              <a:rPr lang="en-US" sz="1100" dirty="0">
                <a:solidFill>
                  <a:schemeClr val="bg1"/>
                </a:solidFill>
                <a:latin typeface="Consolas" pitchFamily="34" charset="0"/>
                <a:ea typeface="Consolas" pitchFamily="34" charset="-122"/>
                <a:cs typeface="Consolas" pitchFamily="34" charset="-120"/>
              </a:rPr>
              <a:t>lexer.js</a:t>
            </a:r>
            <a:endParaRPr lang="en-US" sz="1400" dirty="0"/>
          </a:p>
        </p:txBody>
      </p:sp>
      <p:sp>
        <p:nvSpPr>
          <p:cNvPr id="8" name="flow"/>
          <p:cNvSpPr/>
          <p:nvPr/>
        </p:nvSpPr>
        <p:spPr>
          <a:xfrm>
            <a:off x="1755648" y="2171700"/>
            <a:ext cx="146304" cy="0"/>
          </a:xfrm>
          <a:prstGeom prst="line">
            <a:avLst/>
          </a:prstGeom>
          <a:noFill/>
          <a:ln w="12700">
            <a:solidFill>
              <a:srgbClr val="4A5260"/>
            </a:solidFill>
            <a:prstDash val="solid"/>
            <a:tailEnd type="triangle"/>
          </a:ln>
        </p:spPr>
      </p:sp>
      <p:sp>
        <p:nvSpPr>
          <p:cNvPr id="9" name="stage"/>
          <p:cNvSpPr/>
          <p:nvPr/>
        </p:nvSpPr>
        <p:spPr>
          <a:xfrm>
            <a:off x="1920240" y="1737360"/>
            <a:ext cx="1188720" cy="868680"/>
          </a:xfrm>
          <a:prstGeom prst="rect">
            <a:avLst/>
          </a:prstGeom>
          <a:solidFill>
            <a:schemeClr val="tx1"/>
          </a:solidFill>
          <a:ln w="12700">
            <a:solidFill>
              <a:srgbClr val="15181D"/>
            </a:solidFill>
            <a:prstDash val="solid"/>
          </a:ln>
        </p:spPr>
      </p:sp>
      <p:sp>
        <p:nvSpPr>
          <p:cNvPr id="10" name="Text 8"/>
          <p:cNvSpPr txBox="1"/>
          <p:nvPr/>
        </p:nvSpPr>
        <p:spPr>
          <a:xfrm>
            <a:off x="1920240" y="1737360"/>
            <a:ext cx="1188720" cy="868680"/>
          </a:xfrm>
          <a:prstGeom prst="rect">
            <a:avLst/>
          </a:prstGeom>
          <a:noFill/>
          <a:ln/>
        </p:spPr>
        <p:txBody>
          <a:bodyPr wrap="square" lIns="0" tIns="0" rIns="0" bIns="0" rtlCol="0" anchor="ctr"/>
          <a:lstStyle/>
          <a:p>
            <a:pPr algn="ctr" indent="0" marL="0">
              <a:buNone/>
            </a:pPr>
            <a:r>
              <a:rPr lang="en-US" sz="1400" b="1" dirty="0">
                <a:solidFill>
                  <a:schemeClr val="bg1"/>
                </a:solidFill>
              </a:rPr>
              <a:t>Parser</a:t>
            </a:r>
            <a:endParaRPr lang="en-US" sz="1400" dirty="0"/>
          </a:p>
          <a:p>
            <a:pPr algn="ctr" indent="0" marL="0">
              <a:buNone/>
            </a:pPr>
            <a:r>
              <a:rPr lang="en-US" sz="1100" dirty="0">
                <a:solidFill>
                  <a:schemeClr val="bg1"/>
                </a:solidFill>
                <a:latin typeface="Consolas" pitchFamily="34" charset="0"/>
                <a:ea typeface="Consolas" pitchFamily="34" charset="-122"/>
                <a:cs typeface="Consolas" pitchFamily="34" charset="-120"/>
              </a:rPr>
              <a:t>parser.js</a:t>
            </a:r>
            <a:endParaRPr lang="en-US" sz="1400" dirty="0"/>
          </a:p>
        </p:txBody>
      </p:sp>
      <p:sp>
        <p:nvSpPr>
          <p:cNvPr id="11" name="flow"/>
          <p:cNvSpPr/>
          <p:nvPr/>
        </p:nvSpPr>
        <p:spPr>
          <a:xfrm>
            <a:off x="3127248" y="2171700"/>
            <a:ext cx="146304" cy="0"/>
          </a:xfrm>
          <a:prstGeom prst="line">
            <a:avLst/>
          </a:prstGeom>
          <a:noFill/>
          <a:ln w="12700">
            <a:solidFill>
              <a:srgbClr val="4A5260"/>
            </a:solidFill>
            <a:prstDash val="solid"/>
            <a:tailEnd type="triangle"/>
          </a:ln>
        </p:spPr>
      </p:sp>
      <p:sp>
        <p:nvSpPr>
          <p:cNvPr id="12" name="stage"/>
          <p:cNvSpPr/>
          <p:nvPr/>
        </p:nvSpPr>
        <p:spPr>
          <a:xfrm>
            <a:off x="3291840" y="1737360"/>
            <a:ext cx="1188720" cy="868680"/>
          </a:xfrm>
          <a:prstGeom prst="rect">
            <a:avLst/>
          </a:prstGeom>
          <a:solidFill>
            <a:schemeClr val="accent1"/>
          </a:solidFill>
          <a:ln w="12700">
            <a:solidFill>
              <a:srgbClr val="F5B82E"/>
            </a:solidFill>
            <a:prstDash val="solid"/>
          </a:ln>
        </p:spPr>
      </p:sp>
      <p:sp>
        <p:nvSpPr>
          <p:cNvPr id="13" name="Text 11"/>
          <p:cNvSpPr txBox="1"/>
          <p:nvPr/>
        </p:nvSpPr>
        <p:spPr>
          <a:xfrm>
            <a:off x="3291840" y="1737360"/>
            <a:ext cx="1188720" cy="868680"/>
          </a:xfrm>
          <a:prstGeom prst="rect">
            <a:avLst/>
          </a:prstGeom>
          <a:noFill/>
          <a:ln/>
        </p:spPr>
        <p:txBody>
          <a:bodyPr wrap="square" lIns="0" tIns="0" rIns="0" bIns="0" rtlCol="0" anchor="ctr"/>
          <a:lstStyle/>
          <a:p>
            <a:pPr algn="ctr" indent="0" marL="0">
              <a:buNone/>
            </a:pPr>
            <a:r>
              <a:rPr lang="en-US" sz="1400" b="1" dirty="0">
                <a:solidFill>
                  <a:schemeClr val="tx1"/>
                </a:solidFill>
              </a:rPr>
              <a:t>Type checker</a:t>
            </a:r>
            <a:endParaRPr lang="en-US" sz="1400" dirty="0"/>
          </a:p>
          <a:p>
            <a:pPr algn="ctr" indent="0" marL="0">
              <a:buNone/>
            </a:pPr>
            <a:r>
              <a:rPr lang="en-US" sz="1100" dirty="0">
                <a:solidFill>
                  <a:schemeClr val="tx1"/>
                </a:solidFill>
                <a:latin typeface="Consolas" pitchFamily="34" charset="0"/>
                <a:ea typeface="Consolas" pitchFamily="34" charset="-122"/>
                <a:cs typeface="Consolas" pitchFamily="34" charset="-120"/>
              </a:rPr>
              <a:t>M3</a:t>
            </a:r>
            <a:endParaRPr lang="en-US" sz="1400" dirty="0"/>
          </a:p>
        </p:txBody>
      </p:sp>
      <p:sp>
        <p:nvSpPr>
          <p:cNvPr id="14" name="flow"/>
          <p:cNvSpPr/>
          <p:nvPr/>
        </p:nvSpPr>
        <p:spPr>
          <a:xfrm>
            <a:off x="4498848" y="2171700"/>
            <a:ext cx="146304" cy="0"/>
          </a:xfrm>
          <a:prstGeom prst="line">
            <a:avLst/>
          </a:prstGeom>
          <a:noFill/>
          <a:ln w="12700">
            <a:solidFill>
              <a:srgbClr val="4A5260"/>
            </a:solidFill>
            <a:prstDash val="solid"/>
            <a:tailEnd type="triangle"/>
          </a:ln>
        </p:spPr>
      </p:sp>
      <p:sp>
        <p:nvSpPr>
          <p:cNvPr id="15" name="stage"/>
          <p:cNvSpPr/>
          <p:nvPr/>
        </p:nvSpPr>
        <p:spPr>
          <a:xfrm>
            <a:off x="4663440" y="1737360"/>
            <a:ext cx="1188720" cy="868680"/>
          </a:xfrm>
          <a:prstGeom prst="rect">
            <a:avLst/>
          </a:prstGeom>
          <a:solidFill>
            <a:schemeClr val="bg1"/>
          </a:solidFill>
          <a:ln w="12700">
            <a:solidFill>
              <a:srgbClr val="B7BDC6"/>
            </a:solidFill>
            <a:prstDash val="dash"/>
          </a:ln>
        </p:spPr>
      </p:sp>
      <p:sp>
        <p:nvSpPr>
          <p:cNvPr id="16" name="Text 14"/>
          <p:cNvSpPr txBox="1"/>
          <p:nvPr/>
        </p:nvSpPr>
        <p:spPr>
          <a:xfrm>
            <a:off x="4663440" y="1737360"/>
            <a:ext cx="1188720" cy="868680"/>
          </a:xfrm>
          <a:prstGeom prst="rect">
            <a:avLst/>
          </a:prstGeom>
          <a:noFill/>
          <a:ln/>
        </p:spPr>
        <p:txBody>
          <a:bodyPr wrap="square" lIns="0" tIns="0" rIns="0" bIns="0" rtlCol="0" anchor="ctr"/>
          <a:lstStyle/>
          <a:p>
            <a:pPr algn="ctr" indent="0" marL="0">
              <a:buNone/>
            </a:pPr>
            <a:r>
              <a:rPr lang="en-US" sz="1400" b="1" dirty="0">
                <a:solidFill>
                  <a:schemeClr val="accent5"/>
                </a:solidFill>
              </a:rPr>
              <a:t>Lowering</a:t>
            </a:r>
            <a:endParaRPr lang="en-US" sz="1400" dirty="0"/>
          </a:p>
          <a:p>
            <a:pPr algn="ctr" indent="0" marL="0">
              <a:buNone/>
            </a:pPr>
            <a:r>
              <a:rPr lang="en-US" sz="1100" dirty="0">
                <a:solidFill>
                  <a:schemeClr val="accent5"/>
                </a:solidFill>
                <a:latin typeface="Consolas" pitchFamily="34" charset="0"/>
                <a:ea typeface="Consolas" pitchFamily="34" charset="-122"/>
                <a:cs typeface="Consolas" pitchFamily="34" charset="-120"/>
              </a:rPr>
              <a:t>M4</a:t>
            </a:r>
            <a:endParaRPr lang="en-US" sz="1400" dirty="0"/>
          </a:p>
        </p:txBody>
      </p:sp>
      <p:sp>
        <p:nvSpPr>
          <p:cNvPr id="17" name="flow"/>
          <p:cNvSpPr/>
          <p:nvPr/>
        </p:nvSpPr>
        <p:spPr>
          <a:xfrm>
            <a:off x="5870448" y="2171700"/>
            <a:ext cx="146304" cy="0"/>
          </a:xfrm>
          <a:prstGeom prst="line">
            <a:avLst/>
          </a:prstGeom>
          <a:noFill/>
          <a:ln w="12700">
            <a:solidFill>
              <a:srgbClr val="4A5260"/>
            </a:solidFill>
            <a:prstDash val="solid"/>
            <a:tailEnd type="triangle"/>
          </a:ln>
        </p:spPr>
      </p:sp>
      <p:sp>
        <p:nvSpPr>
          <p:cNvPr id="18" name="stage"/>
          <p:cNvSpPr/>
          <p:nvPr/>
        </p:nvSpPr>
        <p:spPr>
          <a:xfrm>
            <a:off x="6035040" y="1737360"/>
            <a:ext cx="1188720" cy="868680"/>
          </a:xfrm>
          <a:prstGeom prst="rect">
            <a:avLst/>
          </a:prstGeom>
          <a:solidFill>
            <a:schemeClr val="bg1"/>
          </a:solidFill>
          <a:ln w="12700">
            <a:solidFill>
              <a:srgbClr val="B7BDC6"/>
            </a:solidFill>
            <a:prstDash val="dash"/>
          </a:ln>
        </p:spPr>
      </p:sp>
      <p:sp>
        <p:nvSpPr>
          <p:cNvPr id="19" name="Text 17"/>
          <p:cNvSpPr txBox="1"/>
          <p:nvPr/>
        </p:nvSpPr>
        <p:spPr>
          <a:xfrm>
            <a:off x="6035040" y="1737360"/>
            <a:ext cx="1188720" cy="868680"/>
          </a:xfrm>
          <a:prstGeom prst="rect">
            <a:avLst/>
          </a:prstGeom>
          <a:noFill/>
          <a:ln/>
        </p:spPr>
        <p:txBody>
          <a:bodyPr wrap="square" lIns="0" tIns="0" rIns="0" bIns="0" rtlCol="0" anchor="ctr"/>
          <a:lstStyle/>
          <a:p>
            <a:pPr algn="ctr" indent="0" marL="0">
              <a:buNone/>
            </a:pPr>
            <a:r>
              <a:rPr lang="en-US" sz="1400" b="1" dirty="0">
                <a:solidFill>
                  <a:schemeClr val="accent5"/>
                </a:solidFill>
              </a:rPr>
              <a:t>JS emitter</a:t>
            </a:r>
            <a:endParaRPr lang="en-US" sz="1400" dirty="0"/>
          </a:p>
          <a:p>
            <a:pPr algn="ctr" indent="0" marL="0">
              <a:buNone/>
            </a:pPr>
            <a:r>
              <a:rPr lang="en-US" sz="1100" dirty="0">
                <a:solidFill>
                  <a:schemeClr val="accent5"/>
                </a:solidFill>
                <a:latin typeface="Consolas" pitchFamily="34" charset="0"/>
                <a:ea typeface="Consolas" pitchFamily="34" charset="-122"/>
                <a:cs typeface="Consolas" pitchFamily="34" charset="-120"/>
              </a:rPr>
              <a:t>M4</a:t>
            </a:r>
            <a:endParaRPr lang="en-US" sz="1400" dirty="0"/>
          </a:p>
        </p:txBody>
      </p:sp>
      <p:sp>
        <p:nvSpPr>
          <p:cNvPr id="20" name="flow"/>
          <p:cNvSpPr/>
          <p:nvPr/>
        </p:nvSpPr>
        <p:spPr>
          <a:xfrm>
            <a:off x="7242048" y="2171700"/>
            <a:ext cx="146304" cy="0"/>
          </a:xfrm>
          <a:prstGeom prst="line">
            <a:avLst/>
          </a:prstGeom>
          <a:noFill/>
          <a:ln w="12700">
            <a:solidFill>
              <a:srgbClr val="4A5260"/>
            </a:solidFill>
            <a:prstDash val="solid"/>
            <a:tailEnd type="triangle"/>
          </a:ln>
        </p:spPr>
      </p:sp>
      <p:sp>
        <p:nvSpPr>
          <p:cNvPr id="21" name="stage"/>
          <p:cNvSpPr/>
          <p:nvPr/>
        </p:nvSpPr>
        <p:spPr>
          <a:xfrm>
            <a:off x="7406640" y="1737360"/>
            <a:ext cx="1188720" cy="868680"/>
          </a:xfrm>
          <a:prstGeom prst="rect">
            <a:avLst/>
          </a:prstGeom>
          <a:solidFill>
            <a:schemeClr val="bg1"/>
          </a:solidFill>
          <a:ln w="12700">
            <a:solidFill>
              <a:srgbClr val="B7BDC6"/>
            </a:solidFill>
            <a:prstDash val="dash"/>
          </a:ln>
        </p:spPr>
      </p:sp>
      <p:sp>
        <p:nvSpPr>
          <p:cNvPr id="22" name="Text 20"/>
          <p:cNvSpPr txBox="1"/>
          <p:nvPr/>
        </p:nvSpPr>
        <p:spPr>
          <a:xfrm>
            <a:off x="7406640" y="1737360"/>
            <a:ext cx="1188720" cy="868680"/>
          </a:xfrm>
          <a:prstGeom prst="rect">
            <a:avLst/>
          </a:prstGeom>
          <a:noFill/>
          <a:ln/>
        </p:spPr>
        <p:txBody>
          <a:bodyPr wrap="square" lIns="0" tIns="0" rIns="0" bIns="0" rtlCol="0" anchor="ctr"/>
          <a:lstStyle/>
          <a:p>
            <a:pPr algn="ctr" indent="0" marL="0">
              <a:buNone/>
            </a:pPr>
            <a:r>
              <a:rPr lang="en-US" sz="1400" b="1" dirty="0">
                <a:solidFill>
                  <a:schemeClr val="accent5"/>
                </a:solidFill>
              </a:rPr>
              <a:t>Source map</a:t>
            </a:r>
            <a:endParaRPr lang="en-US" sz="1400" dirty="0"/>
          </a:p>
          <a:p>
            <a:pPr algn="ctr" indent="0" marL="0">
              <a:buNone/>
            </a:pPr>
            <a:r>
              <a:rPr lang="en-US" sz="1100" dirty="0">
                <a:solidFill>
                  <a:schemeClr val="accent5"/>
                </a:solidFill>
                <a:latin typeface="Consolas" pitchFamily="34" charset="0"/>
                <a:ea typeface="Consolas" pitchFamily="34" charset="-122"/>
                <a:cs typeface="Consolas" pitchFamily="34" charset="-120"/>
              </a:rPr>
              <a:t>M5–6</a:t>
            </a:r>
            <a:endParaRPr lang="en-US" sz="1400" dirty="0"/>
          </a:p>
        </p:txBody>
      </p:sp>
      <p:sp>
        <p:nvSpPr>
          <p:cNvPr id="23" name="diagnostics"/>
          <p:cNvSpPr/>
          <p:nvPr/>
        </p:nvSpPr>
        <p:spPr>
          <a:xfrm>
            <a:off x="548640" y="2834640"/>
            <a:ext cx="8046720" cy="457200"/>
          </a:xfrm>
          <a:prstGeom prst="rect">
            <a:avLst/>
          </a:prstGeom>
          <a:solidFill>
            <a:schemeClr val="bg1"/>
          </a:solidFill>
          <a:ln w="12700">
            <a:solidFill>
              <a:srgbClr val="15181D"/>
            </a:solidFill>
            <a:prstDash val="solid"/>
          </a:ln>
        </p:spPr>
      </p:sp>
      <p:sp>
        <p:nvSpPr>
          <p:cNvPr id="24" name="Text 22"/>
          <p:cNvSpPr txBox="1"/>
          <p:nvPr/>
        </p:nvSpPr>
        <p:spPr>
          <a:xfrm>
            <a:off x="548640" y="2834640"/>
            <a:ext cx="8046720" cy="457200"/>
          </a:xfrm>
          <a:prstGeom prst="rect">
            <a:avLst/>
          </a:prstGeom>
          <a:noFill/>
          <a:ln/>
        </p:spPr>
        <p:txBody>
          <a:bodyPr wrap="square" lIns="0" tIns="0" rIns="0" bIns="0" rtlCol="0" anchor="ctr"/>
          <a:lstStyle/>
          <a:p>
            <a:pPr algn="ctr" indent="0" marL="0">
              <a:buNone/>
            </a:pPr>
            <a:r>
              <a:rPr lang="en-US" sz="1300" b="1" dirty="0">
                <a:solidFill>
                  <a:schemeClr val="tx1"/>
                </a:solidFill>
                <a:latin typeface="Consolas" pitchFamily="34" charset="0"/>
                <a:ea typeface="Consolas" pitchFamily="34" charset="-122"/>
                <a:cs typeface="Consolas" pitchFamily="34" charset="-120"/>
              </a:rPr>
              <a:t>diagnostics.js</a:t>
            </a:r>
            <a:pPr algn="ctr" indent="0" marL="0">
              <a:buNone/>
            </a:pPr>
            <a:r>
              <a:rPr lang="en-US" sz="1300" dirty="0">
                <a:solidFill>
                  <a:schemeClr val="tx1"/>
                </a:solidFill>
              </a:rPr>
              <a:t>   every phase reports here · sorted by position · rendered with carets</a:t>
            </a:r>
            <a:endParaRPr lang="en-US" sz="1300" dirty="0"/>
          </a:p>
        </p:txBody>
      </p:sp>
      <p:sp>
        <p:nvSpPr>
          <p:cNvPr id="25" name="Text 23"/>
          <p:cNvSpPr txBox="1"/>
          <p:nvPr/>
        </p:nvSpPr>
        <p:spPr>
          <a:xfrm>
            <a:off x="548640" y="3566160"/>
            <a:ext cx="3657600" cy="228600"/>
          </a:xfrm>
          <a:prstGeom prst="rect">
            <a:avLst/>
          </a:prstGeom>
          <a:noFill/>
          <a:ln/>
        </p:spPr>
        <p:txBody>
          <a:bodyPr wrap="square" lIns="0" tIns="0" rIns="0" bIns="0" rtlCol="0" anchor="t"/>
          <a:lstStyle/>
          <a:p>
            <a:pPr indent="0" marL="0">
              <a:buNone/>
            </a:pPr>
            <a:r>
              <a:rPr lang="en-US" sz="1200" b="1" dirty="0">
                <a:solidFill>
                  <a:schemeClr val="tx2"/>
                </a:solidFill>
              </a:rPr>
              <a:t>Source in src/ (lines)</a:t>
            </a:r>
            <a:endParaRPr lang="en-US" sz="1200" dirty="0"/>
          </a:p>
        </p:txBody>
      </p:sp>
      <p:sp>
        <p:nvSpPr>
          <p:cNvPr id="26" name="Text 24"/>
          <p:cNvSpPr txBox="1"/>
          <p:nvPr/>
        </p:nvSpPr>
        <p:spPr>
          <a:xfrm>
            <a:off x="548640" y="3822192"/>
            <a:ext cx="8046720" cy="457200"/>
          </a:xfrm>
          <a:prstGeom prst="rect">
            <a:avLst/>
          </a:prstGeom>
          <a:noFill/>
          <a:ln/>
        </p:spPr>
        <p:txBody>
          <a:bodyPr wrap="square" lIns="0" tIns="0" rIns="0" bIns="0" rtlCol="0" anchor="t"/>
          <a:lstStyle/>
          <a:p>
            <a:pPr indent="0" marL="0">
              <a:buNone/>
            </a:pPr>
            <a:r>
              <a:rPr lang="en-US" sz="1100" dirty="0">
                <a:solidFill>
                  <a:schemeClr val="tx2"/>
                </a:solidFill>
                <a:latin typeface="Consolas" pitchFamily="34" charset="0"/>
                <a:ea typeface="Consolas" pitchFamily="34" charset="-122"/>
                <a:cs typeface="Consolas" pitchFamily="34" charset="-120"/>
              </a:rPr>
              <a:t>span.js 64 · source.js 28 · lexer.js 180 · parser.js 383 · ast.js 52 · diagnostics.js 65 · dump.js 51 · compiler.js 17 · cli.js 116</a:t>
            </a:r>
            <a:endParaRPr lang="en-US" sz="1100" dirty="0"/>
          </a:p>
        </p:txBody>
      </p:sp>
      <p:sp>
        <p:nvSpPr>
          <p:cNvPr id="27" name="Text 25"/>
          <p:cNvSpPr txBox="1"/>
          <p:nvPr/>
        </p:nvSpPr>
        <p:spPr>
          <a:xfrm>
            <a:off x="548640" y="4343400"/>
            <a:ext cx="8046720" cy="228600"/>
          </a:xfrm>
          <a:prstGeom prst="rect">
            <a:avLst/>
          </a:prstGeom>
          <a:noFill/>
          <a:ln/>
        </p:spPr>
        <p:txBody>
          <a:bodyPr wrap="square" lIns="0" tIns="0" rIns="0" bIns="0" rtlCol="0" anchor="t"/>
          <a:lstStyle/>
          <a:p>
            <a:pPr indent="0" marL="0">
              <a:buNone/>
            </a:pPr>
            <a:r>
              <a:rPr lang="en-US" sz="1100" i="1" dirty="0">
                <a:solidFill>
                  <a:schemeClr val="accent5"/>
                </a:solidFill>
              </a:rPr>
              <a:t>filled = built   ·   amber = next   ·   dashed = planned   ·   no third-party dependencies</a:t>
            </a:r>
            <a:endParaRPr lang="en-US" sz="1100" dirty="0"/>
          </a:p>
        </p:txBody>
      </p:sp>
      <p:sp>
        <p:nvSpPr>
          <p:cNvPr id="25" name="Slide Number Placeholder 0"/>
          <p:cNvSpPr>
            <a:spLocks noGrp="1"/>
          </p:cNvSpPr>
          <p:nvPr>
            <p:ph type="sldNum" sz="quarter" idx="4294967295"/>
          </p:nvPr>
        </p:nvSpPr>
        <p:spPr>
          <a:xfrm>
            <a:off x="8138160" y="25603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9AA1AC"/>
                </a:solidFill>
                <a:latin typeface="Consolas"/>
                <a:ea typeface="Consolas"/>
                <a:cs typeface="Consolas"/>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5486400" cy="228600"/>
          </a:xfrm>
          <a:prstGeom prst="rect">
            <a:avLst/>
          </a:prstGeom>
          <a:noFill/>
          <a:ln/>
        </p:spPr>
        <p:txBody>
          <a:bodyPr wrap="square" lIns="0" tIns="0" rIns="0" bIns="0" rtlCol="0"/>
          <a:lstStyle/>
          <a:p>
            <a:pPr indent="0" marL="0">
              <a:buNone/>
            </a:pPr>
            <a:r>
              <a:rPr lang="en-US" sz="1000" dirty="0">
                <a:solidFill>
                  <a:schemeClr val="accent5"/>
                </a:solidFill>
                <a:latin typeface="Consolas" pitchFamily="34" charset="0"/>
                <a:ea typeface="Consolas" pitchFamily="34" charset="-122"/>
                <a:cs typeface="Consolas" pitchFamily="34" charset="-120"/>
              </a:rPr>
              <a:t>tether / 04-lexer · milestone 1</a:t>
            </a:r>
            <a:endParaRPr lang="en-US" sz="1000" dirty="0"/>
          </a:p>
        </p:txBody>
      </p:sp>
      <p:sp>
        <p:nvSpPr>
          <p:cNvPr id="3" name="Text 0"/>
          <p:cNvSpPr/>
          <p:nvPr>
            <p:ph idx="101" type="title" hasCustomPrompt="1"/>
          </p:nvPr>
        </p:nvSpPr>
        <p:spPr>
          <a:xfrm>
            <a:off x="548640" y="502920"/>
            <a:ext cx="8046720" cy="640080"/>
          </a:xfrm>
          <a:prstGeom prst="rect">
            <a:avLst/>
          </a:prstGeom>
          <a:noFill/>
          <a:ln/>
        </p:spPr>
        <p:txBody>
          <a:bodyPr wrap="square" lIns="0" tIns="0" rIns="0" bIns="0" rtlCol="0" anchor="t"/>
          <a:lstStyle/>
          <a:p>
            <a:pPr algn="l" indent="0" marL="0">
              <a:buNone/>
            </a:pPr>
            <a:r>
              <a:rPr lang="en-US" sz="2800" b="1" dirty="0">
                <a:solidFill>
                  <a:schemeClr val="tx1"/>
                </a:solidFill>
              </a:rPr>
              <a:t>Lexer: every token carries its span</a:t>
            </a:r>
            <a:endParaRPr lang="en-US" sz="2800" dirty="0"/>
          </a:p>
        </p:txBody>
      </p:sp>
      <p:sp>
        <p:nvSpPr>
          <p:cNvPr id="4" name="Text 2"/>
          <p:cNvSpPr txBox="1"/>
          <p:nvPr/>
        </p:nvSpPr>
        <p:spPr>
          <a:xfrm>
            <a:off x="548640" y="1298448"/>
            <a:ext cx="3657600" cy="201168"/>
          </a:xfrm>
          <a:prstGeom prst="rect">
            <a:avLst/>
          </a:prstGeom>
          <a:noFill/>
          <a:ln/>
        </p:spPr>
        <p:txBody>
          <a:bodyPr wrap="square" lIns="0" tIns="0" rIns="0" bIns="0" rtlCol="0" anchor="t"/>
          <a:lstStyle/>
          <a:p>
            <a:pPr indent="0" marL="0">
              <a:buNone/>
            </a:pPr>
            <a:r>
              <a:rPr lang="en-US" sz="1100" dirty="0">
                <a:solidFill>
                  <a:schemeClr val="accent5"/>
                </a:solidFill>
              </a:rPr>
              <a:t>examples/fib.tth, line 3</a:t>
            </a:r>
            <a:endParaRPr lang="en-US" sz="1100" dirty="0"/>
          </a:p>
        </p:txBody>
      </p:sp>
      <p:sp>
        <p:nvSpPr>
          <p:cNvPr id="5" name="span"/>
          <p:cNvSpPr/>
          <p:nvPr/>
        </p:nvSpPr>
        <p:spPr>
          <a:xfrm>
            <a:off x="534924" y="1728216"/>
            <a:ext cx="278892" cy="310896"/>
          </a:xfrm>
          <a:prstGeom prst="rect">
            <a:avLst/>
          </a:prstGeom>
          <a:solidFill>
            <a:schemeClr val="accent1">
              <a:alpha val="70000"/>
            </a:schemeClr>
          </a:solidFill>
          <a:ln/>
        </p:spPr>
      </p:sp>
      <p:sp>
        <p:nvSpPr>
          <p:cNvPr id="6" name="span"/>
          <p:cNvSpPr/>
          <p:nvPr/>
        </p:nvSpPr>
        <p:spPr>
          <a:xfrm>
            <a:off x="912114" y="1728216"/>
            <a:ext cx="404622" cy="310896"/>
          </a:xfrm>
          <a:prstGeom prst="rect">
            <a:avLst/>
          </a:prstGeom>
          <a:solidFill>
            <a:schemeClr val="accent1">
              <a:alpha val="28000"/>
            </a:schemeClr>
          </a:solidFill>
          <a:ln/>
        </p:spPr>
      </p:sp>
      <p:sp>
        <p:nvSpPr>
          <p:cNvPr id="7" name="span"/>
          <p:cNvSpPr/>
          <p:nvPr/>
        </p:nvSpPr>
        <p:spPr>
          <a:xfrm>
            <a:off x="1289304" y="1728216"/>
            <a:ext cx="153162" cy="310896"/>
          </a:xfrm>
          <a:prstGeom prst="rect">
            <a:avLst/>
          </a:prstGeom>
          <a:solidFill>
            <a:schemeClr val="accent1">
              <a:alpha val="70000"/>
            </a:schemeClr>
          </a:solidFill>
          <a:ln/>
        </p:spPr>
      </p:sp>
      <p:sp>
        <p:nvSpPr>
          <p:cNvPr id="8" name="span"/>
          <p:cNvSpPr/>
          <p:nvPr/>
        </p:nvSpPr>
        <p:spPr>
          <a:xfrm>
            <a:off x="1415034" y="1728216"/>
            <a:ext cx="153162" cy="310896"/>
          </a:xfrm>
          <a:prstGeom prst="rect">
            <a:avLst/>
          </a:prstGeom>
          <a:solidFill>
            <a:schemeClr val="accent1">
              <a:alpha val="28000"/>
            </a:schemeClr>
          </a:solidFill>
          <a:ln/>
        </p:spPr>
      </p:sp>
      <p:sp>
        <p:nvSpPr>
          <p:cNvPr id="9" name="span"/>
          <p:cNvSpPr/>
          <p:nvPr/>
        </p:nvSpPr>
        <p:spPr>
          <a:xfrm>
            <a:off x="1540764" y="1728216"/>
            <a:ext cx="153162" cy="310896"/>
          </a:xfrm>
          <a:prstGeom prst="rect">
            <a:avLst/>
          </a:prstGeom>
          <a:solidFill>
            <a:schemeClr val="accent1">
              <a:alpha val="70000"/>
            </a:schemeClr>
          </a:solidFill>
          <a:ln/>
        </p:spPr>
      </p:sp>
      <p:sp>
        <p:nvSpPr>
          <p:cNvPr id="10" name="span"/>
          <p:cNvSpPr/>
          <p:nvPr/>
        </p:nvSpPr>
        <p:spPr>
          <a:xfrm>
            <a:off x="1792224" y="1728216"/>
            <a:ext cx="404622" cy="310896"/>
          </a:xfrm>
          <a:prstGeom prst="rect">
            <a:avLst/>
          </a:prstGeom>
          <a:solidFill>
            <a:schemeClr val="accent1">
              <a:alpha val="28000"/>
            </a:schemeClr>
          </a:solidFill>
          <a:ln/>
        </p:spPr>
      </p:sp>
      <p:sp>
        <p:nvSpPr>
          <p:cNvPr id="11" name="span"/>
          <p:cNvSpPr/>
          <p:nvPr/>
        </p:nvSpPr>
        <p:spPr>
          <a:xfrm>
            <a:off x="2169414" y="1728216"/>
            <a:ext cx="153162" cy="310896"/>
          </a:xfrm>
          <a:prstGeom prst="rect">
            <a:avLst/>
          </a:prstGeom>
          <a:solidFill>
            <a:schemeClr val="accent1">
              <a:alpha val="70000"/>
            </a:schemeClr>
          </a:solidFill>
          <a:ln/>
        </p:spPr>
      </p:sp>
      <p:sp>
        <p:nvSpPr>
          <p:cNvPr id="12" name="span"/>
          <p:cNvSpPr/>
          <p:nvPr/>
        </p:nvSpPr>
        <p:spPr>
          <a:xfrm>
            <a:off x="2295144" y="1728216"/>
            <a:ext cx="153162" cy="310896"/>
          </a:xfrm>
          <a:prstGeom prst="rect">
            <a:avLst/>
          </a:prstGeom>
          <a:solidFill>
            <a:schemeClr val="accent1">
              <a:alpha val="28000"/>
            </a:schemeClr>
          </a:solidFill>
          <a:ln/>
        </p:spPr>
      </p:sp>
      <p:sp>
        <p:nvSpPr>
          <p:cNvPr id="13" name="span"/>
          <p:cNvSpPr/>
          <p:nvPr/>
        </p:nvSpPr>
        <p:spPr>
          <a:xfrm>
            <a:off x="2546604" y="1728216"/>
            <a:ext cx="404622" cy="310896"/>
          </a:xfrm>
          <a:prstGeom prst="rect">
            <a:avLst/>
          </a:prstGeom>
          <a:solidFill>
            <a:schemeClr val="accent1">
              <a:alpha val="70000"/>
            </a:schemeClr>
          </a:solidFill>
          <a:ln/>
        </p:spPr>
      </p:sp>
      <p:sp>
        <p:nvSpPr>
          <p:cNvPr id="14" name="span"/>
          <p:cNvSpPr/>
          <p:nvPr/>
        </p:nvSpPr>
        <p:spPr>
          <a:xfrm>
            <a:off x="3049524" y="1728216"/>
            <a:ext cx="153162" cy="310896"/>
          </a:xfrm>
          <a:prstGeom prst="rect">
            <a:avLst/>
          </a:prstGeom>
          <a:solidFill>
            <a:schemeClr val="accent1">
              <a:alpha val="28000"/>
            </a:schemeClr>
          </a:solidFill>
          <a:ln/>
        </p:spPr>
      </p:sp>
      <p:sp>
        <p:nvSpPr>
          <p:cNvPr id="15" name="Text 13"/>
          <p:cNvSpPr txBox="1"/>
          <p:nvPr/>
        </p:nvSpPr>
        <p:spPr>
          <a:xfrm>
            <a:off x="548640" y="1737360"/>
            <a:ext cx="4572000" cy="310896"/>
          </a:xfrm>
          <a:prstGeom prst="rect">
            <a:avLst/>
          </a:prstGeom>
          <a:noFill/>
          <a:ln/>
        </p:spPr>
        <p:txBody>
          <a:bodyPr wrap="square" lIns="0" tIns="0" rIns="0" bIns="0" rtlCol="0" anchor="t"/>
          <a:lstStyle/>
          <a:p>
            <a:pPr indent="0" marL="0">
              <a:buNone/>
            </a:pPr>
            <a:r>
              <a:rPr lang="en-US" sz="1800" dirty="0">
                <a:solidFill>
                  <a:schemeClr val="tx1"/>
                </a:solidFill>
                <a:latin typeface="Consolas" pitchFamily="34" charset="0"/>
                <a:ea typeface="Consolas" pitchFamily="34" charset="-122"/>
                <a:cs typeface="Consolas" pitchFamily="34" charset="-120"/>
              </a:rPr>
              <a:t>fn fib(n: int): int {</a:t>
            </a:r>
            <a:endParaRPr lang="en-US" sz="1800" dirty="0"/>
          </a:p>
        </p:txBody>
      </p:sp>
      <p:sp>
        <p:nvSpPr>
          <p:cNvPr id="16" name="Text 14"/>
          <p:cNvSpPr txBox="1"/>
          <p:nvPr/>
        </p:nvSpPr>
        <p:spPr>
          <a:xfrm>
            <a:off x="548640" y="2084832"/>
            <a:ext cx="548640" cy="182880"/>
          </a:xfrm>
          <a:prstGeom prst="rect">
            <a:avLst/>
          </a:prstGeom>
          <a:noFill/>
          <a:ln/>
        </p:spPr>
        <p:txBody>
          <a:bodyPr wrap="square" lIns="0" tIns="0" rIns="0" bIns="0" rtlCol="0" anchor="t"/>
          <a:lstStyle/>
          <a:p>
            <a:pPr indent="0" marL="0">
              <a:buNone/>
            </a:pPr>
            <a:r>
              <a:rPr lang="en-US" sz="900" dirty="0">
                <a:solidFill>
                  <a:schemeClr val="tx2"/>
                </a:solidFill>
                <a:latin typeface="Consolas" pitchFamily="34" charset="0"/>
                <a:ea typeface="Consolas" pitchFamily="34" charset="-122"/>
                <a:cs typeface="Consolas" pitchFamily="34" charset="-120"/>
              </a:rPr>
              <a:t>3:1+2</a:t>
            </a:r>
            <a:endParaRPr lang="en-US" sz="900" dirty="0"/>
          </a:p>
        </p:txBody>
      </p:sp>
      <p:sp>
        <p:nvSpPr>
          <p:cNvPr id="17" name="Text 15"/>
          <p:cNvSpPr txBox="1"/>
          <p:nvPr/>
        </p:nvSpPr>
        <p:spPr>
          <a:xfrm>
            <a:off x="925830" y="2084832"/>
            <a:ext cx="548640" cy="182880"/>
          </a:xfrm>
          <a:prstGeom prst="rect">
            <a:avLst/>
          </a:prstGeom>
          <a:noFill/>
          <a:ln/>
        </p:spPr>
        <p:txBody>
          <a:bodyPr wrap="square" lIns="0" tIns="0" rIns="0" bIns="0" rtlCol="0" anchor="t"/>
          <a:lstStyle/>
          <a:p>
            <a:pPr indent="0" marL="0">
              <a:buNone/>
            </a:pPr>
            <a:r>
              <a:rPr lang="en-US" sz="900" dirty="0">
                <a:solidFill>
                  <a:schemeClr val="tx2"/>
                </a:solidFill>
                <a:latin typeface="Consolas" pitchFamily="34" charset="0"/>
                <a:ea typeface="Consolas" pitchFamily="34" charset="-122"/>
                <a:cs typeface="Consolas" pitchFamily="34" charset="-120"/>
              </a:rPr>
              <a:t>3:4+3</a:t>
            </a:r>
            <a:endParaRPr lang="en-US" sz="900" dirty="0"/>
          </a:p>
        </p:txBody>
      </p:sp>
      <p:sp>
        <p:nvSpPr>
          <p:cNvPr id="18" name="Text 16"/>
          <p:cNvSpPr txBox="1"/>
          <p:nvPr/>
        </p:nvSpPr>
        <p:spPr>
          <a:xfrm>
            <a:off x="1428750" y="2084832"/>
            <a:ext cx="548640" cy="182880"/>
          </a:xfrm>
          <a:prstGeom prst="rect">
            <a:avLst/>
          </a:prstGeom>
          <a:noFill/>
          <a:ln/>
        </p:spPr>
        <p:txBody>
          <a:bodyPr wrap="square" lIns="0" tIns="0" rIns="0" bIns="0" rtlCol="0" anchor="t"/>
          <a:lstStyle/>
          <a:p>
            <a:pPr indent="0" marL="0">
              <a:buNone/>
            </a:pPr>
            <a:r>
              <a:rPr lang="en-US" sz="900" dirty="0">
                <a:solidFill>
                  <a:schemeClr val="tx2"/>
                </a:solidFill>
                <a:latin typeface="Consolas" pitchFamily="34" charset="0"/>
                <a:ea typeface="Consolas" pitchFamily="34" charset="-122"/>
                <a:cs typeface="Consolas" pitchFamily="34" charset="-120"/>
              </a:rPr>
              <a:t>3:8+1</a:t>
            </a:r>
            <a:endParaRPr lang="en-US" sz="900" dirty="0"/>
          </a:p>
        </p:txBody>
      </p:sp>
      <p:sp>
        <p:nvSpPr>
          <p:cNvPr id="19" name="Text 17"/>
          <p:cNvSpPr txBox="1"/>
          <p:nvPr/>
        </p:nvSpPr>
        <p:spPr>
          <a:xfrm>
            <a:off x="1805940" y="2084832"/>
            <a:ext cx="548640" cy="182880"/>
          </a:xfrm>
          <a:prstGeom prst="rect">
            <a:avLst/>
          </a:prstGeom>
          <a:noFill/>
          <a:ln/>
        </p:spPr>
        <p:txBody>
          <a:bodyPr wrap="square" lIns="0" tIns="0" rIns="0" bIns="0" rtlCol="0" anchor="t"/>
          <a:lstStyle/>
          <a:p>
            <a:pPr indent="0" marL="0">
              <a:buNone/>
            </a:pPr>
            <a:r>
              <a:rPr lang="en-US" sz="900" dirty="0">
                <a:solidFill>
                  <a:schemeClr val="tx2"/>
                </a:solidFill>
                <a:latin typeface="Consolas" pitchFamily="34" charset="0"/>
                <a:ea typeface="Consolas" pitchFamily="34" charset="-122"/>
                <a:cs typeface="Consolas" pitchFamily="34" charset="-120"/>
              </a:rPr>
              <a:t>3:11+3</a:t>
            </a:r>
            <a:endParaRPr lang="en-US" sz="900" dirty="0"/>
          </a:p>
        </p:txBody>
      </p:sp>
      <p:sp>
        <p:nvSpPr>
          <p:cNvPr id="20" name="Text 18"/>
          <p:cNvSpPr txBox="1"/>
          <p:nvPr/>
        </p:nvSpPr>
        <p:spPr>
          <a:xfrm>
            <a:off x="2560320" y="2084832"/>
            <a:ext cx="548640" cy="182880"/>
          </a:xfrm>
          <a:prstGeom prst="rect">
            <a:avLst/>
          </a:prstGeom>
          <a:noFill/>
          <a:ln/>
        </p:spPr>
        <p:txBody>
          <a:bodyPr wrap="square" lIns="0" tIns="0" rIns="0" bIns="0" rtlCol="0" anchor="t"/>
          <a:lstStyle/>
          <a:p>
            <a:pPr indent="0" marL="0">
              <a:buNone/>
            </a:pPr>
            <a:r>
              <a:rPr lang="en-US" sz="900" dirty="0">
                <a:solidFill>
                  <a:schemeClr val="tx2"/>
                </a:solidFill>
                <a:latin typeface="Consolas" pitchFamily="34" charset="0"/>
                <a:ea typeface="Consolas" pitchFamily="34" charset="-122"/>
                <a:cs typeface="Consolas" pitchFamily="34" charset="-120"/>
              </a:rPr>
              <a:t>3:17+3</a:t>
            </a:r>
            <a:endParaRPr lang="en-US" sz="900" dirty="0"/>
          </a:p>
        </p:txBody>
      </p:sp>
      <p:sp>
        <p:nvSpPr>
          <p:cNvPr id="21" name="Text 19"/>
          <p:cNvSpPr txBox="1"/>
          <p:nvPr/>
        </p:nvSpPr>
        <p:spPr>
          <a:xfrm>
            <a:off x="3063240" y="2084832"/>
            <a:ext cx="548640" cy="182880"/>
          </a:xfrm>
          <a:prstGeom prst="rect">
            <a:avLst/>
          </a:prstGeom>
          <a:noFill/>
          <a:ln/>
        </p:spPr>
        <p:txBody>
          <a:bodyPr wrap="square" lIns="0" tIns="0" rIns="0" bIns="0" rtlCol="0" anchor="t"/>
          <a:lstStyle/>
          <a:p>
            <a:pPr indent="0" marL="0">
              <a:buNone/>
            </a:pPr>
            <a:r>
              <a:rPr lang="en-US" sz="900" dirty="0">
                <a:solidFill>
                  <a:schemeClr val="tx2"/>
                </a:solidFill>
                <a:latin typeface="Consolas" pitchFamily="34" charset="0"/>
                <a:ea typeface="Consolas" pitchFamily="34" charset="-122"/>
                <a:cs typeface="Consolas" pitchFamily="34" charset="-120"/>
              </a:rPr>
              <a:t>3:21+1</a:t>
            </a:r>
            <a:endParaRPr lang="en-US" sz="900" dirty="0"/>
          </a:p>
        </p:txBody>
      </p:sp>
      <p:sp>
        <p:nvSpPr>
          <p:cNvPr id="22" name="code"/>
          <p:cNvSpPr/>
          <p:nvPr/>
        </p:nvSpPr>
        <p:spPr>
          <a:xfrm>
            <a:off x="548640" y="2514600"/>
            <a:ext cx="3931920" cy="2057400"/>
          </a:xfrm>
          <a:prstGeom prst="rect">
            <a:avLst/>
          </a:prstGeom>
          <a:solidFill>
            <a:schemeClr val="tx1"/>
          </a:solidFill>
          <a:ln/>
        </p:spPr>
      </p:sp>
      <p:sp>
        <p:nvSpPr>
          <p:cNvPr id="23" name="Text 21"/>
          <p:cNvSpPr txBox="1"/>
          <p:nvPr/>
        </p:nvSpPr>
        <p:spPr>
          <a:xfrm>
            <a:off x="731520" y="2660904"/>
            <a:ext cx="3566160" cy="1764792"/>
          </a:xfrm>
          <a:prstGeom prst="rect">
            <a:avLst/>
          </a:prstGeom>
          <a:noFill/>
          <a:ln/>
        </p:spPr>
        <p:txBody>
          <a:bodyPr wrap="square" lIns="0" tIns="0" rIns="0" bIns="0" rtlCol="0" anchor="t"/>
          <a:lstStyle/>
          <a:p>
            <a:pPr indent="0" marL="0">
              <a:lnSpc>
                <a:spcPct val="105000"/>
              </a:lnSpc>
              <a:buNone/>
            </a:pPr>
            <a:r>
              <a:rPr lang="en-US" sz="1100" dirty="0">
                <a:solidFill>
                  <a:srgbClr val="8B93A1"/>
                </a:solidFill>
                <a:latin typeface="Consolas" pitchFamily="34" charset="0"/>
                <a:ea typeface="Consolas" pitchFamily="34" charset="-122"/>
                <a:cs typeface="Consolas" pitchFamily="34" charset="-120"/>
              </a:rPr>
              <a:t>$ tether build fib.tth --dump-tokens</a:t>
            </a:r>
            <a:endParaRPr lang="en-US" sz="1100" dirty="0"/>
          </a:p>
          <a:p>
            <a:pPr indent="0" marL="0">
              <a:lnSpc>
                <a:spcPct val="105000"/>
              </a:lnSpc>
              <a:buNone/>
            </a:pPr>
            <a:r>
              <a:rPr lang="en-US" sz="1100" dirty="0">
                <a:solidFill>
                  <a:srgbClr val="F5B82E"/>
                </a:solidFill>
                <a:latin typeface="Consolas" pitchFamily="34" charset="0"/>
                <a:ea typeface="Consolas" pitchFamily="34" charset="-122"/>
                <a:cs typeface="Consolas" pitchFamily="34" charset="-120"/>
              </a:rPr>
              <a:t>3:1+2    </a:t>
            </a:r>
            <a:pPr indent="0" marL="0">
              <a:lnSpc>
                <a:spcPct val="105000"/>
              </a:lnSpc>
              <a:buNone/>
            </a:pPr>
            <a:r>
              <a:rPr lang="en-US" sz="1100" dirty="0">
                <a:solidFill>
                  <a:srgbClr val="E4E7EC"/>
                </a:solidFill>
                <a:latin typeface="Consolas" pitchFamily="34" charset="0"/>
                <a:ea typeface="Consolas" pitchFamily="34" charset="-122"/>
                <a:cs typeface="Consolas" pitchFamily="34" charset="-120"/>
              </a:rPr>
              <a:t>Keyword  fn</a:t>
            </a:r>
            <a:endParaRPr lang="en-US" sz="1100" dirty="0"/>
          </a:p>
          <a:p>
            <a:pPr indent="0" marL="0">
              <a:lnSpc>
                <a:spcPct val="105000"/>
              </a:lnSpc>
              <a:buNone/>
            </a:pPr>
            <a:r>
              <a:rPr lang="en-US" sz="1100" dirty="0">
                <a:solidFill>
                  <a:srgbClr val="F5B82E"/>
                </a:solidFill>
                <a:latin typeface="Consolas" pitchFamily="34" charset="0"/>
                <a:ea typeface="Consolas" pitchFamily="34" charset="-122"/>
                <a:cs typeface="Consolas" pitchFamily="34" charset="-120"/>
              </a:rPr>
              <a:t>3:4+3    </a:t>
            </a:r>
            <a:pPr indent="0" marL="0">
              <a:lnSpc>
                <a:spcPct val="105000"/>
              </a:lnSpc>
              <a:buNone/>
            </a:pPr>
            <a:r>
              <a:rPr lang="en-US" sz="1100" dirty="0">
                <a:solidFill>
                  <a:srgbClr val="E4E7EC"/>
                </a:solidFill>
                <a:latin typeface="Consolas" pitchFamily="34" charset="0"/>
                <a:ea typeface="Consolas" pitchFamily="34" charset="-122"/>
                <a:cs typeface="Consolas" pitchFamily="34" charset="-120"/>
              </a:rPr>
              <a:t>Ident    fib</a:t>
            </a:r>
            <a:endParaRPr lang="en-US" sz="1100" dirty="0"/>
          </a:p>
          <a:p>
            <a:pPr indent="0" marL="0">
              <a:lnSpc>
                <a:spcPct val="105000"/>
              </a:lnSpc>
              <a:buNone/>
            </a:pPr>
            <a:r>
              <a:rPr lang="en-US" sz="1100" dirty="0">
                <a:solidFill>
                  <a:srgbClr val="F5B82E"/>
                </a:solidFill>
                <a:latin typeface="Consolas" pitchFamily="34" charset="0"/>
                <a:ea typeface="Consolas" pitchFamily="34" charset="-122"/>
                <a:cs typeface="Consolas" pitchFamily="34" charset="-120"/>
              </a:rPr>
              <a:t>3:7+1    </a:t>
            </a:r>
            <a:pPr indent="0" marL="0">
              <a:lnSpc>
                <a:spcPct val="105000"/>
              </a:lnSpc>
              <a:buNone/>
            </a:pPr>
            <a:r>
              <a:rPr lang="en-US" sz="1100" dirty="0">
                <a:solidFill>
                  <a:srgbClr val="E4E7EC"/>
                </a:solidFill>
                <a:latin typeface="Consolas" pitchFamily="34" charset="0"/>
                <a:ea typeface="Consolas" pitchFamily="34" charset="-122"/>
                <a:cs typeface="Consolas" pitchFamily="34" charset="-120"/>
              </a:rPr>
              <a:t>Punct    (</a:t>
            </a:r>
            <a:endParaRPr lang="en-US" sz="1100" dirty="0"/>
          </a:p>
          <a:p>
            <a:pPr indent="0" marL="0">
              <a:lnSpc>
                <a:spcPct val="105000"/>
              </a:lnSpc>
              <a:buNone/>
            </a:pPr>
            <a:r>
              <a:rPr lang="en-US" sz="1100" dirty="0">
                <a:solidFill>
                  <a:srgbClr val="F5B82E"/>
                </a:solidFill>
                <a:latin typeface="Consolas" pitchFamily="34" charset="0"/>
                <a:ea typeface="Consolas" pitchFamily="34" charset="-122"/>
                <a:cs typeface="Consolas" pitchFamily="34" charset="-120"/>
              </a:rPr>
              <a:t>3:8+1    </a:t>
            </a:r>
            <a:pPr indent="0" marL="0">
              <a:lnSpc>
                <a:spcPct val="105000"/>
              </a:lnSpc>
              <a:buNone/>
            </a:pPr>
            <a:r>
              <a:rPr lang="en-US" sz="1100" dirty="0">
                <a:solidFill>
                  <a:srgbClr val="E4E7EC"/>
                </a:solidFill>
                <a:latin typeface="Consolas" pitchFamily="34" charset="0"/>
                <a:ea typeface="Consolas" pitchFamily="34" charset="-122"/>
                <a:cs typeface="Consolas" pitchFamily="34" charset="-120"/>
              </a:rPr>
              <a:t>Ident    n</a:t>
            </a:r>
            <a:endParaRPr lang="en-US" sz="1100" dirty="0"/>
          </a:p>
          <a:p>
            <a:pPr indent="0" marL="0">
              <a:lnSpc>
                <a:spcPct val="105000"/>
              </a:lnSpc>
              <a:buNone/>
            </a:pPr>
            <a:r>
              <a:rPr lang="en-US" sz="1100" dirty="0">
                <a:solidFill>
                  <a:srgbClr val="F5B82E"/>
                </a:solidFill>
                <a:latin typeface="Consolas" pitchFamily="34" charset="0"/>
                <a:ea typeface="Consolas" pitchFamily="34" charset="-122"/>
                <a:cs typeface="Consolas" pitchFamily="34" charset="-120"/>
              </a:rPr>
              <a:t>3:9+1    </a:t>
            </a:r>
            <a:pPr indent="0" marL="0">
              <a:lnSpc>
                <a:spcPct val="105000"/>
              </a:lnSpc>
              <a:buNone/>
            </a:pPr>
            <a:r>
              <a:rPr lang="en-US" sz="1100" dirty="0">
                <a:solidFill>
                  <a:srgbClr val="E4E7EC"/>
                </a:solidFill>
                <a:latin typeface="Consolas" pitchFamily="34" charset="0"/>
                <a:ea typeface="Consolas" pitchFamily="34" charset="-122"/>
                <a:cs typeface="Consolas" pitchFamily="34" charset="-120"/>
              </a:rPr>
              <a:t>Punct    :</a:t>
            </a:r>
            <a:endParaRPr lang="en-US" sz="1100" dirty="0"/>
          </a:p>
          <a:p>
            <a:pPr indent="0" marL="0">
              <a:lnSpc>
                <a:spcPct val="105000"/>
              </a:lnSpc>
              <a:buNone/>
            </a:pPr>
            <a:r>
              <a:rPr lang="en-US" sz="1100" dirty="0">
                <a:solidFill>
                  <a:srgbClr val="F5B82E"/>
                </a:solidFill>
                <a:latin typeface="Consolas" pitchFamily="34" charset="0"/>
                <a:ea typeface="Consolas" pitchFamily="34" charset="-122"/>
                <a:cs typeface="Consolas" pitchFamily="34" charset="-120"/>
              </a:rPr>
              <a:t>3:11+3   </a:t>
            </a:r>
            <a:pPr indent="0" marL="0">
              <a:lnSpc>
                <a:spcPct val="105000"/>
              </a:lnSpc>
              <a:buNone/>
            </a:pPr>
            <a:r>
              <a:rPr lang="en-US" sz="1100" dirty="0">
                <a:solidFill>
                  <a:srgbClr val="E4E7EC"/>
                </a:solidFill>
                <a:latin typeface="Consolas" pitchFamily="34" charset="0"/>
                <a:ea typeface="Consolas" pitchFamily="34" charset="-122"/>
                <a:cs typeface="Consolas" pitchFamily="34" charset="-120"/>
              </a:rPr>
              <a:t>Keyword  int</a:t>
            </a:r>
            <a:endParaRPr lang="en-US" sz="1100" dirty="0"/>
          </a:p>
          <a:p>
            <a:pPr indent="0" marL="0">
              <a:lnSpc>
                <a:spcPct val="105000"/>
              </a:lnSpc>
              <a:buNone/>
            </a:pPr>
            <a:r>
              <a:rPr lang="en-US" sz="1100" dirty="0">
                <a:solidFill>
                  <a:srgbClr val="8B93A1"/>
                </a:solidFill>
                <a:latin typeface="Consolas" pitchFamily="34" charset="0"/>
                <a:ea typeface="Consolas" pitchFamily="34" charset="-122"/>
                <a:cs typeface="Consolas" pitchFamily="34" charset="-120"/>
              </a:rPr>
              <a:t>…  127 tokens, ending in EOF</a:t>
            </a:r>
            <a:endParaRPr lang="en-US" sz="1100" dirty="0"/>
          </a:p>
        </p:txBody>
      </p:sp>
      <p:sp>
        <p:nvSpPr>
          <p:cNvPr id="24" name="Text 22"/>
          <p:cNvSpPr txBox="1"/>
          <p:nvPr/>
        </p:nvSpPr>
        <p:spPr>
          <a:xfrm>
            <a:off x="4800600" y="2514600"/>
            <a:ext cx="3794760" cy="228600"/>
          </a:xfrm>
          <a:prstGeom prst="rect">
            <a:avLst/>
          </a:prstGeom>
          <a:noFill/>
          <a:ln/>
        </p:spPr>
        <p:txBody>
          <a:bodyPr wrap="square" lIns="0" tIns="0" rIns="0" bIns="0" rtlCol="0" anchor="t"/>
          <a:lstStyle/>
          <a:p>
            <a:pPr indent="0" marL="0">
              <a:buNone/>
            </a:pPr>
            <a:r>
              <a:rPr lang="en-US" sz="1400" b="1" dirty="0">
                <a:solidFill>
                  <a:schemeClr val="tx1"/>
                </a:solidFill>
              </a:rPr>
              <a:t>Hand-written, single pass</a:t>
            </a:r>
            <a:endParaRPr lang="en-US" sz="1400" dirty="0"/>
          </a:p>
        </p:txBody>
      </p:sp>
      <p:sp>
        <p:nvSpPr>
          <p:cNvPr id="25" name="Text 23"/>
          <p:cNvSpPr txBox="1"/>
          <p:nvPr/>
        </p:nvSpPr>
        <p:spPr>
          <a:xfrm>
            <a:off x="4800600" y="2752344"/>
            <a:ext cx="3794760" cy="228600"/>
          </a:xfrm>
          <a:prstGeom prst="rect">
            <a:avLst/>
          </a:prstGeom>
          <a:noFill/>
          <a:ln/>
        </p:spPr>
        <p:txBody>
          <a:bodyPr wrap="square" lIns="0" tIns="0" rIns="0" bIns="0" rtlCol="0" anchor="t"/>
          <a:lstStyle/>
          <a:p>
            <a:pPr indent="0" marL="0">
              <a:buNone/>
            </a:pPr>
            <a:r>
              <a:rPr lang="en-US" sz="1250" dirty="0">
                <a:solidFill>
                  <a:schemeClr val="tx2"/>
                </a:solidFill>
              </a:rPr>
              <a:t>maximal munch: &lt;= wins over &lt;</a:t>
            </a:r>
            <a:endParaRPr lang="en-US" sz="1250" dirty="0"/>
          </a:p>
        </p:txBody>
      </p:sp>
      <p:sp>
        <p:nvSpPr>
          <p:cNvPr id="26" name="Text 24"/>
          <p:cNvSpPr txBox="1"/>
          <p:nvPr/>
        </p:nvSpPr>
        <p:spPr>
          <a:xfrm>
            <a:off x="4800600" y="3044952"/>
            <a:ext cx="3794760" cy="228600"/>
          </a:xfrm>
          <a:prstGeom prst="rect">
            <a:avLst/>
          </a:prstGeom>
          <a:noFill/>
          <a:ln/>
        </p:spPr>
        <p:txBody>
          <a:bodyPr wrap="square" lIns="0" tIns="0" rIns="0" bIns="0" rtlCol="0" anchor="t"/>
          <a:lstStyle/>
          <a:p>
            <a:pPr indent="0" marL="0">
              <a:buNone/>
            </a:pPr>
            <a:r>
              <a:rPr lang="en-US" sz="1400" b="1" dirty="0">
                <a:solidFill>
                  <a:schemeClr val="tx1"/>
                </a:solidFill>
              </a:rPr>
              <a:t>Columns in UTF-16 units</a:t>
            </a:r>
            <a:endParaRPr lang="en-US" sz="1400" dirty="0"/>
          </a:p>
        </p:txBody>
      </p:sp>
      <p:sp>
        <p:nvSpPr>
          <p:cNvPr id="27" name="Text 25"/>
          <p:cNvSpPr txBox="1"/>
          <p:nvPr/>
        </p:nvSpPr>
        <p:spPr>
          <a:xfrm>
            <a:off x="4800600" y="3282696"/>
            <a:ext cx="3794760" cy="228600"/>
          </a:xfrm>
          <a:prstGeom prst="rect">
            <a:avLst/>
          </a:prstGeom>
          <a:noFill/>
          <a:ln/>
        </p:spPr>
        <p:txBody>
          <a:bodyPr wrap="square" lIns="0" tIns="0" rIns="0" bIns="0" rtlCol="0" anchor="t"/>
          <a:lstStyle/>
          <a:p>
            <a:pPr indent="0" marL="0">
              <a:buNone/>
            </a:pPr>
            <a:r>
              <a:rPr lang="en-US" sz="1250" dirty="0">
                <a:solidFill>
                  <a:schemeClr val="tx2"/>
                </a:solidFill>
              </a:rPr>
              <a:t>a tab counts as one column, as in source maps</a:t>
            </a:r>
            <a:endParaRPr lang="en-US" sz="1250" dirty="0"/>
          </a:p>
        </p:txBody>
      </p:sp>
      <p:sp>
        <p:nvSpPr>
          <p:cNvPr id="28" name="Text 26"/>
          <p:cNvSpPr txBox="1"/>
          <p:nvPr/>
        </p:nvSpPr>
        <p:spPr>
          <a:xfrm>
            <a:off x="4800600" y="3575304"/>
            <a:ext cx="3794760" cy="228600"/>
          </a:xfrm>
          <a:prstGeom prst="rect">
            <a:avLst/>
          </a:prstGeom>
          <a:noFill/>
          <a:ln/>
        </p:spPr>
        <p:txBody>
          <a:bodyPr wrap="square" lIns="0" tIns="0" rIns="0" bIns="0" rtlCol="0" anchor="t"/>
          <a:lstStyle/>
          <a:p>
            <a:pPr indent="0" marL="0">
              <a:buNone/>
            </a:pPr>
            <a:r>
              <a:rPr lang="en-US" sz="1400" b="1" dirty="0">
                <a:solidFill>
                  <a:schemeClr val="tx1"/>
                </a:solidFill>
              </a:rPr>
              <a:t>One advance() function</a:t>
            </a:r>
            <a:endParaRPr lang="en-US" sz="1400" dirty="0"/>
          </a:p>
        </p:txBody>
      </p:sp>
      <p:sp>
        <p:nvSpPr>
          <p:cNvPr id="29" name="Text 27"/>
          <p:cNvSpPr txBox="1"/>
          <p:nvPr/>
        </p:nvSpPr>
        <p:spPr>
          <a:xfrm>
            <a:off x="4800600" y="3813048"/>
            <a:ext cx="3794760" cy="228600"/>
          </a:xfrm>
          <a:prstGeom prst="rect">
            <a:avLst/>
          </a:prstGeom>
          <a:noFill/>
          <a:ln/>
        </p:spPr>
        <p:txBody>
          <a:bodyPr wrap="square" lIns="0" tIns="0" rIns="0" bIns="0" rtlCol="0" anchor="t"/>
          <a:lstStyle/>
          <a:p>
            <a:pPr indent="0" marL="0">
              <a:buNone/>
            </a:pPr>
            <a:r>
              <a:rPr lang="en-US" sz="1250" dirty="0">
                <a:solidFill>
                  <a:schemeClr val="tx2"/>
                </a:solidFill>
              </a:rPr>
              <a:t>line and column can never drift apart</a:t>
            </a:r>
            <a:endParaRPr lang="en-US" sz="1250" dirty="0"/>
          </a:p>
        </p:txBody>
      </p:sp>
      <p:sp>
        <p:nvSpPr>
          <p:cNvPr id="30" name="Text 28"/>
          <p:cNvSpPr txBox="1"/>
          <p:nvPr/>
        </p:nvSpPr>
        <p:spPr>
          <a:xfrm>
            <a:off x="4800600" y="4105656"/>
            <a:ext cx="3794760" cy="228600"/>
          </a:xfrm>
          <a:prstGeom prst="rect">
            <a:avLst/>
          </a:prstGeom>
          <a:noFill/>
          <a:ln/>
        </p:spPr>
        <p:txBody>
          <a:bodyPr wrap="square" lIns="0" tIns="0" rIns="0" bIns="0" rtlCol="0" anchor="t"/>
          <a:lstStyle/>
          <a:p>
            <a:pPr indent="0" marL="0">
              <a:buNone/>
            </a:pPr>
            <a:r>
              <a:rPr lang="en-US" sz="1400" b="1" dirty="0">
                <a:solidFill>
                  <a:schemeClr val="tx1"/>
                </a:solidFill>
              </a:rPr>
              <a:t>Five lexical errors</a:t>
            </a:r>
            <a:endParaRPr lang="en-US" sz="1400" dirty="0"/>
          </a:p>
        </p:txBody>
      </p:sp>
      <p:sp>
        <p:nvSpPr>
          <p:cNvPr id="31" name="Text 29"/>
          <p:cNvSpPr txBox="1"/>
          <p:nvPr/>
        </p:nvSpPr>
        <p:spPr>
          <a:xfrm>
            <a:off x="4800600" y="4343400"/>
            <a:ext cx="3794760" cy="228600"/>
          </a:xfrm>
          <a:prstGeom prst="rect">
            <a:avLst/>
          </a:prstGeom>
          <a:noFill/>
          <a:ln/>
        </p:spPr>
        <p:txBody>
          <a:bodyPr wrap="square" lIns="0" tIns="0" rIns="0" bIns="0" rtlCol="0" anchor="t"/>
          <a:lstStyle/>
          <a:p>
            <a:pPr indent="0" marL="0">
              <a:buNone/>
            </a:pPr>
            <a:r>
              <a:rPr lang="en-US" sz="1250" dirty="0">
                <a:solidFill>
                  <a:schemeClr val="tx2"/>
                </a:solidFill>
              </a:rPr>
              <a:t>each with an exact caret; scanning continues</a:t>
            </a:r>
            <a:endParaRPr lang="en-US" sz="1250" dirty="0"/>
          </a:p>
        </p:txBody>
      </p:sp>
      <p:sp>
        <p:nvSpPr>
          <p:cNvPr id="25" name="Slide Number Placeholder 0"/>
          <p:cNvSpPr>
            <a:spLocks noGrp="1"/>
          </p:cNvSpPr>
          <p:nvPr>
            <p:ph type="sldNum" sz="quarter" idx="4294967295"/>
          </p:nvPr>
        </p:nvSpPr>
        <p:spPr>
          <a:xfrm>
            <a:off x="8138160" y="25603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9AA1AC"/>
                </a:solidFill>
                <a:latin typeface="Consolas"/>
                <a:ea typeface="Consolas"/>
                <a:cs typeface="Consolas"/>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5486400" cy="228600"/>
          </a:xfrm>
          <a:prstGeom prst="rect">
            <a:avLst/>
          </a:prstGeom>
          <a:noFill/>
          <a:ln/>
        </p:spPr>
        <p:txBody>
          <a:bodyPr wrap="square" lIns="0" tIns="0" rIns="0" bIns="0" rtlCol="0"/>
          <a:lstStyle/>
          <a:p>
            <a:pPr indent="0" marL="0">
              <a:buNone/>
            </a:pPr>
            <a:r>
              <a:rPr lang="en-US" sz="1000" dirty="0">
                <a:solidFill>
                  <a:schemeClr val="accent5"/>
                </a:solidFill>
                <a:latin typeface="Consolas" pitchFamily="34" charset="0"/>
                <a:ea typeface="Consolas" pitchFamily="34" charset="-122"/>
                <a:cs typeface="Consolas" pitchFamily="34" charset="-120"/>
              </a:rPr>
              <a:t>tether / 04-parser · milestone 2</a:t>
            </a:r>
            <a:endParaRPr lang="en-US" sz="1000" dirty="0"/>
          </a:p>
        </p:txBody>
      </p:sp>
      <p:sp>
        <p:nvSpPr>
          <p:cNvPr id="3" name="Text 0"/>
          <p:cNvSpPr/>
          <p:nvPr>
            <p:ph idx="101" type="title" hasCustomPrompt="1"/>
          </p:nvPr>
        </p:nvSpPr>
        <p:spPr>
          <a:xfrm>
            <a:off x="548640" y="502920"/>
            <a:ext cx="8046720" cy="640080"/>
          </a:xfrm>
          <a:prstGeom prst="rect">
            <a:avLst/>
          </a:prstGeom>
          <a:noFill/>
          <a:ln/>
        </p:spPr>
        <p:txBody>
          <a:bodyPr wrap="square" lIns="0" tIns="0" rIns="0" bIns="0" rtlCol="0" anchor="t"/>
          <a:lstStyle/>
          <a:p>
            <a:pPr algn="l" indent="0" marL="0">
              <a:buNone/>
            </a:pPr>
            <a:r>
              <a:rPr lang="en-US" sz="2800" b="1" dirty="0">
                <a:solidFill>
                  <a:schemeClr val="tx1"/>
                </a:solidFill>
              </a:rPr>
              <a:t>Parser: precedence climbing</a:t>
            </a:r>
            <a:endParaRPr lang="en-US" sz="2800" dirty="0"/>
          </a:p>
        </p:txBody>
      </p:sp>
      <p:sp>
        <p:nvSpPr>
          <p:cNvPr id="4" name="Text 2"/>
          <p:cNvSpPr txBox="1"/>
          <p:nvPr/>
        </p:nvSpPr>
        <p:spPr>
          <a:xfrm>
            <a:off x="548640" y="1298448"/>
            <a:ext cx="3657600" cy="201168"/>
          </a:xfrm>
          <a:prstGeom prst="rect">
            <a:avLst/>
          </a:prstGeom>
          <a:noFill/>
          <a:ln/>
        </p:spPr>
        <p:txBody>
          <a:bodyPr wrap="square" lIns="0" tIns="0" rIns="0" bIns="0" rtlCol="0" anchor="t"/>
          <a:lstStyle/>
          <a:p>
            <a:pPr indent="0" marL="0">
              <a:buNone/>
            </a:pPr>
            <a:r>
              <a:rPr lang="en-US" sz="1100" dirty="0">
                <a:solidFill>
                  <a:schemeClr val="accent5"/>
                </a:solidFill>
              </a:rPr>
              <a:t>src/parser.js</a:t>
            </a:r>
            <a:endParaRPr lang="en-US" sz="1100" dirty="0"/>
          </a:p>
        </p:txBody>
      </p:sp>
      <p:sp>
        <p:nvSpPr>
          <p:cNvPr id="5" name="code"/>
          <p:cNvSpPr/>
          <p:nvPr/>
        </p:nvSpPr>
        <p:spPr>
          <a:xfrm>
            <a:off x="548640" y="1554480"/>
            <a:ext cx="4663440" cy="2423160"/>
          </a:xfrm>
          <a:prstGeom prst="rect">
            <a:avLst/>
          </a:prstGeom>
          <a:solidFill>
            <a:schemeClr val="tx1"/>
          </a:solidFill>
          <a:ln/>
        </p:spPr>
      </p:sp>
      <p:sp>
        <p:nvSpPr>
          <p:cNvPr id="6" name="Text 4"/>
          <p:cNvSpPr txBox="1"/>
          <p:nvPr/>
        </p:nvSpPr>
        <p:spPr>
          <a:xfrm>
            <a:off x="731520" y="1700784"/>
            <a:ext cx="4297680" cy="2130552"/>
          </a:xfrm>
          <a:prstGeom prst="rect">
            <a:avLst/>
          </a:prstGeom>
          <a:noFill/>
          <a:ln/>
        </p:spPr>
        <p:txBody>
          <a:bodyPr wrap="square" lIns="0" tIns="0" rIns="0" bIns="0" rtlCol="0" anchor="t"/>
          <a:lstStyle/>
          <a:p>
            <a:pPr indent="0" marL="0">
              <a:lnSpc>
                <a:spcPct val="105000"/>
              </a:lnSpc>
              <a:buNone/>
            </a:pPr>
            <a:r>
              <a:rPr lang="en-US" sz="1050" dirty="0">
                <a:solidFill>
                  <a:srgbClr val="E4E7EC"/>
                </a:solidFill>
                <a:latin typeface="Consolas" pitchFamily="34" charset="0"/>
                <a:ea typeface="Consolas" pitchFamily="34" charset="-122"/>
                <a:cs typeface="Consolas" pitchFamily="34" charset="-120"/>
              </a:rPr>
              <a:t>parseExpr(minPrec = 1) {</a:t>
            </a:r>
            <a:endParaRPr lang="en-US" sz="1050" dirty="0"/>
          </a:p>
          <a:p>
            <a:pPr indent="0" marL="0">
              <a:lnSpc>
                <a:spcPct val="105000"/>
              </a:lnSpc>
              <a:buNone/>
            </a:pPr>
            <a:r>
              <a:rPr lang="en-US" sz="1050" dirty="0">
                <a:solidFill>
                  <a:srgbClr val="E4E7EC"/>
                </a:solidFill>
                <a:latin typeface="Consolas" pitchFamily="34" charset="0"/>
                <a:ea typeface="Consolas" pitchFamily="34" charset="-122"/>
                <a:cs typeface="Consolas" pitchFamily="34" charset="-120"/>
              </a:rPr>
              <a:t>  let left = this.parseUnary();</a:t>
            </a:r>
            <a:endParaRPr lang="en-US" sz="1050" dirty="0"/>
          </a:p>
          <a:p>
            <a:pPr indent="0" marL="0">
              <a:lnSpc>
                <a:spcPct val="105000"/>
              </a:lnSpc>
              <a:buNone/>
            </a:pPr>
            <a:r>
              <a:rPr lang="en-US" sz="1050" dirty="0">
                <a:solidFill>
                  <a:srgbClr val="E4E7EC"/>
                </a:solidFill>
                <a:latin typeface="Consolas" pitchFamily="34" charset="0"/>
                <a:ea typeface="Consolas" pitchFamily="34" charset="-122"/>
                <a:cs typeface="Consolas" pitchFamily="34" charset="-120"/>
              </a:rPr>
              <a:t>  for (;;) {</a:t>
            </a:r>
            <a:endParaRPr lang="en-US" sz="1050" dirty="0"/>
          </a:p>
          <a:p>
            <a:pPr indent="0" marL="0">
              <a:lnSpc>
                <a:spcPct val="105000"/>
              </a:lnSpc>
              <a:buNone/>
            </a:pPr>
            <a:r>
              <a:rPr lang="en-US" sz="1050" dirty="0">
                <a:solidFill>
                  <a:srgbClr val="E4E7EC"/>
                </a:solidFill>
                <a:latin typeface="Consolas" pitchFamily="34" charset="0"/>
                <a:ea typeface="Consolas" pitchFamily="34" charset="-122"/>
                <a:cs typeface="Consolas" pitchFamily="34" charset="-120"/>
              </a:rPr>
              <a:t>    const prec = precedenceOf(this.cur);</a:t>
            </a:r>
            <a:endParaRPr lang="en-US" sz="1050" dirty="0"/>
          </a:p>
          <a:p>
            <a:pPr indent="0" marL="0">
              <a:lnSpc>
                <a:spcPct val="105000"/>
              </a:lnSpc>
              <a:buNone/>
            </a:pPr>
            <a:r>
              <a:rPr lang="en-US" sz="1050" dirty="0">
                <a:solidFill>
                  <a:srgbClr val="E4E7EC"/>
                </a:solidFill>
                <a:latin typeface="Consolas" pitchFamily="34" charset="0"/>
                <a:ea typeface="Consolas" pitchFamily="34" charset="-122"/>
                <a:cs typeface="Consolas" pitchFamily="34" charset="-120"/>
              </a:rPr>
              <a:t>    if (prec === undefined || prec &lt; minPrec)</a:t>
            </a:r>
            <a:endParaRPr lang="en-US" sz="1050" dirty="0"/>
          </a:p>
          <a:p>
            <a:pPr indent="0" marL="0">
              <a:lnSpc>
                <a:spcPct val="105000"/>
              </a:lnSpc>
              <a:buNone/>
            </a:pPr>
            <a:r>
              <a:rPr lang="en-US" sz="1050" dirty="0">
                <a:solidFill>
                  <a:srgbClr val="E4E7EC"/>
                </a:solidFill>
                <a:latin typeface="Consolas" pitchFamily="34" charset="0"/>
                <a:ea typeface="Consolas" pitchFamily="34" charset="-122"/>
                <a:cs typeface="Consolas" pitchFamily="34" charset="-120"/>
              </a:rPr>
              <a:t>      return left;</a:t>
            </a:r>
            <a:endParaRPr lang="en-US" sz="1050" dirty="0"/>
          </a:p>
          <a:p>
            <a:pPr indent="0" marL="0">
              <a:lnSpc>
                <a:spcPct val="105000"/>
              </a:lnSpc>
              <a:buNone/>
            </a:pPr>
            <a:r>
              <a:rPr lang="en-US" sz="1050" dirty="0">
                <a:solidFill>
                  <a:srgbClr val="E4E7EC"/>
                </a:solidFill>
                <a:latin typeface="Consolas" pitchFamily="34" charset="0"/>
                <a:ea typeface="Consolas" pitchFamily="34" charset="-122"/>
                <a:cs typeface="Consolas" pitchFamily="34" charset="-120"/>
              </a:rPr>
              <a:t>    const op = this.advance();</a:t>
            </a:r>
            <a:endParaRPr lang="en-US" sz="1050" dirty="0"/>
          </a:p>
          <a:p>
            <a:pPr indent="0" marL="0">
              <a:lnSpc>
                <a:spcPct val="105000"/>
              </a:lnSpc>
              <a:buNone/>
            </a:pPr>
            <a:r>
              <a:rPr lang="en-US" sz="1050" dirty="0">
                <a:solidFill>
                  <a:srgbClr val="F5B82E"/>
                </a:solidFill>
                <a:latin typeface="Consolas" pitchFamily="34" charset="0"/>
                <a:ea typeface="Consolas" pitchFamily="34" charset="-122"/>
                <a:cs typeface="Consolas" pitchFamily="34" charset="-120"/>
              </a:rPr>
              <a:t>    const right = this.parseExpr(prec + 1);</a:t>
            </a:r>
            <a:endParaRPr lang="en-US" sz="1050" dirty="0"/>
          </a:p>
          <a:p>
            <a:pPr indent="0" marL="0">
              <a:lnSpc>
                <a:spcPct val="105000"/>
              </a:lnSpc>
              <a:buNone/>
            </a:pPr>
            <a:r>
              <a:rPr lang="en-US" sz="1050" dirty="0">
                <a:solidFill>
                  <a:srgbClr val="8B93A1"/>
                </a:solidFill>
                <a:latin typeface="Consolas" pitchFamily="34" charset="0"/>
                <a:ea typeface="Consolas" pitchFamily="34" charset="-122"/>
                <a:cs typeface="Consolas" pitchFamily="34" charset="-120"/>
              </a:rPr>
              <a:t>    // node span = union of the children's spans</a:t>
            </a:r>
            <a:endParaRPr lang="en-US" sz="1050" dirty="0"/>
          </a:p>
          <a:p>
            <a:pPr indent="0" marL="0">
              <a:lnSpc>
                <a:spcPct val="105000"/>
              </a:lnSpc>
              <a:buNone/>
            </a:pPr>
            <a:r>
              <a:rPr lang="en-US" sz="1050" dirty="0">
                <a:solidFill>
                  <a:srgbClr val="E4E7EC"/>
                </a:solidFill>
                <a:latin typeface="Consolas" pitchFamily="34" charset="0"/>
                <a:ea typeface="Consolas" pitchFamily="34" charset="-122"/>
                <a:cs typeface="Consolas" pitchFamily="34" charset="-120"/>
              </a:rPr>
              <a:t>    left = binary(op, left, right);</a:t>
            </a:r>
            <a:endParaRPr lang="en-US" sz="1050" dirty="0"/>
          </a:p>
          <a:p>
            <a:pPr indent="0" marL="0">
              <a:lnSpc>
                <a:spcPct val="105000"/>
              </a:lnSpc>
              <a:buNone/>
            </a:pPr>
            <a:r>
              <a:rPr lang="en-US" sz="1050" dirty="0">
                <a:solidFill>
                  <a:srgbClr val="E4E7EC"/>
                </a:solidFill>
                <a:latin typeface="Consolas" pitchFamily="34" charset="0"/>
                <a:ea typeface="Consolas" pitchFamily="34" charset="-122"/>
                <a:cs typeface="Consolas" pitchFamily="34" charset="-120"/>
              </a:rPr>
              <a:t>  }</a:t>
            </a:r>
            <a:endParaRPr lang="en-US" sz="1050" dirty="0"/>
          </a:p>
          <a:p>
            <a:pPr indent="0" marL="0">
              <a:lnSpc>
                <a:spcPct val="105000"/>
              </a:lnSpc>
              <a:buNone/>
            </a:pPr>
            <a:r>
              <a:rPr lang="en-US" sz="1050" dirty="0">
                <a:solidFill>
                  <a:srgbClr val="E4E7EC"/>
                </a:solidFill>
                <a:latin typeface="Consolas" pitchFamily="34" charset="0"/>
                <a:ea typeface="Consolas" pitchFamily="34" charset="-122"/>
                <a:cs typeface="Consolas" pitchFamily="34" charset="-120"/>
              </a:rPr>
              <a:t>}</a:t>
            </a:r>
            <a:endParaRPr lang="en-US" sz="1050" dirty="0"/>
          </a:p>
        </p:txBody>
      </p:sp>
      <p:sp>
        <p:nvSpPr>
          <p:cNvPr id="7" name="Text 5"/>
          <p:cNvSpPr txBox="1"/>
          <p:nvPr/>
        </p:nvSpPr>
        <p:spPr>
          <a:xfrm>
            <a:off x="548640" y="4041648"/>
            <a:ext cx="4663440" cy="201168"/>
          </a:xfrm>
          <a:prstGeom prst="rect">
            <a:avLst/>
          </a:prstGeom>
          <a:noFill/>
          <a:ln/>
        </p:spPr>
        <p:txBody>
          <a:bodyPr wrap="square" lIns="0" tIns="0" rIns="0" bIns="0" rtlCol="0" anchor="t"/>
          <a:lstStyle/>
          <a:p>
            <a:pPr indent="0" marL="0">
              <a:buNone/>
            </a:pPr>
            <a:r>
              <a:rPr lang="en-US" sz="1050" i="1" dirty="0">
                <a:solidFill>
                  <a:schemeClr val="accent5"/>
                </a:solidFill>
              </a:rPr>
              <a:t>simplified from parser.js; prec + 1 makes operators left-associative</a:t>
            </a:r>
            <a:endParaRPr lang="en-US" sz="1050" dirty="0"/>
          </a:p>
        </p:txBody>
      </p:sp>
      <p:sp>
        <p:nvSpPr>
          <p:cNvPr id="8" name="Text 6"/>
          <p:cNvSpPr txBox="1"/>
          <p:nvPr/>
        </p:nvSpPr>
        <p:spPr>
          <a:xfrm>
            <a:off x="5577840" y="1417320"/>
            <a:ext cx="3017520" cy="320040"/>
          </a:xfrm>
          <a:prstGeom prst="rect">
            <a:avLst/>
          </a:prstGeom>
          <a:noFill/>
          <a:ln/>
        </p:spPr>
        <p:txBody>
          <a:bodyPr wrap="square" lIns="0" tIns="0" rIns="0" bIns="0" rtlCol="0" anchor="t"/>
          <a:lstStyle/>
          <a:p>
            <a:pPr algn="ctr" indent="0" marL="0">
              <a:buNone/>
            </a:pPr>
            <a:r>
              <a:rPr lang="en-US" sz="1600" b="1" dirty="0">
                <a:solidFill>
                  <a:schemeClr val="tx1"/>
                </a:solidFill>
                <a:latin typeface="Consolas" pitchFamily="34" charset="0"/>
                <a:ea typeface="Consolas" pitchFamily="34" charset="-122"/>
                <a:cs typeface="Consolas" pitchFamily="34" charset="-120"/>
              </a:rPr>
              <a:t>1 + 2 * 3 - 4</a:t>
            </a:r>
            <a:endParaRPr lang="en-US" sz="1600" dirty="0"/>
          </a:p>
        </p:txBody>
      </p:sp>
      <p:sp>
        <p:nvSpPr>
          <p:cNvPr id="9" name="edge"/>
          <p:cNvSpPr/>
          <p:nvPr/>
        </p:nvSpPr>
        <p:spPr>
          <a:xfrm flipH="1">
            <a:off x="6720840" y="2057400"/>
            <a:ext cx="1097280" cy="640080"/>
          </a:xfrm>
          <a:prstGeom prst="line">
            <a:avLst/>
          </a:prstGeom>
          <a:noFill/>
          <a:ln w="12700">
            <a:solidFill>
              <a:srgbClr val="4A5260"/>
            </a:solidFill>
            <a:prstDash val="solid"/>
          </a:ln>
        </p:spPr>
      </p:sp>
      <p:sp>
        <p:nvSpPr>
          <p:cNvPr id="10" name="edge"/>
          <p:cNvSpPr/>
          <p:nvPr/>
        </p:nvSpPr>
        <p:spPr>
          <a:xfrm>
            <a:off x="7818120" y="2057400"/>
            <a:ext cx="594360" cy="640080"/>
          </a:xfrm>
          <a:prstGeom prst="line">
            <a:avLst/>
          </a:prstGeom>
          <a:noFill/>
          <a:ln w="12700">
            <a:solidFill>
              <a:srgbClr val="4A5260"/>
            </a:solidFill>
            <a:prstDash val="solid"/>
          </a:ln>
        </p:spPr>
      </p:sp>
      <p:sp>
        <p:nvSpPr>
          <p:cNvPr id="11" name="edge"/>
          <p:cNvSpPr/>
          <p:nvPr/>
        </p:nvSpPr>
        <p:spPr>
          <a:xfrm flipH="1">
            <a:off x="6172200" y="2697480"/>
            <a:ext cx="548640" cy="640080"/>
          </a:xfrm>
          <a:prstGeom prst="line">
            <a:avLst/>
          </a:prstGeom>
          <a:noFill/>
          <a:ln w="12700">
            <a:solidFill>
              <a:srgbClr val="4A5260"/>
            </a:solidFill>
            <a:prstDash val="solid"/>
          </a:ln>
        </p:spPr>
      </p:sp>
      <p:sp>
        <p:nvSpPr>
          <p:cNvPr id="12" name="edge"/>
          <p:cNvSpPr/>
          <p:nvPr/>
        </p:nvSpPr>
        <p:spPr>
          <a:xfrm>
            <a:off x="6720840" y="2697480"/>
            <a:ext cx="548640" cy="640080"/>
          </a:xfrm>
          <a:prstGeom prst="line">
            <a:avLst/>
          </a:prstGeom>
          <a:noFill/>
          <a:ln w="12700">
            <a:solidFill>
              <a:srgbClr val="4A5260"/>
            </a:solidFill>
            <a:prstDash val="solid"/>
          </a:ln>
        </p:spPr>
      </p:sp>
      <p:sp>
        <p:nvSpPr>
          <p:cNvPr id="13" name="edge"/>
          <p:cNvSpPr/>
          <p:nvPr/>
        </p:nvSpPr>
        <p:spPr>
          <a:xfrm flipH="1">
            <a:off x="6949440" y="3337560"/>
            <a:ext cx="320040" cy="594360"/>
          </a:xfrm>
          <a:prstGeom prst="line">
            <a:avLst/>
          </a:prstGeom>
          <a:noFill/>
          <a:ln w="12700">
            <a:solidFill>
              <a:srgbClr val="4A5260"/>
            </a:solidFill>
            <a:prstDash val="solid"/>
          </a:ln>
        </p:spPr>
      </p:sp>
      <p:sp>
        <p:nvSpPr>
          <p:cNvPr id="14" name="edge"/>
          <p:cNvSpPr/>
          <p:nvPr/>
        </p:nvSpPr>
        <p:spPr>
          <a:xfrm>
            <a:off x="7269480" y="3337560"/>
            <a:ext cx="320040" cy="594360"/>
          </a:xfrm>
          <a:prstGeom prst="line">
            <a:avLst/>
          </a:prstGeom>
          <a:noFill/>
          <a:ln w="12700">
            <a:solidFill>
              <a:srgbClr val="4A5260"/>
            </a:solidFill>
            <a:prstDash val="solid"/>
          </a:ln>
        </p:spPr>
      </p:sp>
      <p:sp>
        <p:nvSpPr>
          <p:cNvPr id="15" name="node"/>
          <p:cNvSpPr/>
          <p:nvPr/>
        </p:nvSpPr>
        <p:spPr>
          <a:xfrm>
            <a:off x="7626096" y="1865376"/>
            <a:ext cx="384048" cy="384048"/>
          </a:xfrm>
          <a:prstGeom prst="ellipse">
            <a:avLst/>
          </a:prstGeom>
          <a:solidFill>
            <a:schemeClr val="tx1"/>
          </a:solidFill>
          <a:ln w="12700">
            <a:solidFill>
              <a:srgbClr val="15181D"/>
            </a:solidFill>
            <a:prstDash val="solid"/>
          </a:ln>
        </p:spPr>
      </p:sp>
      <p:sp>
        <p:nvSpPr>
          <p:cNvPr id="16" name="Text 14"/>
          <p:cNvSpPr txBox="1"/>
          <p:nvPr/>
        </p:nvSpPr>
        <p:spPr>
          <a:xfrm>
            <a:off x="7626096" y="1865376"/>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latin typeface="Consolas" pitchFamily="34" charset="0"/>
                <a:ea typeface="Consolas" pitchFamily="34" charset="-122"/>
                <a:cs typeface="Consolas" pitchFamily="34" charset="-120"/>
              </a:rPr>
              <a:t>-</a:t>
            </a:r>
            <a:endParaRPr lang="en-US" sz="1500" dirty="0"/>
          </a:p>
        </p:txBody>
      </p:sp>
      <p:sp>
        <p:nvSpPr>
          <p:cNvPr id="17" name="node"/>
          <p:cNvSpPr/>
          <p:nvPr/>
        </p:nvSpPr>
        <p:spPr>
          <a:xfrm>
            <a:off x="6528816" y="2505456"/>
            <a:ext cx="384048" cy="384048"/>
          </a:xfrm>
          <a:prstGeom prst="ellipse">
            <a:avLst/>
          </a:prstGeom>
          <a:solidFill>
            <a:schemeClr val="tx1"/>
          </a:solidFill>
          <a:ln w="12700">
            <a:solidFill>
              <a:srgbClr val="15181D"/>
            </a:solidFill>
            <a:prstDash val="solid"/>
          </a:ln>
        </p:spPr>
      </p:sp>
      <p:sp>
        <p:nvSpPr>
          <p:cNvPr id="18" name="Text 16"/>
          <p:cNvSpPr txBox="1"/>
          <p:nvPr/>
        </p:nvSpPr>
        <p:spPr>
          <a:xfrm>
            <a:off x="6528816" y="2505456"/>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latin typeface="Consolas" pitchFamily="34" charset="0"/>
                <a:ea typeface="Consolas" pitchFamily="34" charset="-122"/>
                <a:cs typeface="Consolas" pitchFamily="34" charset="-120"/>
              </a:rPr>
              <a:t>+</a:t>
            </a:r>
            <a:endParaRPr lang="en-US" sz="1500" dirty="0"/>
          </a:p>
        </p:txBody>
      </p:sp>
      <p:sp>
        <p:nvSpPr>
          <p:cNvPr id="19" name="node"/>
          <p:cNvSpPr/>
          <p:nvPr/>
        </p:nvSpPr>
        <p:spPr>
          <a:xfrm>
            <a:off x="8220456" y="2505456"/>
            <a:ext cx="384048" cy="384048"/>
          </a:xfrm>
          <a:prstGeom prst="ellipse">
            <a:avLst/>
          </a:prstGeom>
          <a:solidFill>
            <a:schemeClr val="bg1"/>
          </a:solidFill>
          <a:ln w="12700">
            <a:solidFill>
              <a:srgbClr val="15181D"/>
            </a:solidFill>
            <a:prstDash val="solid"/>
          </a:ln>
        </p:spPr>
      </p:sp>
      <p:sp>
        <p:nvSpPr>
          <p:cNvPr id="20" name="Text 18"/>
          <p:cNvSpPr txBox="1"/>
          <p:nvPr/>
        </p:nvSpPr>
        <p:spPr>
          <a:xfrm>
            <a:off x="8220456" y="2505456"/>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latin typeface="Consolas" pitchFamily="34" charset="0"/>
                <a:ea typeface="Consolas" pitchFamily="34" charset="-122"/>
                <a:cs typeface="Consolas" pitchFamily="34" charset="-120"/>
              </a:rPr>
              <a:t>4</a:t>
            </a:r>
            <a:endParaRPr lang="en-US" sz="1500" dirty="0"/>
          </a:p>
        </p:txBody>
      </p:sp>
      <p:sp>
        <p:nvSpPr>
          <p:cNvPr id="21" name="node"/>
          <p:cNvSpPr/>
          <p:nvPr/>
        </p:nvSpPr>
        <p:spPr>
          <a:xfrm>
            <a:off x="5980176" y="3145536"/>
            <a:ext cx="384048" cy="384048"/>
          </a:xfrm>
          <a:prstGeom prst="ellipse">
            <a:avLst/>
          </a:prstGeom>
          <a:solidFill>
            <a:schemeClr val="bg1"/>
          </a:solidFill>
          <a:ln w="12700">
            <a:solidFill>
              <a:srgbClr val="15181D"/>
            </a:solidFill>
            <a:prstDash val="solid"/>
          </a:ln>
        </p:spPr>
      </p:sp>
      <p:sp>
        <p:nvSpPr>
          <p:cNvPr id="22" name="Text 20"/>
          <p:cNvSpPr txBox="1"/>
          <p:nvPr/>
        </p:nvSpPr>
        <p:spPr>
          <a:xfrm>
            <a:off x="5980176" y="3145536"/>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latin typeface="Consolas" pitchFamily="34" charset="0"/>
                <a:ea typeface="Consolas" pitchFamily="34" charset="-122"/>
                <a:cs typeface="Consolas" pitchFamily="34" charset="-120"/>
              </a:rPr>
              <a:t>1</a:t>
            </a:r>
            <a:endParaRPr lang="en-US" sz="1500" dirty="0"/>
          </a:p>
        </p:txBody>
      </p:sp>
      <p:sp>
        <p:nvSpPr>
          <p:cNvPr id="23" name="node"/>
          <p:cNvSpPr/>
          <p:nvPr/>
        </p:nvSpPr>
        <p:spPr>
          <a:xfrm>
            <a:off x="7077456" y="3145536"/>
            <a:ext cx="384048" cy="384048"/>
          </a:xfrm>
          <a:prstGeom prst="ellipse">
            <a:avLst/>
          </a:prstGeom>
          <a:solidFill>
            <a:schemeClr val="tx1"/>
          </a:solidFill>
          <a:ln w="12700">
            <a:solidFill>
              <a:srgbClr val="15181D"/>
            </a:solidFill>
            <a:prstDash val="solid"/>
          </a:ln>
        </p:spPr>
      </p:sp>
      <p:sp>
        <p:nvSpPr>
          <p:cNvPr id="24" name="Text 22"/>
          <p:cNvSpPr txBox="1"/>
          <p:nvPr/>
        </p:nvSpPr>
        <p:spPr>
          <a:xfrm>
            <a:off x="7077456" y="3145536"/>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latin typeface="Consolas" pitchFamily="34" charset="0"/>
                <a:ea typeface="Consolas" pitchFamily="34" charset="-122"/>
                <a:cs typeface="Consolas" pitchFamily="34" charset="-120"/>
              </a:rPr>
              <a:t>*</a:t>
            </a:r>
            <a:endParaRPr lang="en-US" sz="1500" dirty="0"/>
          </a:p>
        </p:txBody>
      </p:sp>
      <p:sp>
        <p:nvSpPr>
          <p:cNvPr id="25" name="node"/>
          <p:cNvSpPr/>
          <p:nvPr/>
        </p:nvSpPr>
        <p:spPr>
          <a:xfrm>
            <a:off x="6757416" y="3739896"/>
            <a:ext cx="384048" cy="384048"/>
          </a:xfrm>
          <a:prstGeom prst="ellipse">
            <a:avLst/>
          </a:prstGeom>
          <a:solidFill>
            <a:schemeClr val="bg1"/>
          </a:solidFill>
          <a:ln w="12700">
            <a:solidFill>
              <a:srgbClr val="15181D"/>
            </a:solidFill>
            <a:prstDash val="solid"/>
          </a:ln>
        </p:spPr>
      </p:sp>
      <p:sp>
        <p:nvSpPr>
          <p:cNvPr id="26" name="Text 24"/>
          <p:cNvSpPr txBox="1"/>
          <p:nvPr/>
        </p:nvSpPr>
        <p:spPr>
          <a:xfrm>
            <a:off x="6757416" y="3739896"/>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latin typeface="Consolas" pitchFamily="34" charset="0"/>
                <a:ea typeface="Consolas" pitchFamily="34" charset="-122"/>
                <a:cs typeface="Consolas" pitchFamily="34" charset="-120"/>
              </a:rPr>
              <a:t>2</a:t>
            </a:r>
            <a:endParaRPr lang="en-US" sz="1500" dirty="0"/>
          </a:p>
        </p:txBody>
      </p:sp>
      <p:sp>
        <p:nvSpPr>
          <p:cNvPr id="27" name="node"/>
          <p:cNvSpPr/>
          <p:nvPr/>
        </p:nvSpPr>
        <p:spPr>
          <a:xfrm>
            <a:off x="7397496" y="3739896"/>
            <a:ext cx="384048" cy="384048"/>
          </a:xfrm>
          <a:prstGeom prst="ellipse">
            <a:avLst/>
          </a:prstGeom>
          <a:solidFill>
            <a:schemeClr val="bg1"/>
          </a:solidFill>
          <a:ln w="12700">
            <a:solidFill>
              <a:srgbClr val="15181D"/>
            </a:solidFill>
            <a:prstDash val="solid"/>
          </a:ln>
        </p:spPr>
      </p:sp>
      <p:sp>
        <p:nvSpPr>
          <p:cNvPr id="28" name="Text 26"/>
          <p:cNvSpPr txBox="1"/>
          <p:nvPr/>
        </p:nvSpPr>
        <p:spPr>
          <a:xfrm>
            <a:off x="7397496" y="3739896"/>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latin typeface="Consolas" pitchFamily="34" charset="0"/>
                <a:ea typeface="Consolas" pitchFamily="34" charset="-122"/>
                <a:cs typeface="Consolas" pitchFamily="34" charset="-120"/>
              </a:rPr>
              <a:t>3</a:t>
            </a:r>
            <a:endParaRPr lang="en-US" sz="1500" dirty="0"/>
          </a:p>
        </p:txBody>
      </p:sp>
      <p:sp>
        <p:nvSpPr>
          <p:cNvPr id="29" name="Text 27"/>
          <p:cNvSpPr txBox="1"/>
          <p:nvPr/>
        </p:nvSpPr>
        <p:spPr>
          <a:xfrm>
            <a:off x="548640" y="4343400"/>
            <a:ext cx="8046720" cy="228600"/>
          </a:xfrm>
          <a:prstGeom prst="rect">
            <a:avLst/>
          </a:prstGeom>
          <a:noFill/>
          <a:ln/>
        </p:spPr>
        <p:txBody>
          <a:bodyPr wrap="square" lIns="0" tIns="0" rIns="0" bIns="0" rtlCol="0" anchor="t"/>
          <a:lstStyle/>
          <a:p>
            <a:pPr indent="0" marL="0">
              <a:buNone/>
            </a:pPr>
            <a:r>
              <a:rPr lang="en-US" sz="1250" dirty="0">
                <a:solidFill>
                  <a:schemeClr val="tx1"/>
                </a:solidFill>
              </a:rPr>
              <a:t>21 node kinds  ·  every node carries a span  ·  span invariant checked on all 4 benchmarks</a:t>
            </a:r>
            <a:endParaRPr lang="en-US" sz="1250" dirty="0"/>
          </a:p>
        </p:txBody>
      </p:sp>
      <p:sp>
        <p:nvSpPr>
          <p:cNvPr id="25" name="Slide Number Placeholder 0"/>
          <p:cNvSpPr>
            <a:spLocks noGrp="1"/>
          </p:cNvSpPr>
          <p:nvPr>
            <p:ph type="sldNum" sz="quarter" idx="4294967295"/>
          </p:nvPr>
        </p:nvSpPr>
        <p:spPr>
          <a:xfrm>
            <a:off x="8138160" y="25603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9AA1AC"/>
                </a:solidFill>
                <a:latin typeface="Consolas"/>
                <a:ea typeface="Consolas"/>
                <a:cs typeface="Consolas"/>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5486400" cy="228600"/>
          </a:xfrm>
          <a:prstGeom prst="rect">
            <a:avLst/>
          </a:prstGeom>
          <a:noFill/>
          <a:ln/>
        </p:spPr>
        <p:txBody>
          <a:bodyPr wrap="square" lIns="0" tIns="0" rIns="0" bIns="0" rtlCol="0"/>
          <a:lstStyle/>
          <a:p>
            <a:pPr indent="0" marL="0">
              <a:buNone/>
            </a:pPr>
            <a:r>
              <a:rPr lang="en-US" sz="1000" dirty="0">
                <a:solidFill>
                  <a:schemeClr val="accent5"/>
                </a:solidFill>
                <a:latin typeface="Consolas" pitchFamily="34" charset="0"/>
                <a:ea typeface="Consolas" pitchFamily="34" charset="-122"/>
                <a:cs typeface="Consolas" pitchFamily="34" charset="-120"/>
              </a:rPr>
              <a:t>tether / 04-errors</a:t>
            </a:r>
            <a:endParaRPr lang="en-US" sz="1000" dirty="0"/>
          </a:p>
        </p:txBody>
      </p:sp>
      <p:sp>
        <p:nvSpPr>
          <p:cNvPr id="3" name="Text 0"/>
          <p:cNvSpPr/>
          <p:nvPr>
            <p:ph idx="101" type="title" hasCustomPrompt="1"/>
          </p:nvPr>
        </p:nvSpPr>
        <p:spPr>
          <a:xfrm>
            <a:off x="548640" y="502920"/>
            <a:ext cx="8046720" cy="640080"/>
          </a:xfrm>
          <a:prstGeom prst="rect">
            <a:avLst/>
          </a:prstGeom>
          <a:noFill/>
          <a:ln/>
        </p:spPr>
        <p:txBody>
          <a:bodyPr wrap="square" lIns="0" tIns="0" rIns="0" bIns="0" rtlCol="0" anchor="t"/>
          <a:lstStyle/>
          <a:p>
            <a:pPr algn="l" indent="0" marL="0">
              <a:buNone/>
            </a:pPr>
            <a:r>
              <a:rPr lang="en-US" sz="2800" b="1" dirty="0">
                <a:solidFill>
                  <a:schemeClr val="tx1"/>
                </a:solidFill>
              </a:rPr>
              <a:t>Seven syntax errors, one run</a:t>
            </a:r>
            <a:endParaRPr lang="en-US" sz="2800" dirty="0"/>
          </a:p>
        </p:txBody>
      </p:sp>
      <p:sp>
        <p:nvSpPr>
          <p:cNvPr id="4" name="code"/>
          <p:cNvSpPr/>
          <p:nvPr/>
        </p:nvSpPr>
        <p:spPr>
          <a:xfrm>
            <a:off x="548640" y="1280160"/>
            <a:ext cx="8046720" cy="2377440"/>
          </a:xfrm>
          <a:prstGeom prst="rect">
            <a:avLst/>
          </a:prstGeom>
          <a:solidFill>
            <a:schemeClr val="tx1"/>
          </a:solidFill>
          <a:ln/>
        </p:spPr>
      </p:sp>
      <p:sp>
        <p:nvSpPr>
          <p:cNvPr id="5" name="Text 3"/>
          <p:cNvSpPr txBox="1"/>
          <p:nvPr/>
        </p:nvSpPr>
        <p:spPr>
          <a:xfrm>
            <a:off x="731520" y="1426464"/>
            <a:ext cx="7680960" cy="2084832"/>
          </a:xfrm>
          <a:prstGeom prst="rect">
            <a:avLst/>
          </a:prstGeom>
          <a:noFill/>
          <a:ln/>
        </p:spPr>
        <p:txBody>
          <a:bodyPr wrap="square" lIns="0" tIns="0" rIns="0" bIns="0" rtlCol="0" anchor="t"/>
          <a:lstStyle/>
          <a:p>
            <a:pPr indent="0" marL="0">
              <a:lnSpc>
                <a:spcPct val="105000"/>
              </a:lnSpc>
              <a:buNone/>
            </a:pPr>
            <a:r>
              <a:rPr lang="en-US" sz="1050" dirty="0">
                <a:solidFill>
                  <a:srgbClr val="8B93A1"/>
                </a:solidFill>
                <a:latin typeface="Consolas" pitchFamily="34" charset="0"/>
                <a:ea typeface="Consolas" pitchFamily="34" charset="-122"/>
                <a:cs typeface="Consolas" pitchFamily="34" charset="-120"/>
              </a:rPr>
              <a:t>$ node bin/tether.js build test/fixtures/syntax-errors.tth</a:t>
            </a:r>
            <a:endParaRPr lang="en-US" sz="1050" dirty="0"/>
          </a:p>
          <a:p>
            <a:pPr indent="0" marL="0">
              <a:lnSpc>
                <a:spcPct val="105000"/>
              </a:lnSpc>
              <a:buNone/>
            </a:pPr>
            <a:r>
              <a:rPr lang="en-US" sz="1050" dirty="0">
                <a:solidFill>
                  <a:srgbClr val="E4E7EC"/>
                </a:solidFill>
                <a:latin typeface="Consolas" pitchFamily="34" charset="0"/>
                <a:ea typeface="Consolas" pitchFamily="34" charset="-122"/>
                <a:cs typeface="Consolas" pitchFamily="34" charset="-120"/>
              </a:rPr>
              <a:t>test/fixtures/syntax-errors.tth:4:18: </a:t>
            </a:r>
            <a:pPr indent="0" marL="0">
              <a:lnSpc>
                <a:spcPct val="105000"/>
              </a:lnSpc>
              <a:buNone/>
            </a:pPr>
            <a:r>
              <a:rPr lang="en-US" sz="1050" dirty="0">
                <a:solidFill>
                  <a:srgbClr val="FF8A80"/>
                </a:solidFill>
                <a:latin typeface="Consolas" pitchFamily="34" charset="0"/>
                <a:ea typeface="Consolas" pitchFamily="34" charset="-122"/>
                <a:cs typeface="Consolas" pitchFamily="34" charset="-120"/>
              </a:rPr>
              <a:t>error:</a:t>
            </a:r>
            <a:pPr indent="0" marL="0">
              <a:lnSpc>
                <a:spcPct val="105000"/>
              </a:lnSpc>
              <a:buNone/>
            </a:pPr>
            <a:r>
              <a:rPr lang="en-US" sz="1050" dirty="0">
                <a:solidFill>
                  <a:srgbClr val="E4E7EC"/>
                </a:solidFill>
                <a:latin typeface="Consolas" pitchFamily="34" charset="0"/>
                <a:ea typeface="Consolas" pitchFamily="34" charset="-122"/>
                <a:cs typeface="Consolas" pitchFamily="34" charset="-120"/>
              </a:rPr>
              <a:t> expected ':' after parameter 'b', found keyword 'int'</a:t>
            </a:r>
            <a:endParaRPr lang="en-US" sz="1050" dirty="0"/>
          </a:p>
          <a:p>
            <a:pPr indent="0" marL="0">
              <a:lnSpc>
                <a:spcPct val="105000"/>
              </a:lnSpc>
              <a:buNone/>
            </a:pPr>
            <a:r>
              <a:rPr lang="en-US" sz="1050" dirty="0">
                <a:solidFill>
                  <a:srgbClr val="E4E7EC"/>
                </a:solidFill>
                <a:latin typeface="Consolas" pitchFamily="34" charset="0"/>
                <a:ea typeface="Consolas" pitchFamily="34" charset="-122"/>
                <a:cs typeface="Consolas" pitchFamily="34" charset="-120"/>
              </a:rPr>
              <a:t>  4 | fn add(a: int, b int): int {</a:t>
            </a:r>
            <a:endParaRPr lang="en-US" sz="1050" dirty="0"/>
          </a:p>
          <a:p>
            <a:pPr indent="0" marL="0">
              <a:lnSpc>
                <a:spcPct val="105000"/>
              </a:lnSpc>
              <a:buNone/>
            </a:pPr>
            <a:r>
              <a:rPr lang="en-US" sz="1050" dirty="0">
                <a:solidFill>
                  <a:srgbClr val="E4E7EC"/>
                </a:solidFill>
                <a:latin typeface="Consolas" pitchFamily="34" charset="0"/>
                <a:ea typeface="Consolas" pitchFamily="34" charset="-122"/>
                <a:cs typeface="Consolas" pitchFamily="34" charset="-120"/>
              </a:rPr>
              <a:t>    |                  </a:t>
            </a:r>
            <a:pPr indent="0" marL="0">
              <a:lnSpc>
                <a:spcPct val="105000"/>
              </a:lnSpc>
              <a:buNone/>
            </a:pPr>
            <a:r>
              <a:rPr lang="en-US" sz="1050" dirty="0">
                <a:solidFill>
                  <a:srgbClr val="F5B82E"/>
                </a:solidFill>
                <a:latin typeface="Consolas" pitchFamily="34" charset="0"/>
                <a:ea typeface="Consolas" pitchFamily="34" charset="-122"/>
                <a:cs typeface="Consolas" pitchFamily="34" charset="-120"/>
              </a:rPr>
              <a:t>^^^</a:t>
            </a:r>
            <a:endParaRPr lang="en-US" sz="1050" dirty="0"/>
          </a:p>
          <a:p>
            <a:pPr indent="0" marL="0">
              <a:lnSpc>
                <a:spcPct val="105000"/>
              </a:lnSpc>
              <a:buNone/>
            </a:pPr>
            <a:r>
              <a:rPr lang="en-US" sz="1050" dirty="0">
                <a:solidFill>
                  <a:srgbClr val="E4E7EC"/>
                </a:solidFill>
                <a:latin typeface="Consolas" pitchFamily="34" charset="0"/>
                <a:ea typeface="Consolas" pitchFamily="34" charset="-122"/>
                <a:cs typeface="Consolas" pitchFamily="34" charset="-120"/>
              </a:rPr>
              <a:t>test/fixtures/syntax-errors.tth:8:13: </a:t>
            </a:r>
            <a:pPr indent="0" marL="0">
              <a:lnSpc>
                <a:spcPct val="105000"/>
              </a:lnSpc>
              <a:buNone/>
            </a:pPr>
            <a:r>
              <a:rPr lang="en-US" sz="1050" dirty="0">
                <a:solidFill>
                  <a:srgbClr val="FF8A80"/>
                </a:solidFill>
                <a:latin typeface="Consolas" pitchFamily="34" charset="0"/>
                <a:ea typeface="Consolas" pitchFamily="34" charset="-122"/>
                <a:cs typeface="Consolas" pitchFamily="34" charset="-120"/>
              </a:rPr>
              <a:t>error:</a:t>
            </a:r>
            <a:pPr indent="0" marL="0">
              <a:lnSpc>
                <a:spcPct val="105000"/>
              </a:lnSpc>
              <a:buNone/>
            </a:pPr>
            <a:r>
              <a:rPr lang="en-US" sz="1050" dirty="0">
                <a:solidFill>
                  <a:srgbClr val="E4E7EC"/>
                </a:solidFill>
                <a:latin typeface="Consolas" pitchFamily="34" charset="0"/>
                <a:ea typeface="Consolas" pitchFamily="34" charset="-122"/>
                <a:cs typeface="Consolas" pitchFamily="34" charset="-120"/>
              </a:rPr>
              <a:t> expected an expression, found ';'</a:t>
            </a:r>
            <a:endParaRPr lang="en-US" sz="1050" dirty="0"/>
          </a:p>
          <a:p>
            <a:pPr indent="0" marL="0">
              <a:lnSpc>
                <a:spcPct val="105000"/>
              </a:lnSpc>
              <a:buNone/>
            </a:pPr>
            <a:r>
              <a:rPr lang="en-US" sz="1050" dirty="0">
                <a:solidFill>
                  <a:srgbClr val="E4E7EC"/>
                </a:solidFill>
                <a:latin typeface="Consolas" pitchFamily="34" charset="0"/>
                <a:ea typeface="Consolas" pitchFamily="34" charset="-122"/>
                <a:cs typeface="Consolas" pitchFamily="34" charset="-120"/>
              </a:rPr>
              <a:t>  8 | let x = 1 + ;</a:t>
            </a:r>
            <a:endParaRPr lang="en-US" sz="1050" dirty="0"/>
          </a:p>
          <a:p>
            <a:pPr indent="0" marL="0">
              <a:lnSpc>
                <a:spcPct val="105000"/>
              </a:lnSpc>
              <a:buNone/>
            </a:pPr>
            <a:r>
              <a:rPr lang="en-US" sz="1050" dirty="0">
                <a:solidFill>
                  <a:srgbClr val="E4E7EC"/>
                </a:solidFill>
                <a:latin typeface="Consolas" pitchFamily="34" charset="0"/>
                <a:ea typeface="Consolas" pitchFamily="34" charset="-122"/>
                <a:cs typeface="Consolas" pitchFamily="34" charset="-120"/>
              </a:rPr>
              <a:t>    |             </a:t>
            </a:r>
            <a:pPr indent="0" marL="0">
              <a:lnSpc>
                <a:spcPct val="105000"/>
              </a:lnSpc>
              <a:buNone/>
            </a:pPr>
            <a:r>
              <a:rPr lang="en-US" sz="1050" dirty="0">
                <a:solidFill>
                  <a:srgbClr val="F5B82E"/>
                </a:solidFill>
                <a:latin typeface="Consolas" pitchFamily="34" charset="0"/>
                <a:ea typeface="Consolas" pitchFamily="34" charset="-122"/>
                <a:cs typeface="Consolas" pitchFamily="34" charset="-120"/>
              </a:rPr>
              <a:t>^</a:t>
            </a:r>
            <a:endParaRPr lang="en-US" sz="1050" dirty="0"/>
          </a:p>
          <a:p>
            <a:pPr indent="0" marL="0">
              <a:lnSpc>
                <a:spcPct val="105000"/>
              </a:lnSpc>
              <a:buNone/>
            </a:pPr>
            <a:r>
              <a:rPr lang="en-US" sz="1050" dirty="0">
                <a:solidFill>
                  <a:srgbClr val="E4E7EC"/>
                </a:solidFill>
                <a:latin typeface="Consolas" pitchFamily="34" charset="0"/>
                <a:ea typeface="Consolas" pitchFamily="34" charset="-122"/>
                <a:cs typeface="Consolas" pitchFamily="34" charset="-120"/>
              </a:rPr>
              <a:t>test/fixtures/syntax-errors.tth:9:9: </a:t>
            </a:r>
            <a:pPr indent="0" marL="0">
              <a:lnSpc>
                <a:spcPct val="105000"/>
              </a:lnSpc>
              <a:buNone/>
            </a:pPr>
            <a:r>
              <a:rPr lang="en-US" sz="1050" dirty="0">
                <a:solidFill>
                  <a:srgbClr val="FF8A80"/>
                </a:solidFill>
                <a:latin typeface="Consolas" pitchFamily="34" charset="0"/>
                <a:ea typeface="Consolas" pitchFamily="34" charset="-122"/>
                <a:cs typeface="Consolas" pitchFamily="34" charset="-120"/>
              </a:rPr>
              <a:t>error:</a:t>
            </a:r>
            <a:pPr indent="0" marL="0">
              <a:lnSpc>
                <a:spcPct val="105000"/>
              </a:lnSpc>
              <a:buNone/>
            </a:pPr>
            <a:r>
              <a:rPr lang="en-US" sz="1050" dirty="0">
                <a:solidFill>
                  <a:srgbClr val="E4E7EC"/>
                </a:solidFill>
                <a:latin typeface="Consolas" pitchFamily="34" charset="0"/>
                <a:ea typeface="Consolas" pitchFamily="34" charset="-122"/>
                <a:cs typeface="Consolas" pitchFamily="34" charset="-120"/>
              </a:rPr>
              <a:t> expected ';' after print statement, found keyword 'let'</a:t>
            </a:r>
            <a:endParaRPr lang="en-US" sz="1050" dirty="0"/>
          </a:p>
          <a:p>
            <a:pPr indent="0" marL="0">
              <a:lnSpc>
                <a:spcPct val="105000"/>
              </a:lnSpc>
              <a:buNone/>
            </a:pPr>
            <a:r>
              <a:rPr lang="en-US" sz="1050" dirty="0">
                <a:solidFill>
                  <a:srgbClr val="E4E7EC"/>
                </a:solidFill>
                <a:latin typeface="Consolas" pitchFamily="34" charset="0"/>
                <a:ea typeface="Consolas" pitchFamily="34" charset="-122"/>
                <a:cs typeface="Consolas" pitchFamily="34" charset="-120"/>
              </a:rPr>
              <a:t>  9 | print(x)</a:t>
            </a:r>
            <a:endParaRPr lang="en-US" sz="1050" dirty="0"/>
          </a:p>
          <a:p>
            <a:pPr indent="0" marL="0">
              <a:lnSpc>
                <a:spcPct val="105000"/>
              </a:lnSpc>
              <a:buNone/>
            </a:pPr>
            <a:r>
              <a:rPr lang="en-US" sz="1050" dirty="0">
                <a:solidFill>
                  <a:srgbClr val="E4E7EC"/>
                </a:solidFill>
                <a:latin typeface="Consolas" pitchFamily="34" charset="0"/>
                <a:ea typeface="Consolas" pitchFamily="34" charset="-122"/>
                <a:cs typeface="Consolas" pitchFamily="34" charset="-120"/>
              </a:rPr>
              <a:t>    |         </a:t>
            </a:r>
            <a:pPr indent="0" marL="0">
              <a:lnSpc>
                <a:spcPct val="105000"/>
              </a:lnSpc>
              <a:buNone/>
            </a:pPr>
            <a:r>
              <a:rPr lang="en-US" sz="1050" dirty="0">
                <a:solidFill>
                  <a:srgbClr val="F5B82E"/>
                </a:solidFill>
                <a:latin typeface="Consolas" pitchFamily="34" charset="0"/>
                <a:ea typeface="Consolas" pitchFamily="34" charset="-122"/>
                <a:cs typeface="Consolas" pitchFamily="34" charset="-120"/>
              </a:rPr>
              <a:t>^</a:t>
            </a:r>
            <a:endParaRPr lang="en-US" sz="1050" dirty="0"/>
          </a:p>
          <a:p>
            <a:pPr indent="0" marL="0">
              <a:lnSpc>
                <a:spcPct val="105000"/>
              </a:lnSpc>
              <a:buNone/>
            </a:pPr>
            <a:r>
              <a:rPr lang="en-US" sz="1050" dirty="0">
                <a:solidFill>
                  <a:srgbClr val="8B93A1"/>
                </a:solidFill>
                <a:latin typeface="Consolas" pitchFamily="34" charset="0"/>
                <a:ea typeface="Consolas" pitchFamily="34" charset="-122"/>
                <a:cs typeface="Consolas" pitchFamily="34" charset="-120"/>
              </a:rPr>
              <a:t>… 4 more</a:t>
            </a:r>
            <a:endParaRPr lang="en-US" sz="1050" dirty="0"/>
          </a:p>
          <a:p>
            <a:pPr indent="0" marL="0">
              <a:lnSpc>
                <a:spcPct val="105000"/>
              </a:lnSpc>
              <a:buNone/>
            </a:pPr>
            <a:r>
              <a:rPr lang="en-US" sz="1050" dirty="0">
                <a:solidFill>
                  <a:srgbClr val="FF8A80"/>
                </a:solidFill>
                <a:latin typeface="Consolas" pitchFamily="34" charset="0"/>
                <a:ea typeface="Consolas" pitchFamily="34" charset="-122"/>
                <a:cs typeface="Consolas" pitchFamily="34" charset="-120"/>
              </a:rPr>
              <a:t>7 errors; no output written</a:t>
            </a:r>
            <a:endParaRPr lang="en-US" sz="1050" dirty="0"/>
          </a:p>
        </p:txBody>
      </p:sp>
      <p:sp>
        <p:nvSpPr>
          <p:cNvPr id="6" name="Text 4"/>
          <p:cNvSpPr txBox="1"/>
          <p:nvPr/>
        </p:nvSpPr>
        <p:spPr>
          <a:xfrm>
            <a:off x="548640" y="3886200"/>
            <a:ext cx="2560320" cy="228600"/>
          </a:xfrm>
          <a:prstGeom prst="rect">
            <a:avLst/>
          </a:prstGeom>
          <a:noFill/>
          <a:ln/>
        </p:spPr>
        <p:txBody>
          <a:bodyPr wrap="square" lIns="0" tIns="0" rIns="0" bIns="0" rtlCol="0" anchor="t"/>
          <a:lstStyle/>
          <a:p>
            <a:pPr indent="0" marL="0">
              <a:buNone/>
            </a:pPr>
            <a:r>
              <a:rPr lang="en-US" sz="1400" b="1" dirty="0">
                <a:solidFill>
                  <a:schemeClr val="tx1"/>
                </a:solidFill>
              </a:rPr>
              <a:t>Panic-mode recovery</a:t>
            </a:r>
            <a:endParaRPr lang="en-US" sz="1400" dirty="0"/>
          </a:p>
        </p:txBody>
      </p:sp>
      <p:sp>
        <p:nvSpPr>
          <p:cNvPr id="7" name="Text 5"/>
          <p:cNvSpPr txBox="1"/>
          <p:nvPr/>
        </p:nvSpPr>
        <p:spPr>
          <a:xfrm>
            <a:off x="548640" y="4142232"/>
            <a:ext cx="2560320" cy="365760"/>
          </a:xfrm>
          <a:prstGeom prst="rect">
            <a:avLst/>
          </a:prstGeom>
          <a:noFill/>
          <a:ln/>
        </p:spPr>
        <p:txBody>
          <a:bodyPr wrap="square" lIns="0" tIns="0" rIns="0" bIns="0" rtlCol="0" anchor="t"/>
          <a:lstStyle/>
          <a:p>
            <a:pPr indent="0" marL="0">
              <a:buNone/>
            </a:pPr>
            <a:r>
              <a:rPr lang="en-US" sz="1200" dirty="0">
                <a:solidFill>
                  <a:schemeClr val="tx2"/>
                </a:solidFill>
              </a:rPr>
              <a:t>skip to the next statement and keep going, up to 20 errors</a:t>
            </a:r>
            <a:endParaRPr lang="en-US" sz="1200" dirty="0"/>
          </a:p>
        </p:txBody>
      </p:sp>
      <p:sp>
        <p:nvSpPr>
          <p:cNvPr id="8" name="Text 6"/>
          <p:cNvSpPr txBox="1"/>
          <p:nvPr/>
        </p:nvSpPr>
        <p:spPr>
          <a:xfrm>
            <a:off x="3291840" y="3886200"/>
            <a:ext cx="2560320" cy="228600"/>
          </a:xfrm>
          <a:prstGeom prst="rect">
            <a:avLst/>
          </a:prstGeom>
          <a:noFill/>
          <a:ln/>
        </p:spPr>
        <p:txBody>
          <a:bodyPr wrap="square" lIns="0" tIns="0" rIns="0" bIns="0" rtlCol="0" anchor="t"/>
          <a:lstStyle/>
          <a:p>
            <a:pPr indent="0" marL="0">
              <a:buNone/>
            </a:pPr>
            <a:r>
              <a:rPr lang="en-US" sz="1400" b="1" dirty="0">
                <a:solidFill>
                  <a:schemeClr val="tx1"/>
                </a:solidFill>
              </a:rPr>
              <a:t>No cascades</a:t>
            </a:r>
            <a:endParaRPr lang="en-US" sz="1400" dirty="0"/>
          </a:p>
        </p:txBody>
      </p:sp>
      <p:sp>
        <p:nvSpPr>
          <p:cNvPr id="9" name="Text 7"/>
          <p:cNvSpPr txBox="1"/>
          <p:nvPr/>
        </p:nvSpPr>
        <p:spPr>
          <a:xfrm>
            <a:off x="3291840" y="4142232"/>
            <a:ext cx="2560320" cy="365760"/>
          </a:xfrm>
          <a:prstGeom prst="rect">
            <a:avLst/>
          </a:prstGeom>
          <a:noFill/>
          <a:ln/>
        </p:spPr>
        <p:txBody>
          <a:bodyPr wrap="square" lIns="0" tIns="0" rIns="0" bIns="0" rtlCol="0" anchor="t"/>
          <a:lstStyle/>
          <a:p>
            <a:pPr indent="0" marL="0">
              <a:buNone/>
            </a:pPr>
            <a:r>
              <a:rPr lang="en-US" sz="1200" dirty="0">
                <a:solidFill>
                  <a:schemeClr val="tx2"/>
                </a:solidFill>
              </a:rPr>
              <a:t>tokens the lexer already reported never cause parser errors</a:t>
            </a:r>
            <a:endParaRPr lang="en-US" sz="1200" dirty="0"/>
          </a:p>
        </p:txBody>
      </p:sp>
      <p:sp>
        <p:nvSpPr>
          <p:cNvPr id="10" name="Text 8"/>
          <p:cNvSpPr txBox="1"/>
          <p:nvPr/>
        </p:nvSpPr>
        <p:spPr>
          <a:xfrm>
            <a:off x="6035040" y="3886200"/>
            <a:ext cx="2560320" cy="228600"/>
          </a:xfrm>
          <a:prstGeom prst="rect">
            <a:avLst/>
          </a:prstGeom>
          <a:noFill/>
          <a:ln/>
        </p:spPr>
        <p:txBody>
          <a:bodyPr wrap="square" lIns="0" tIns="0" rIns="0" bIns="0" rtlCol="0" anchor="t"/>
          <a:lstStyle/>
          <a:p>
            <a:pPr indent="0" marL="0">
              <a:buNone/>
            </a:pPr>
            <a:r>
              <a:rPr lang="en-US" sz="1400" b="1" dirty="0">
                <a:solidFill>
                  <a:schemeClr val="tx1"/>
                </a:solidFill>
              </a:rPr>
              <a:t>Exit codes</a:t>
            </a:r>
            <a:endParaRPr lang="en-US" sz="1400" dirty="0"/>
          </a:p>
        </p:txBody>
      </p:sp>
      <p:sp>
        <p:nvSpPr>
          <p:cNvPr id="11" name="Text 9"/>
          <p:cNvSpPr txBox="1"/>
          <p:nvPr/>
        </p:nvSpPr>
        <p:spPr>
          <a:xfrm>
            <a:off x="6035040" y="4142232"/>
            <a:ext cx="2560320" cy="365760"/>
          </a:xfrm>
          <a:prstGeom prst="rect">
            <a:avLst/>
          </a:prstGeom>
          <a:noFill/>
          <a:ln/>
        </p:spPr>
        <p:txBody>
          <a:bodyPr wrap="square" lIns="0" tIns="0" rIns="0" bIns="0" rtlCol="0" anchor="t"/>
          <a:lstStyle/>
          <a:p>
            <a:pPr indent="0" marL="0">
              <a:buNone/>
            </a:pPr>
            <a:r>
              <a:rPr lang="en-US" sz="1200" dirty="0">
                <a:solidFill>
                  <a:schemeClr val="tx2"/>
                </a:solidFill>
              </a:rPr>
              <a:t>0 success · 1 compile error · 2 internal error</a:t>
            </a:r>
            <a:endParaRPr lang="en-US" sz="1200" dirty="0"/>
          </a:p>
        </p:txBody>
      </p:sp>
      <p:sp>
        <p:nvSpPr>
          <p:cNvPr id="25" name="Slide Number Placeholder 0"/>
          <p:cNvSpPr>
            <a:spLocks noGrp="1"/>
          </p:cNvSpPr>
          <p:nvPr>
            <p:ph type="sldNum" sz="quarter" idx="4294967295"/>
          </p:nvPr>
        </p:nvSpPr>
        <p:spPr>
          <a:xfrm>
            <a:off x="8138160" y="25603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9AA1AC"/>
                </a:solidFill>
                <a:latin typeface="Consolas"/>
                <a:ea typeface="Consolas"/>
                <a:cs typeface="Consolas"/>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5486400" cy="228600"/>
          </a:xfrm>
          <a:prstGeom prst="rect">
            <a:avLst/>
          </a:prstGeom>
          <a:noFill/>
          <a:ln/>
        </p:spPr>
        <p:txBody>
          <a:bodyPr wrap="square" lIns="0" tIns="0" rIns="0" bIns="0" rtlCol="0"/>
          <a:lstStyle/>
          <a:p>
            <a:pPr indent="0" marL="0">
              <a:buNone/>
            </a:pPr>
            <a:r>
              <a:rPr lang="en-US" sz="1000" dirty="0">
                <a:solidFill>
                  <a:schemeClr val="accent5"/>
                </a:solidFill>
                <a:latin typeface="Consolas" pitchFamily="34" charset="0"/>
                <a:ea typeface="Consolas" pitchFamily="34" charset="-122"/>
                <a:cs typeface="Consolas" pitchFamily="34" charset="-120"/>
              </a:rPr>
              <a:t>tether / 04-playground</a:t>
            </a:r>
            <a:endParaRPr lang="en-US" sz="1000" dirty="0"/>
          </a:p>
        </p:txBody>
      </p:sp>
      <p:sp>
        <p:nvSpPr>
          <p:cNvPr id="3" name="Text 0"/>
          <p:cNvSpPr/>
          <p:nvPr>
            <p:ph idx="101" type="title" hasCustomPrompt="1"/>
          </p:nvPr>
        </p:nvSpPr>
        <p:spPr>
          <a:xfrm>
            <a:off x="548640" y="502920"/>
            <a:ext cx="8046720" cy="640080"/>
          </a:xfrm>
          <a:prstGeom prst="rect">
            <a:avLst/>
          </a:prstGeom>
          <a:noFill/>
          <a:ln/>
        </p:spPr>
        <p:txBody>
          <a:bodyPr wrap="square" lIns="0" tIns="0" rIns="0" bIns="0" rtlCol="0" anchor="t"/>
          <a:lstStyle/>
          <a:p>
            <a:pPr algn="l" indent="0" marL="0">
              <a:buNone/>
            </a:pPr>
            <a:r>
              <a:rPr lang="en-US" sz="2800" b="1" dirty="0">
                <a:solidFill>
                  <a:schemeClr val="tx1"/>
                </a:solidFill>
              </a:rPr>
              <a:t>Playground: the same compiler, in a browser</a:t>
            </a:r>
            <a:endParaRPr lang="en-US" sz="2800" dirty="0"/>
          </a:p>
        </p:txBody>
      </p:sp>
      <p:pic>
        <p:nvPicPr>
          <p:cNvPr id="4" name="screenshot" descr="/private/tmp/claude-502/-Users-antrasingh-tether/be361dc7-4260-4b5b-a606-d36c35a7a730/scratchpad/light-syntax-errors.png">    </p:cNvPr>
          <p:cNvPicPr>
            <a:picLocks noChangeAspect="1"/>
          </p:cNvPicPr>
          <p:nvPr/>
        </p:nvPicPr>
        <p:blipFill>
          <a:blip r:embed="rId1"/>
          <a:stretch>
            <a:fillRect/>
          </a:stretch>
        </p:blipFill>
        <p:spPr>
          <a:xfrm>
            <a:off x="548640" y="1280160"/>
            <a:ext cx="5620215" cy="3291840"/>
          </a:xfrm>
          <a:prstGeom prst="rect">
            <a:avLst/>
          </a:prstGeom>
        </p:spPr>
      </p:pic>
      <p:sp>
        <p:nvSpPr>
          <p:cNvPr id="5" name="frame"/>
          <p:cNvSpPr/>
          <p:nvPr/>
        </p:nvSpPr>
        <p:spPr>
          <a:xfrm>
            <a:off x="548640" y="1280160"/>
            <a:ext cx="5620215" cy="3291840"/>
          </a:xfrm>
          <a:prstGeom prst="rect">
            <a:avLst/>
          </a:prstGeom>
          <a:ln w="9525">
            <a:solidFill>
              <a:srgbClr val="C3C8D0"/>
            </a:solidFill>
            <a:prstDash val="solid"/>
          </a:ln>
        </p:spPr>
      </p:sp>
      <p:sp>
        <p:nvSpPr>
          <p:cNvPr id="6" name="Text 3"/>
          <p:cNvSpPr txBox="1"/>
          <p:nvPr/>
        </p:nvSpPr>
        <p:spPr>
          <a:xfrm>
            <a:off x="6443175" y="1325880"/>
            <a:ext cx="2152185" cy="228600"/>
          </a:xfrm>
          <a:prstGeom prst="rect">
            <a:avLst/>
          </a:prstGeom>
          <a:noFill/>
          <a:ln/>
        </p:spPr>
        <p:txBody>
          <a:bodyPr wrap="square" lIns="0" tIns="0" rIns="0" bIns="0" rtlCol="0" anchor="t"/>
          <a:lstStyle/>
          <a:p>
            <a:pPr indent="0" marL="0">
              <a:buNone/>
            </a:pPr>
            <a:r>
              <a:rPr lang="en-US" sz="1400" b="1" dirty="0">
                <a:solidFill>
                  <a:schemeClr val="tx1"/>
                </a:solidFill>
              </a:rPr>
              <a:t>Same code as the CLI</a:t>
            </a:r>
            <a:endParaRPr lang="en-US" sz="1400" dirty="0"/>
          </a:p>
        </p:txBody>
      </p:sp>
      <p:sp>
        <p:nvSpPr>
          <p:cNvPr id="7" name="Text 4"/>
          <p:cNvSpPr txBox="1"/>
          <p:nvPr/>
        </p:nvSpPr>
        <p:spPr>
          <a:xfrm>
            <a:off x="6443175" y="1581912"/>
            <a:ext cx="2152185" cy="548640"/>
          </a:xfrm>
          <a:prstGeom prst="rect">
            <a:avLst/>
          </a:prstGeom>
          <a:noFill/>
          <a:ln/>
        </p:spPr>
        <p:txBody>
          <a:bodyPr wrap="square" lIns="0" tIns="0" rIns="0" bIns="0" rtlCol="0" anchor="t"/>
          <a:lstStyle/>
          <a:p>
            <a:pPr indent="0" marL="0">
              <a:buNone/>
            </a:pPr>
            <a:r>
              <a:rPr lang="en-US" sz="1250" dirty="0">
                <a:solidFill>
                  <a:schemeClr val="tx2"/>
                </a:solidFill>
              </a:rPr>
              <a:t>imports src/lexer.js and src/parser.js directly</a:t>
            </a:r>
            <a:endParaRPr lang="en-US" sz="1250" dirty="0"/>
          </a:p>
        </p:txBody>
      </p:sp>
      <p:sp>
        <p:nvSpPr>
          <p:cNvPr id="8" name="Text 5"/>
          <p:cNvSpPr txBox="1"/>
          <p:nvPr/>
        </p:nvSpPr>
        <p:spPr>
          <a:xfrm>
            <a:off x="6443175" y="2194560"/>
            <a:ext cx="2152185" cy="228600"/>
          </a:xfrm>
          <a:prstGeom prst="rect">
            <a:avLst/>
          </a:prstGeom>
          <a:noFill/>
          <a:ln/>
        </p:spPr>
        <p:txBody>
          <a:bodyPr wrap="square" lIns="0" tIns="0" rIns="0" bIns="0" rtlCol="0" anchor="t"/>
          <a:lstStyle/>
          <a:p>
            <a:pPr indent="0" marL="0">
              <a:buNone/>
            </a:pPr>
            <a:r>
              <a:rPr lang="en-US" sz="1400" b="1" dirty="0">
                <a:solidFill>
                  <a:schemeClr val="tx1"/>
                </a:solidFill>
              </a:rPr>
              <a:t>Live</a:t>
            </a:r>
            <a:endParaRPr lang="en-US" sz="1400" dirty="0"/>
          </a:p>
        </p:txBody>
      </p:sp>
      <p:sp>
        <p:nvSpPr>
          <p:cNvPr id="9" name="Text 6"/>
          <p:cNvSpPr txBox="1"/>
          <p:nvPr/>
        </p:nvSpPr>
        <p:spPr>
          <a:xfrm>
            <a:off x="6443175" y="2450592"/>
            <a:ext cx="2152185" cy="548640"/>
          </a:xfrm>
          <a:prstGeom prst="rect">
            <a:avLst/>
          </a:prstGeom>
          <a:noFill/>
          <a:ln/>
        </p:spPr>
        <p:txBody>
          <a:bodyPr wrap="square" lIns="0" tIns="0" rIns="0" bIns="0" rtlCol="0" anchor="t"/>
          <a:lstStyle/>
          <a:p>
            <a:pPr indent="0" marL="0">
              <a:buNone/>
            </a:pPr>
            <a:r>
              <a:rPr lang="en-US" sz="1250" dirty="0">
                <a:solidFill>
                  <a:schemeClr val="tx2"/>
                </a:solidFill>
              </a:rPr>
              <a:t>tokens, tree and errors update as you type</a:t>
            </a:r>
            <a:endParaRPr lang="en-US" sz="1250" dirty="0"/>
          </a:p>
        </p:txBody>
      </p:sp>
      <p:sp>
        <p:nvSpPr>
          <p:cNvPr id="10" name="Text 7"/>
          <p:cNvSpPr txBox="1"/>
          <p:nvPr/>
        </p:nvSpPr>
        <p:spPr>
          <a:xfrm>
            <a:off x="6443175" y="3063240"/>
            <a:ext cx="2152185" cy="228600"/>
          </a:xfrm>
          <a:prstGeom prst="rect">
            <a:avLst/>
          </a:prstGeom>
          <a:noFill/>
          <a:ln/>
        </p:spPr>
        <p:txBody>
          <a:bodyPr wrap="square" lIns="0" tIns="0" rIns="0" bIns="0" rtlCol="0" anchor="t"/>
          <a:lstStyle/>
          <a:p>
            <a:pPr indent="0" marL="0">
              <a:buNone/>
            </a:pPr>
            <a:r>
              <a:rPr lang="en-US" sz="1400" b="1" dirty="0">
                <a:solidFill>
                  <a:schemeClr val="tx1"/>
                </a:solidFill>
              </a:rPr>
              <a:t>Span highlighting</a:t>
            </a:r>
            <a:endParaRPr lang="en-US" sz="1400" dirty="0"/>
          </a:p>
        </p:txBody>
      </p:sp>
      <p:sp>
        <p:nvSpPr>
          <p:cNvPr id="11" name="Text 8"/>
          <p:cNvSpPr txBox="1"/>
          <p:nvPr/>
        </p:nvSpPr>
        <p:spPr>
          <a:xfrm>
            <a:off x="6443175" y="3319272"/>
            <a:ext cx="2152185" cy="548640"/>
          </a:xfrm>
          <a:prstGeom prst="rect">
            <a:avLst/>
          </a:prstGeom>
          <a:noFill/>
          <a:ln/>
        </p:spPr>
        <p:txBody>
          <a:bodyPr wrap="square" lIns="0" tIns="0" rIns="0" bIns="0" rtlCol="0" anchor="t"/>
          <a:lstStyle/>
          <a:p>
            <a:pPr indent="0" marL="0">
              <a:buNone/>
            </a:pPr>
            <a:r>
              <a:rPr lang="en-US" sz="1250" dirty="0">
                <a:solidFill>
                  <a:schemeClr val="tx2"/>
                </a:solidFill>
              </a:rPr>
              <a:t>hover a node to light up its source text</a:t>
            </a:r>
            <a:endParaRPr lang="en-US" sz="1250" dirty="0"/>
          </a:p>
        </p:txBody>
      </p:sp>
      <p:sp>
        <p:nvSpPr>
          <p:cNvPr id="12" name="Text 9"/>
          <p:cNvSpPr txBox="1"/>
          <p:nvPr/>
        </p:nvSpPr>
        <p:spPr>
          <a:xfrm>
            <a:off x="6443175" y="4297680"/>
            <a:ext cx="2152185" cy="228600"/>
          </a:xfrm>
          <a:prstGeom prst="rect">
            <a:avLst/>
          </a:prstGeom>
          <a:noFill/>
          <a:ln/>
        </p:spPr>
        <p:txBody>
          <a:bodyPr wrap="square" lIns="0" tIns="0" rIns="0" bIns="0" rtlCol="0" anchor="t"/>
          <a:lstStyle/>
          <a:p>
            <a:pPr indent="0" marL="0">
              <a:buNone/>
            </a:pPr>
            <a:r>
              <a:rPr lang="en-US" sz="1150" dirty="0">
                <a:solidFill>
                  <a:srgbClr val="1F4E79"/>
                </a:solidFill>
                <a:latin typeface="Consolas" pitchFamily="34" charset="0"/>
                <a:ea typeface="Consolas" pitchFamily="34" charset="-122"/>
                <a:cs typeface="Consolas" pitchFamily="34" charset="-120"/>
              </a:rPr>
              <a:t>npm run playground</a:t>
            </a:r>
            <a:endParaRPr lang="en-US" sz="1150" dirty="0"/>
          </a:p>
        </p:txBody>
      </p:sp>
      <p:sp>
        <p:nvSpPr>
          <p:cNvPr id="25" name="Slide Number Placeholder 0"/>
          <p:cNvSpPr>
            <a:spLocks noGrp="1"/>
          </p:cNvSpPr>
          <p:nvPr>
            <p:ph type="sldNum" sz="quarter" idx="4294967295"/>
          </p:nvPr>
        </p:nvSpPr>
        <p:spPr>
          <a:xfrm>
            <a:off x="8138160" y="25603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9AA1AC"/>
                </a:solidFill>
                <a:latin typeface="Consolas"/>
                <a:ea typeface="Consolas"/>
                <a:cs typeface="Consolas"/>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5486400" cy="228600"/>
          </a:xfrm>
          <a:prstGeom prst="rect">
            <a:avLst/>
          </a:prstGeom>
          <a:noFill/>
          <a:ln/>
        </p:spPr>
        <p:txBody>
          <a:bodyPr wrap="square" lIns="0" tIns="0" rIns="0" bIns="0" rtlCol="0"/>
          <a:lstStyle/>
          <a:p>
            <a:pPr indent="0" marL="0">
              <a:buNone/>
            </a:pPr>
            <a:r>
              <a:rPr lang="en-US" sz="1000" dirty="0">
                <a:solidFill>
                  <a:schemeClr val="accent5"/>
                </a:solidFill>
                <a:latin typeface="Consolas" pitchFamily="34" charset="0"/>
                <a:ea typeface="Consolas" pitchFamily="34" charset="-122"/>
                <a:cs typeface="Consolas" pitchFamily="34" charset="-120"/>
              </a:rPr>
              <a:t>tether / 04-results</a:t>
            </a:r>
            <a:endParaRPr lang="en-US" sz="1000" dirty="0"/>
          </a:p>
        </p:txBody>
      </p:sp>
      <p:sp>
        <p:nvSpPr>
          <p:cNvPr id="3" name="Text 0"/>
          <p:cNvSpPr/>
          <p:nvPr>
            <p:ph idx="101" type="title" hasCustomPrompt="1"/>
          </p:nvPr>
        </p:nvSpPr>
        <p:spPr>
          <a:xfrm>
            <a:off x="548640" y="502920"/>
            <a:ext cx="8046720" cy="640080"/>
          </a:xfrm>
          <a:prstGeom prst="rect">
            <a:avLst/>
          </a:prstGeom>
          <a:noFill/>
          <a:ln/>
        </p:spPr>
        <p:txBody>
          <a:bodyPr wrap="square" lIns="0" tIns="0" rIns="0" bIns="0" rtlCol="0" anchor="t"/>
          <a:lstStyle/>
          <a:p>
            <a:pPr algn="l" indent="0" marL="0">
              <a:buNone/>
            </a:pPr>
            <a:r>
              <a:rPr lang="en-US" sz="2800" b="1" dirty="0">
                <a:solidFill>
                  <a:schemeClr val="tx1"/>
                </a:solidFill>
              </a:rPr>
              <a:t>Results so far</a:t>
            </a:r>
            <a:endParaRPr lang="en-US" sz="2800" dirty="0"/>
          </a:p>
        </p:txBody>
      </p:sp>
      <p:sp>
        <p:nvSpPr>
          <p:cNvPr id="4" name="Text 2"/>
          <p:cNvSpPr txBox="1"/>
          <p:nvPr/>
        </p:nvSpPr>
        <p:spPr>
          <a:xfrm>
            <a:off x="548640" y="1234440"/>
            <a:ext cx="1920240" cy="640080"/>
          </a:xfrm>
          <a:prstGeom prst="rect">
            <a:avLst/>
          </a:prstGeom>
          <a:noFill/>
          <a:ln/>
        </p:spPr>
        <p:txBody>
          <a:bodyPr wrap="square" lIns="0" tIns="0" rIns="0" bIns="0" rtlCol="0" anchor="t"/>
          <a:lstStyle/>
          <a:p>
            <a:pPr indent="0" marL="0">
              <a:buNone/>
            </a:pPr>
            <a:r>
              <a:rPr lang="en-US" sz="3400" b="1" dirty="0">
                <a:solidFill>
                  <a:schemeClr val="tx1"/>
                </a:solidFill>
                <a:latin typeface="Cambria" pitchFamily="34" charset="0"/>
                <a:ea typeface="Cambria" pitchFamily="34" charset="-122"/>
                <a:cs typeface="Cambria" pitchFamily="34" charset="-120"/>
              </a:rPr>
              <a:t>63/63</a:t>
            </a:r>
            <a:endParaRPr lang="en-US" sz="3400" dirty="0"/>
          </a:p>
        </p:txBody>
      </p:sp>
      <p:sp>
        <p:nvSpPr>
          <p:cNvPr id="5" name="Text 3"/>
          <p:cNvSpPr txBox="1"/>
          <p:nvPr/>
        </p:nvSpPr>
        <p:spPr>
          <a:xfrm>
            <a:off x="548640" y="1874520"/>
            <a:ext cx="1828800" cy="274320"/>
          </a:xfrm>
          <a:prstGeom prst="rect">
            <a:avLst/>
          </a:prstGeom>
          <a:noFill/>
          <a:ln/>
        </p:spPr>
        <p:txBody>
          <a:bodyPr wrap="square" lIns="0" tIns="0" rIns="0" bIns="0" rtlCol="0" anchor="t"/>
          <a:lstStyle/>
          <a:p>
            <a:pPr indent="0" marL="0">
              <a:buNone/>
            </a:pPr>
            <a:r>
              <a:rPr lang="en-US" sz="1200" dirty="0">
                <a:solidFill>
                  <a:schemeClr val="tx2"/>
                </a:solidFill>
              </a:rPr>
              <a:t>tests passing</a:t>
            </a:r>
            <a:endParaRPr lang="en-US" sz="1200" dirty="0"/>
          </a:p>
        </p:txBody>
      </p:sp>
      <p:sp>
        <p:nvSpPr>
          <p:cNvPr id="6" name="Text 4"/>
          <p:cNvSpPr txBox="1"/>
          <p:nvPr/>
        </p:nvSpPr>
        <p:spPr>
          <a:xfrm>
            <a:off x="2560320" y="1234440"/>
            <a:ext cx="1920240" cy="640080"/>
          </a:xfrm>
          <a:prstGeom prst="rect">
            <a:avLst/>
          </a:prstGeom>
          <a:noFill/>
          <a:ln/>
        </p:spPr>
        <p:txBody>
          <a:bodyPr wrap="square" lIns="0" tIns="0" rIns="0" bIns="0" rtlCol="0" anchor="t"/>
          <a:lstStyle/>
          <a:p>
            <a:pPr indent="0" marL="0">
              <a:buNone/>
            </a:pPr>
            <a:r>
              <a:rPr lang="en-US" sz="3400" b="1" dirty="0">
                <a:solidFill>
                  <a:schemeClr val="tx1"/>
                </a:solidFill>
                <a:latin typeface="Cambria" pitchFamily="34" charset="0"/>
                <a:ea typeface="Cambria" pitchFamily="34" charset="-122"/>
                <a:cs typeface="Cambria" pitchFamily="34" charset="-120"/>
              </a:rPr>
              <a:t>4/4</a:t>
            </a:r>
            <a:endParaRPr lang="en-US" sz="3400" dirty="0"/>
          </a:p>
        </p:txBody>
      </p:sp>
      <p:sp>
        <p:nvSpPr>
          <p:cNvPr id="7" name="Text 5"/>
          <p:cNvSpPr txBox="1"/>
          <p:nvPr/>
        </p:nvSpPr>
        <p:spPr>
          <a:xfrm>
            <a:off x="2560320" y="1874520"/>
            <a:ext cx="1828800" cy="274320"/>
          </a:xfrm>
          <a:prstGeom prst="rect">
            <a:avLst/>
          </a:prstGeom>
          <a:noFill/>
          <a:ln/>
        </p:spPr>
        <p:txBody>
          <a:bodyPr wrap="square" lIns="0" tIns="0" rIns="0" bIns="0" rtlCol="0" anchor="t"/>
          <a:lstStyle/>
          <a:p>
            <a:pPr indent="0" marL="0">
              <a:buNone/>
            </a:pPr>
            <a:r>
              <a:rPr lang="en-US" sz="1200" dirty="0">
                <a:solidFill>
                  <a:schemeClr val="tx2"/>
                </a:solidFill>
              </a:rPr>
              <a:t>benchmarks parse</a:t>
            </a:r>
            <a:endParaRPr lang="en-US" sz="1200" dirty="0"/>
          </a:p>
        </p:txBody>
      </p:sp>
      <p:sp>
        <p:nvSpPr>
          <p:cNvPr id="8" name="Text 6"/>
          <p:cNvSpPr txBox="1"/>
          <p:nvPr/>
        </p:nvSpPr>
        <p:spPr>
          <a:xfrm>
            <a:off x="4572000" y="1234440"/>
            <a:ext cx="1920240" cy="640080"/>
          </a:xfrm>
          <a:prstGeom prst="rect">
            <a:avLst/>
          </a:prstGeom>
          <a:noFill/>
          <a:ln/>
        </p:spPr>
        <p:txBody>
          <a:bodyPr wrap="square" lIns="0" tIns="0" rIns="0" bIns="0" rtlCol="0" anchor="t"/>
          <a:lstStyle/>
          <a:p>
            <a:pPr indent="0" marL="0">
              <a:buNone/>
            </a:pPr>
            <a:r>
              <a:rPr lang="en-US" sz="3400" b="1" dirty="0">
                <a:solidFill>
                  <a:schemeClr val="tx1"/>
                </a:solidFill>
                <a:latin typeface="Cambria" pitchFamily="34" charset="0"/>
                <a:ea typeface="Cambria" pitchFamily="34" charset="-122"/>
                <a:cs typeface="Cambria" pitchFamily="34" charset="-120"/>
              </a:rPr>
              <a:t>&lt;0.1 ms</a:t>
            </a:r>
            <a:endParaRPr lang="en-US" sz="3400" dirty="0"/>
          </a:p>
        </p:txBody>
      </p:sp>
      <p:sp>
        <p:nvSpPr>
          <p:cNvPr id="9" name="Text 7"/>
          <p:cNvSpPr txBox="1"/>
          <p:nvPr/>
        </p:nvSpPr>
        <p:spPr>
          <a:xfrm>
            <a:off x="4572000" y="1874520"/>
            <a:ext cx="1828800" cy="274320"/>
          </a:xfrm>
          <a:prstGeom prst="rect">
            <a:avLst/>
          </a:prstGeom>
          <a:noFill/>
          <a:ln/>
        </p:spPr>
        <p:txBody>
          <a:bodyPr wrap="square" lIns="0" tIns="0" rIns="0" bIns="0" rtlCol="0" anchor="t"/>
          <a:lstStyle/>
          <a:p>
            <a:pPr indent="0" marL="0">
              <a:buNone/>
            </a:pPr>
            <a:r>
              <a:rPr lang="en-US" sz="1200" dirty="0">
                <a:solidFill>
                  <a:schemeClr val="tx2"/>
                </a:solidFill>
              </a:rPr>
              <a:t>lex + parse, per benchmark</a:t>
            </a:r>
            <a:endParaRPr lang="en-US" sz="1200" dirty="0"/>
          </a:p>
        </p:txBody>
      </p:sp>
      <p:sp>
        <p:nvSpPr>
          <p:cNvPr id="10" name="Text 8"/>
          <p:cNvSpPr txBox="1"/>
          <p:nvPr/>
        </p:nvSpPr>
        <p:spPr>
          <a:xfrm>
            <a:off x="6583680" y="1234440"/>
            <a:ext cx="1920240" cy="640080"/>
          </a:xfrm>
          <a:prstGeom prst="rect">
            <a:avLst/>
          </a:prstGeom>
          <a:noFill/>
          <a:ln/>
        </p:spPr>
        <p:txBody>
          <a:bodyPr wrap="square" lIns="0" tIns="0" rIns="0" bIns="0" rtlCol="0" anchor="t"/>
          <a:lstStyle/>
          <a:p>
            <a:pPr indent="0" marL="0">
              <a:buNone/>
            </a:pPr>
            <a:r>
              <a:rPr lang="en-US" sz="3400" b="1" dirty="0">
                <a:solidFill>
                  <a:schemeClr val="tx1"/>
                </a:solidFill>
                <a:latin typeface="Cambria" pitchFamily="34" charset="0"/>
                <a:ea typeface="Cambria" pitchFamily="34" charset="-122"/>
                <a:cs typeface="Cambria" pitchFamily="34" charset="-120"/>
              </a:rPr>
              <a:t>0</a:t>
            </a:r>
            <a:endParaRPr lang="en-US" sz="3400" dirty="0"/>
          </a:p>
        </p:txBody>
      </p:sp>
      <p:sp>
        <p:nvSpPr>
          <p:cNvPr id="11" name="Text 9"/>
          <p:cNvSpPr txBox="1"/>
          <p:nvPr/>
        </p:nvSpPr>
        <p:spPr>
          <a:xfrm>
            <a:off x="6583680" y="1874520"/>
            <a:ext cx="1828800" cy="274320"/>
          </a:xfrm>
          <a:prstGeom prst="rect">
            <a:avLst/>
          </a:prstGeom>
          <a:noFill/>
          <a:ln/>
        </p:spPr>
        <p:txBody>
          <a:bodyPr wrap="square" lIns="0" tIns="0" rIns="0" bIns="0" rtlCol="0" anchor="t"/>
          <a:lstStyle/>
          <a:p>
            <a:pPr indent="0" marL="0">
              <a:buNone/>
            </a:pPr>
            <a:r>
              <a:rPr lang="en-US" sz="1200" dirty="0">
                <a:solidFill>
                  <a:schemeClr val="tx2"/>
                </a:solidFill>
              </a:rPr>
              <a:t>third-party dependencies</a:t>
            </a:r>
            <a:endParaRPr lang="en-US" sz="1200" dirty="0"/>
          </a:p>
        </p:txBody>
      </p:sp>
      <p:sp>
        <p:nvSpPr>
          <p:cNvPr id="12" name="rule"/>
          <p:cNvSpPr/>
          <p:nvPr/>
        </p:nvSpPr>
        <p:spPr>
          <a:xfrm>
            <a:off x="548640" y="2331720"/>
            <a:ext cx="8046720" cy="0"/>
          </a:xfrm>
          <a:prstGeom prst="line">
            <a:avLst/>
          </a:prstGeom>
          <a:noFill/>
          <a:ln w="9525">
            <a:solidFill>
              <a:srgbClr val="DADDE2"/>
            </a:solidFill>
            <a:prstDash val="solid"/>
          </a:ln>
        </p:spPr>
      </p:sp>
      <p:graphicFrame>
        <p:nvGraphicFramePr>
          <p:cNvPr id="13" name="Chart 0" descr=""/>
          <p:cNvGraphicFramePr/>
          <p:nvPr/>
        </p:nvGraphicFramePr>
        <p:xfrm>
          <a:off x="457200" y="2468880"/>
          <a:ext cx="4937760" cy="2148840"/>
        </p:xfrm>
        <a:graphic xmlns:a="http://schemas.openxmlformats.org/drawingml/2006/main">
          <a:graphicData uri="http://schemas.openxmlformats.org/drawingml/2006/chart">
            <c:chart xmlns:c="http://schemas.openxmlformats.org/drawingml/2006/chart" r:id="rId1"/>
          </a:graphicData>
        </a:graphic>
      </p:graphicFrame>
      <p:sp>
        <p:nvSpPr>
          <p:cNvPr id="14" name="Text 11"/>
          <p:cNvSpPr txBox="1"/>
          <p:nvPr/>
        </p:nvSpPr>
        <p:spPr>
          <a:xfrm>
            <a:off x="5669280" y="2560320"/>
            <a:ext cx="2926080" cy="228600"/>
          </a:xfrm>
          <a:prstGeom prst="rect">
            <a:avLst/>
          </a:prstGeom>
          <a:noFill/>
          <a:ln/>
        </p:spPr>
        <p:txBody>
          <a:bodyPr wrap="square" lIns="0" tIns="0" rIns="0" bIns="0" rtlCol="0" anchor="t"/>
          <a:lstStyle/>
          <a:p>
            <a:pPr indent="0" marL="0">
              <a:buNone/>
            </a:pPr>
            <a:r>
              <a:rPr lang="en-US" sz="1400" b="1" dirty="0">
                <a:solidFill>
                  <a:schemeClr val="tx1"/>
                </a:solidFill>
              </a:rPr>
              <a:t>Golden files</a:t>
            </a:r>
            <a:endParaRPr lang="en-US" sz="1400" dirty="0"/>
          </a:p>
        </p:txBody>
      </p:sp>
      <p:sp>
        <p:nvSpPr>
          <p:cNvPr id="15" name="Text 12"/>
          <p:cNvSpPr txBox="1"/>
          <p:nvPr/>
        </p:nvSpPr>
        <p:spPr>
          <a:xfrm>
            <a:off x="5669280" y="2807208"/>
            <a:ext cx="2926080" cy="411480"/>
          </a:xfrm>
          <a:prstGeom prst="rect">
            <a:avLst/>
          </a:prstGeom>
          <a:noFill/>
          <a:ln/>
        </p:spPr>
        <p:txBody>
          <a:bodyPr wrap="square" lIns="0" tIns="0" rIns="0" bIns="0" rtlCol="0" anchor="t"/>
          <a:lstStyle/>
          <a:p>
            <a:pPr indent="0" marL="0">
              <a:buNone/>
            </a:pPr>
            <a:r>
              <a:rPr lang="en-US" sz="1250" dirty="0">
                <a:solidFill>
                  <a:schemeClr val="tx2"/>
                </a:solidFill>
              </a:rPr>
              <a:t>output compared byte for byte</a:t>
            </a:r>
            <a:endParaRPr lang="en-US" sz="1250" dirty="0"/>
          </a:p>
        </p:txBody>
      </p:sp>
      <p:sp>
        <p:nvSpPr>
          <p:cNvPr id="16" name="Text 13"/>
          <p:cNvSpPr txBox="1"/>
          <p:nvPr/>
        </p:nvSpPr>
        <p:spPr>
          <a:xfrm>
            <a:off x="5669280" y="3246120"/>
            <a:ext cx="2926080" cy="228600"/>
          </a:xfrm>
          <a:prstGeom prst="rect">
            <a:avLst/>
          </a:prstGeom>
          <a:noFill/>
          <a:ln/>
        </p:spPr>
        <p:txBody>
          <a:bodyPr wrap="square" lIns="0" tIns="0" rIns="0" bIns="0" rtlCol="0" anchor="t"/>
          <a:lstStyle/>
          <a:p>
            <a:pPr indent="0" marL="0">
              <a:buNone/>
            </a:pPr>
            <a:r>
              <a:rPr lang="en-US" sz="1400" b="1" dirty="0">
                <a:solidFill>
                  <a:schemeClr val="tx1"/>
                </a:solidFill>
              </a:rPr>
              <a:t>Determinism</a:t>
            </a:r>
            <a:endParaRPr lang="en-US" sz="1400" dirty="0"/>
          </a:p>
        </p:txBody>
      </p:sp>
      <p:sp>
        <p:nvSpPr>
          <p:cNvPr id="17" name="Text 14"/>
          <p:cNvSpPr txBox="1"/>
          <p:nvPr/>
        </p:nvSpPr>
        <p:spPr>
          <a:xfrm>
            <a:off x="5669280" y="3493008"/>
            <a:ext cx="2926080" cy="411480"/>
          </a:xfrm>
          <a:prstGeom prst="rect">
            <a:avLst/>
          </a:prstGeom>
          <a:noFill/>
          <a:ln/>
        </p:spPr>
        <p:txBody>
          <a:bodyPr wrap="square" lIns="0" tIns="0" rIns="0" bIns="0" rtlCol="0" anchor="t"/>
          <a:lstStyle/>
          <a:p>
            <a:pPr indent="0" marL="0">
              <a:buNone/>
            </a:pPr>
            <a:r>
              <a:rPr lang="en-US" sz="1250" dirty="0">
                <a:solidFill>
                  <a:schemeClr val="tx2"/>
                </a:solidFill>
              </a:rPr>
              <a:t>two builds, byte-identical output</a:t>
            </a:r>
            <a:endParaRPr lang="en-US" sz="1250" dirty="0"/>
          </a:p>
        </p:txBody>
      </p:sp>
      <p:sp>
        <p:nvSpPr>
          <p:cNvPr id="18" name="Text 15"/>
          <p:cNvSpPr txBox="1"/>
          <p:nvPr/>
        </p:nvSpPr>
        <p:spPr>
          <a:xfrm>
            <a:off x="5669280" y="3931920"/>
            <a:ext cx="2926080" cy="228600"/>
          </a:xfrm>
          <a:prstGeom prst="rect">
            <a:avLst/>
          </a:prstGeom>
          <a:noFill/>
          <a:ln/>
        </p:spPr>
        <p:txBody>
          <a:bodyPr wrap="square" lIns="0" tIns="0" rIns="0" bIns="0" rtlCol="0" anchor="t"/>
          <a:lstStyle/>
          <a:p>
            <a:pPr indent="0" marL="0">
              <a:buNone/>
            </a:pPr>
            <a:r>
              <a:rPr lang="en-US" sz="1400" b="1" dirty="0">
                <a:solidFill>
                  <a:schemeClr val="tx1"/>
                </a:solidFill>
              </a:rPr>
              <a:t>Property test</a:t>
            </a:r>
            <a:endParaRPr lang="en-US" sz="1400" dirty="0"/>
          </a:p>
        </p:txBody>
      </p:sp>
      <p:sp>
        <p:nvSpPr>
          <p:cNvPr id="19" name="Text 16"/>
          <p:cNvSpPr txBox="1"/>
          <p:nvPr/>
        </p:nvSpPr>
        <p:spPr>
          <a:xfrm>
            <a:off x="5669280" y="4178808"/>
            <a:ext cx="2926080" cy="411480"/>
          </a:xfrm>
          <a:prstGeom prst="rect">
            <a:avLst/>
          </a:prstGeom>
          <a:noFill/>
          <a:ln/>
        </p:spPr>
        <p:txBody>
          <a:bodyPr wrap="square" lIns="0" tIns="0" rIns="0" bIns="0" rtlCol="0" anchor="t"/>
          <a:lstStyle/>
          <a:p>
            <a:pPr indent="0" marL="0">
              <a:buNone/>
            </a:pPr>
            <a:r>
              <a:rPr lang="en-US" sz="1250" dirty="0">
                <a:solidFill>
                  <a:schemeClr val="tx2"/>
                </a:solidFill>
              </a:rPr>
              <a:t>positions checked on random input</a:t>
            </a:r>
            <a:endParaRPr lang="en-US" sz="1250" dirty="0"/>
          </a:p>
        </p:txBody>
      </p:sp>
      <p:sp>
        <p:nvSpPr>
          <p:cNvPr id="25" name="Slide Number Placeholder 0"/>
          <p:cNvSpPr>
            <a:spLocks noGrp="1"/>
          </p:cNvSpPr>
          <p:nvPr>
            <p:ph type="sldNum" sz="quarter" idx="4294967295"/>
          </p:nvPr>
        </p:nvSpPr>
        <p:spPr>
          <a:xfrm>
            <a:off x="8138160" y="25603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9AA1AC"/>
                </a:solidFill>
                <a:latin typeface="Consolas"/>
                <a:ea typeface="Consolas"/>
                <a:cs typeface="Consolas"/>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5486400" cy="228600"/>
          </a:xfrm>
          <a:prstGeom prst="rect">
            <a:avLst/>
          </a:prstGeom>
          <a:noFill/>
          <a:ln/>
        </p:spPr>
        <p:txBody>
          <a:bodyPr wrap="square" lIns="0" tIns="0" rIns="0" bIns="0" rtlCol="0"/>
          <a:lstStyle/>
          <a:p>
            <a:pPr indent="0" marL="0">
              <a:buNone/>
            </a:pPr>
            <a:r>
              <a:rPr lang="en-US" sz="1000" dirty="0">
                <a:solidFill>
                  <a:schemeClr val="accent5"/>
                </a:solidFill>
                <a:latin typeface="Consolas" pitchFamily="34" charset="0"/>
                <a:ea typeface="Consolas" pitchFamily="34" charset="-122"/>
                <a:cs typeface="Consolas" pitchFamily="34" charset="-120"/>
              </a:rPr>
              <a:t>tether / 04-requirements</a:t>
            </a:r>
            <a:endParaRPr lang="en-US" sz="1000" dirty="0"/>
          </a:p>
        </p:txBody>
      </p:sp>
      <p:sp>
        <p:nvSpPr>
          <p:cNvPr id="3" name="Text 0"/>
          <p:cNvSpPr/>
          <p:nvPr>
            <p:ph idx="101" type="title" hasCustomPrompt="1"/>
          </p:nvPr>
        </p:nvSpPr>
        <p:spPr>
          <a:xfrm>
            <a:off x="548640" y="502920"/>
            <a:ext cx="8046720" cy="640080"/>
          </a:xfrm>
          <a:prstGeom prst="rect">
            <a:avLst/>
          </a:prstGeom>
          <a:noFill/>
          <a:ln/>
        </p:spPr>
        <p:txBody>
          <a:bodyPr wrap="square" lIns="0" tIns="0" rIns="0" bIns="0" rtlCol="0" anchor="t"/>
          <a:lstStyle/>
          <a:p>
            <a:pPr algn="l" indent="0" marL="0">
              <a:buNone/>
            </a:pPr>
            <a:r>
              <a:rPr lang="en-US" sz="2800" b="1" dirty="0">
                <a:solidFill>
                  <a:schemeClr val="tx1"/>
                </a:solidFill>
              </a:rPr>
              <a:t>11 of 31 functional requirements done</a:t>
            </a:r>
            <a:endParaRPr lang="en-US" sz="2800" dirty="0"/>
          </a:p>
        </p:txBody>
      </p:sp>
      <p:graphicFrame>
        <p:nvGraphicFramePr>
          <p:cNvPr id="4" name="Chart 0" descr=""/>
          <p:cNvGraphicFramePr/>
          <p:nvPr/>
        </p:nvGraphicFramePr>
        <p:xfrm>
          <a:off x="457200" y="1188720"/>
          <a:ext cx="8229600" cy="1051560"/>
        </p:xfrm>
        <a:graphic xmlns:a="http://schemas.openxmlformats.org/drawingml/2006/main">
          <a:graphicData uri="http://schemas.openxmlformats.org/drawingml/2006/chart">
            <c:chart xmlns:c="http://schemas.openxmlformats.org/drawingml/2006/chart" r:id="rId1"/>
          </a:graphicData>
        </a:graphic>
      </p:graphicFrame>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2423160"/>
          <a:ext cx="8046720" cy="914400"/>
        </p:xfrm>
        <a:graphic>
          <a:graphicData uri="http://schemas.openxmlformats.org/drawingml/2006/table">
            <a:tbl>
              <a:tblPr/>
              <a:tblGrid>
                <a:gridCol w="4572000"/>
                <a:gridCol w="2103120"/>
                <a:gridCol w="1371600"/>
              </a:tblGrid>
              <a:tr h="329184">
                <a:tc>
                  <a:txBody>
                    <a:bodyPr/>
                    <a:lstStyle/>
                    <a:p>
                      <a:pPr indent="0" marL="0">
                        <a:buNone/>
                      </a:pPr>
                      <a:r>
                        <a:rPr lang="en-US" sz="1100" b="1" dirty="0">
                          <a:solidFill>
                            <a:srgbClr val="4A5260"/>
                          </a:solidFill>
                        </a:rPr>
                        <a:t>Area</a:t>
                      </a:r>
                      <a:endParaRPr lang="en-US" sz="1100" dirty="0"/>
                    </a:p>
                  </a:txBody>
                  <a:tcPr marL="91440" marR="91440" marT="64008" marB="64008" anchor="ctr">
                    <a:lnL w="0" cap="flat" cmpd="sng" algn="ctr">
                      <a:noFill/>
                    </a:lnL>
                    <a:lnR w="0" cap="flat" cmpd="sng" algn="ctr">
                      <a:noFill/>
                    </a:lnR>
                    <a:lnT w="0" cap="flat" cmpd="sng" algn="ctr">
                      <a:noFill/>
                    </a:lnT>
                    <a:lnB w="12700" cap="flat" cmpd="sng" algn="ctr">
                      <a:solidFill>
                        <a:srgbClr val="15181D"/>
                      </a:solidFill>
                      <a:prstDash val="solid"/>
                      <a:round/>
                      <a:headEnd type="none" w="med" len="med"/>
                      <a:tailEnd type="none" w="med" len="med"/>
                    </a:lnB>
                  </a:tcPr>
                </a:tc>
                <a:tc>
                  <a:txBody>
                    <a:bodyPr/>
                    <a:lstStyle/>
                    <a:p>
                      <a:pPr indent="0" marL="0">
                        <a:buNone/>
                      </a:pPr>
                      <a:r>
                        <a:rPr lang="en-US" sz="1100" b="1" dirty="0">
                          <a:solidFill>
                            <a:srgbClr val="4A5260"/>
                          </a:solidFill>
                        </a:rPr>
                        <a:t>Requirements</a:t>
                      </a:r>
                      <a:endParaRPr lang="en-US" sz="1100" dirty="0"/>
                    </a:p>
                  </a:txBody>
                  <a:tcPr marL="91440" marR="91440" marT="64008" marB="64008" anchor="ctr">
                    <a:lnL w="0" cap="flat" cmpd="sng" algn="ctr">
                      <a:noFill/>
                    </a:lnL>
                    <a:lnR w="0" cap="flat" cmpd="sng" algn="ctr">
                      <a:noFill/>
                    </a:lnR>
                    <a:lnT w="0" cap="flat" cmpd="sng" algn="ctr">
                      <a:noFill/>
                    </a:lnT>
                    <a:lnB w="12700" cap="flat" cmpd="sng" algn="ctr">
                      <a:solidFill>
                        <a:srgbClr val="15181D"/>
                      </a:solidFill>
                      <a:prstDash val="solid"/>
                      <a:round/>
                      <a:headEnd type="none" w="med" len="med"/>
                      <a:tailEnd type="none" w="med" len="med"/>
                    </a:lnB>
                  </a:tcPr>
                </a:tc>
                <a:tc>
                  <a:txBody>
                    <a:bodyPr/>
                    <a:lstStyle/>
                    <a:p>
                      <a:pPr indent="0" marL="0">
                        <a:buNone/>
                      </a:pPr>
                      <a:r>
                        <a:rPr lang="en-US" sz="1100" b="1" dirty="0">
                          <a:solidFill>
                            <a:srgbClr val="4A5260"/>
                          </a:solidFill>
                        </a:rPr>
                        <a:t>Status</a:t>
                      </a:r>
                      <a:endParaRPr lang="en-US" sz="1100" dirty="0"/>
                    </a:p>
                  </a:txBody>
                  <a:tcPr marL="91440" marR="91440" marT="64008" marB="64008" anchor="ctr">
                    <a:lnL w="0" cap="flat" cmpd="sng" algn="ctr">
                      <a:noFill/>
                    </a:lnL>
                    <a:lnR w="0" cap="flat" cmpd="sng" algn="ctr">
                      <a:noFill/>
                    </a:lnR>
                    <a:lnT w="0" cap="flat" cmpd="sng" algn="ctr">
                      <a:noFill/>
                    </a:lnT>
                    <a:lnB w="12700" cap="flat" cmpd="sng" algn="ctr">
                      <a:solidFill>
                        <a:srgbClr val="15181D"/>
                      </a:solidFill>
                      <a:prstDash val="solid"/>
                      <a:round/>
                      <a:headEnd type="none" w="med" len="med"/>
                      <a:tailEnd type="none" w="med" len="med"/>
                    </a:lnB>
                  </a:tcPr>
                </a:tc>
              </a:tr>
              <a:tr h="329184">
                <a:tc>
                  <a:txBody>
                    <a:bodyPr/>
                    <a:lstStyle/>
                    <a:p>
                      <a:pPr indent="0" marL="0">
                        <a:buNone/>
                      </a:pPr>
                      <a:r>
                        <a:rPr lang="en-US" sz="1250" dirty="0">
                          <a:solidFill>
                            <a:srgbClr val="15181D"/>
                          </a:solidFill>
                        </a:rPr>
                        <a:t>Lexical analysis</a:t>
                      </a:r>
                      <a:endParaRPr lang="en-US" sz="1250" dirty="0"/>
                    </a:p>
                  </a:txBody>
                  <a:tcPr marL="91440" marR="91440" marT="64008" marB="64008" anchor="ctr">
                    <a:lnL w="0" cap="flat" cmpd="sng" algn="ctr">
                      <a:noFill/>
                    </a:lnL>
                    <a:lnR w="0" cap="flat" cmpd="sng" algn="ctr">
                      <a:noFill/>
                    </a:lnR>
                    <a:lnT w="0" cap="flat" cmpd="sng" algn="ctr">
                      <a:noFill/>
                    </a:lnT>
                    <a:lnB w="9525" cap="flat" cmpd="sng" algn="ctr">
                      <a:solidFill>
                        <a:srgbClr val="DADDE2"/>
                      </a:solidFill>
                      <a:prstDash val="solid"/>
                      <a:round/>
                      <a:headEnd type="none" w="med" len="med"/>
                      <a:tailEnd type="none" w="med" len="med"/>
                    </a:lnB>
                  </a:tcPr>
                </a:tc>
                <a:tc>
                  <a:txBody>
                    <a:bodyPr/>
                    <a:lstStyle/>
                    <a:p>
                      <a:pPr indent="0" marL="0">
                        <a:buNone/>
                      </a:pPr>
                      <a:r>
                        <a:rPr lang="en-US" sz="1200" dirty="0">
                          <a:solidFill>
                            <a:srgbClr val="15181D"/>
                          </a:solidFill>
                          <a:latin typeface="Consolas" pitchFamily="34" charset="0"/>
                          <a:ea typeface="Consolas" pitchFamily="34" charset="-122"/>
                          <a:cs typeface="Consolas" pitchFamily="34" charset="-120"/>
                        </a:rPr>
                        <a:t>FR-L1 – L5</a:t>
                      </a:r>
                      <a:endParaRPr lang="en-US" sz="1200" dirty="0">
                        <a:latin typeface="Consolas" charset="0"/>
                        <a:ea typeface="Consolas" charset="0"/>
                        <a:cs typeface="Consolas" charset="0"/>
                      </a:endParaRPr>
                    </a:p>
                  </a:txBody>
                  <a:tcPr marL="91440" marR="91440" marT="64008" marB="64008" anchor="ctr">
                    <a:lnL w="0" cap="flat" cmpd="sng" algn="ctr">
                      <a:noFill/>
                    </a:lnL>
                    <a:lnR w="0" cap="flat" cmpd="sng" algn="ctr">
                      <a:noFill/>
                    </a:lnR>
                    <a:lnT w="0" cap="flat" cmpd="sng" algn="ctr">
                      <a:noFill/>
                    </a:lnT>
                    <a:lnB w="9525" cap="flat" cmpd="sng" algn="ctr">
                      <a:solidFill>
                        <a:srgbClr val="DADDE2"/>
                      </a:solidFill>
                      <a:prstDash val="solid"/>
                      <a:round/>
                      <a:headEnd type="none" w="med" len="med"/>
                      <a:tailEnd type="none" w="med" len="med"/>
                    </a:lnB>
                  </a:tcPr>
                </a:tc>
                <a:tc>
                  <a:txBody>
                    <a:bodyPr/>
                    <a:lstStyle/>
                    <a:p>
                      <a:pPr indent="0" marL="0">
                        <a:buNone/>
                      </a:pPr>
                      <a:r>
                        <a:rPr lang="en-US" sz="1250" b="1" dirty="0">
                          <a:solidFill>
                            <a:srgbClr val="1F7A4D"/>
                          </a:solidFill>
                        </a:rPr>
                        <a:t>done</a:t>
                      </a:r>
                      <a:endParaRPr lang="en-US" sz="1250" dirty="0"/>
                    </a:p>
                  </a:txBody>
                  <a:tcPr marL="91440" marR="91440" marT="64008" marB="64008" anchor="ctr">
                    <a:lnL w="0" cap="flat" cmpd="sng" algn="ctr">
                      <a:noFill/>
                    </a:lnL>
                    <a:lnR w="0" cap="flat" cmpd="sng" algn="ctr">
                      <a:noFill/>
                    </a:lnR>
                    <a:lnT w="0" cap="flat" cmpd="sng" algn="ctr">
                      <a:noFill/>
                    </a:lnT>
                    <a:lnB w="9525" cap="flat" cmpd="sng" algn="ctr">
                      <a:solidFill>
                        <a:srgbClr val="DADDE2"/>
                      </a:solidFill>
                      <a:prstDash val="solid"/>
                      <a:round/>
                      <a:headEnd type="none" w="med" len="med"/>
                      <a:tailEnd type="none" w="med" len="med"/>
                    </a:lnB>
                  </a:tcPr>
                </a:tc>
              </a:tr>
              <a:tr h="329184">
                <a:tc>
                  <a:txBody>
                    <a:bodyPr/>
                    <a:lstStyle/>
                    <a:p>
                      <a:pPr indent="0" marL="0">
                        <a:buNone/>
                      </a:pPr>
                      <a:r>
                        <a:rPr lang="en-US" sz="1250" dirty="0">
                          <a:solidFill>
                            <a:srgbClr val="15181D"/>
                          </a:solidFill>
                        </a:rPr>
                        <a:t>Syntax analysis</a:t>
                      </a:r>
                      <a:endParaRPr lang="en-US" sz="1250" dirty="0"/>
                    </a:p>
                  </a:txBody>
                  <a:tcPr marL="91440" marR="91440" marT="64008" marB="64008" anchor="ctr">
                    <a:lnL w="0" cap="flat" cmpd="sng" algn="ctr">
                      <a:noFill/>
                    </a:lnL>
                    <a:lnR w="0" cap="flat" cmpd="sng" algn="ctr">
                      <a:noFill/>
                    </a:lnR>
                    <a:lnT w="0" cap="flat" cmpd="sng" algn="ctr">
                      <a:noFill/>
                    </a:lnT>
                    <a:lnB w="9525" cap="flat" cmpd="sng" algn="ctr">
                      <a:solidFill>
                        <a:srgbClr val="DADDE2"/>
                      </a:solidFill>
                      <a:prstDash val="solid"/>
                      <a:round/>
                      <a:headEnd type="none" w="med" len="med"/>
                      <a:tailEnd type="none" w="med" len="med"/>
                    </a:lnB>
                  </a:tcPr>
                </a:tc>
                <a:tc>
                  <a:txBody>
                    <a:bodyPr/>
                    <a:lstStyle/>
                    <a:p>
                      <a:pPr indent="0" marL="0">
                        <a:buNone/>
                      </a:pPr>
                      <a:r>
                        <a:rPr lang="en-US" sz="1200" dirty="0">
                          <a:solidFill>
                            <a:srgbClr val="15181D"/>
                          </a:solidFill>
                          <a:latin typeface="Consolas" pitchFamily="34" charset="0"/>
                          <a:ea typeface="Consolas" pitchFamily="34" charset="-122"/>
                          <a:cs typeface="Consolas" pitchFamily="34" charset="-120"/>
                        </a:rPr>
                        <a:t>FR-P1 – P4</a:t>
                      </a:r>
                      <a:endParaRPr lang="en-US" sz="1200" dirty="0">
                        <a:latin typeface="Consolas" charset="0"/>
                        <a:ea typeface="Consolas" charset="0"/>
                        <a:cs typeface="Consolas" charset="0"/>
                      </a:endParaRPr>
                    </a:p>
                  </a:txBody>
                  <a:tcPr marL="91440" marR="91440" marT="64008" marB="64008" anchor="ctr">
                    <a:lnL w="0" cap="flat" cmpd="sng" algn="ctr">
                      <a:noFill/>
                    </a:lnL>
                    <a:lnR w="0" cap="flat" cmpd="sng" algn="ctr">
                      <a:noFill/>
                    </a:lnR>
                    <a:lnT w="0" cap="flat" cmpd="sng" algn="ctr">
                      <a:noFill/>
                    </a:lnT>
                    <a:lnB w="9525" cap="flat" cmpd="sng" algn="ctr">
                      <a:solidFill>
                        <a:srgbClr val="DADDE2"/>
                      </a:solidFill>
                      <a:prstDash val="solid"/>
                      <a:round/>
                      <a:headEnd type="none" w="med" len="med"/>
                      <a:tailEnd type="none" w="med" len="med"/>
                    </a:lnB>
                  </a:tcPr>
                </a:tc>
                <a:tc>
                  <a:txBody>
                    <a:bodyPr/>
                    <a:lstStyle/>
                    <a:p>
                      <a:pPr indent="0" marL="0">
                        <a:buNone/>
                      </a:pPr>
                      <a:r>
                        <a:rPr lang="en-US" sz="1250" b="1" dirty="0">
                          <a:solidFill>
                            <a:srgbClr val="1F7A4D"/>
                          </a:solidFill>
                        </a:rPr>
                        <a:t>done</a:t>
                      </a:r>
                      <a:endParaRPr lang="en-US" sz="1250" dirty="0"/>
                    </a:p>
                  </a:txBody>
                  <a:tcPr marL="91440" marR="91440" marT="64008" marB="64008" anchor="ctr">
                    <a:lnL w="0" cap="flat" cmpd="sng" algn="ctr">
                      <a:noFill/>
                    </a:lnL>
                    <a:lnR w="0" cap="flat" cmpd="sng" algn="ctr">
                      <a:noFill/>
                    </a:lnR>
                    <a:lnT w="0" cap="flat" cmpd="sng" algn="ctr">
                      <a:noFill/>
                    </a:lnT>
                    <a:lnB w="9525" cap="flat" cmpd="sng" algn="ctr">
                      <a:solidFill>
                        <a:srgbClr val="DADDE2"/>
                      </a:solidFill>
                      <a:prstDash val="solid"/>
                      <a:round/>
                      <a:headEnd type="none" w="med" len="med"/>
                      <a:tailEnd type="none" w="med" len="med"/>
                    </a:lnB>
                  </a:tcPr>
                </a:tc>
              </a:tr>
              <a:tr h="329184">
                <a:tc>
                  <a:txBody>
                    <a:bodyPr/>
                    <a:lstStyle/>
                    <a:p>
                      <a:pPr indent="0" marL="0">
                        <a:buNone/>
                      </a:pPr>
                      <a:r>
                        <a:rPr lang="en-US" sz="1250" dirty="0">
                          <a:solidFill>
                            <a:srgbClr val="15181D"/>
                          </a:solidFill>
                        </a:rPr>
                        <a:t>Caret diagnostics, exit codes</a:t>
                      </a:r>
                      <a:endParaRPr lang="en-US" sz="1250" dirty="0"/>
                    </a:p>
                  </a:txBody>
                  <a:tcPr marL="91440" marR="91440" marT="64008" marB="64008" anchor="ctr">
                    <a:lnL w="0" cap="flat" cmpd="sng" algn="ctr">
                      <a:noFill/>
                    </a:lnL>
                    <a:lnR w="0" cap="flat" cmpd="sng" algn="ctr">
                      <a:noFill/>
                    </a:lnR>
                    <a:lnT w="0" cap="flat" cmpd="sng" algn="ctr">
                      <a:noFill/>
                    </a:lnT>
                    <a:lnB w="9525" cap="flat" cmpd="sng" algn="ctr">
                      <a:solidFill>
                        <a:srgbClr val="DADDE2"/>
                      </a:solidFill>
                      <a:prstDash val="solid"/>
                      <a:round/>
                      <a:headEnd type="none" w="med" len="med"/>
                      <a:tailEnd type="none" w="med" len="med"/>
                    </a:lnB>
                  </a:tcPr>
                </a:tc>
                <a:tc>
                  <a:txBody>
                    <a:bodyPr/>
                    <a:lstStyle/>
                    <a:p>
                      <a:pPr indent="0" marL="0">
                        <a:buNone/>
                      </a:pPr>
                      <a:r>
                        <a:rPr lang="en-US" sz="1200" dirty="0">
                          <a:solidFill>
                            <a:srgbClr val="15181D"/>
                          </a:solidFill>
                          <a:latin typeface="Consolas" pitchFamily="34" charset="0"/>
                          <a:ea typeface="Consolas" pitchFamily="34" charset="-122"/>
                          <a:cs typeface="Consolas" pitchFamily="34" charset="-120"/>
                        </a:rPr>
                        <a:t>FR-S3, FR-C2</a:t>
                      </a:r>
                      <a:endParaRPr lang="en-US" sz="1200" dirty="0">
                        <a:latin typeface="Consolas" charset="0"/>
                        <a:ea typeface="Consolas" charset="0"/>
                        <a:cs typeface="Consolas" charset="0"/>
                      </a:endParaRPr>
                    </a:p>
                  </a:txBody>
                  <a:tcPr marL="91440" marR="91440" marT="64008" marB="64008" anchor="ctr">
                    <a:lnL w="0" cap="flat" cmpd="sng" algn="ctr">
                      <a:noFill/>
                    </a:lnL>
                    <a:lnR w="0" cap="flat" cmpd="sng" algn="ctr">
                      <a:noFill/>
                    </a:lnR>
                    <a:lnT w="0" cap="flat" cmpd="sng" algn="ctr">
                      <a:noFill/>
                    </a:lnT>
                    <a:lnB w="9525" cap="flat" cmpd="sng" algn="ctr">
                      <a:solidFill>
                        <a:srgbClr val="DADDE2"/>
                      </a:solidFill>
                      <a:prstDash val="solid"/>
                      <a:round/>
                      <a:headEnd type="none" w="med" len="med"/>
                      <a:tailEnd type="none" w="med" len="med"/>
                    </a:lnB>
                  </a:tcPr>
                </a:tc>
                <a:tc>
                  <a:txBody>
                    <a:bodyPr/>
                    <a:lstStyle/>
                    <a:p>
                      <a:pPr indent="0" marL="0">
                        <a:buNone/>
                      </a:pPr>
                      <a:r>
                        <a:rPr lang="en-US" sz="1250" b="1" dirty="0">
                          <a:solidFill>
                            <a:srgbClr val="1F7A4D"/>
                          </a:solidFill>
                        </a:rPr>
                        <a:t>done</a:t>
                      </a:r>
                      <a:endParaRPr lang="en-US" sz="1250" dirty="0"/>
                    </a:p>
                  </a:txBody>
                  <a:tcPr marL="91440" marR="91440" marT="64008" marB="64008" anchor="ctr">
                    <a:lnL w="0" cap="flat" cmpd="sng" algn="ctr">
                      <a:noFill/>
                    </a:lnL>
                    <a:lnR w="0" cap="flat" cmpd="sng" algn="ctr">
                      <a:noFill/>
                    </a:lnR>
                    <a:lnT w="0" cap="flat" cmpd="sng" algn="ctr">
                      <a:noFill/>
                    </a:lnT>
                    <a:lnB w="9525" cap="flat" cmpd="sng" algn="ctr">
                      <a:solidFill>
                        <a:srgbClr val="DADDE2"/>
                      </a:solidFill>
                      <a:prstDash val="solid"/>
                      <a:round/>
                      <a:headEnd type="none" w="med" len="med"/>
                      <a:tailEnd type="none" w="med" len="med"/>
                    </a:lnB>
                  </a:tcPr>
                </a:tc>
              </a:tr>
              <a:tr h="329184">
                <a:tc>
                  <a:txBody>
                    <a:bodyPr/>
                    <a:lstStyle/>
                    <a:p>
                      <a:pPr indent="0" marL="0">
                        <a:buNone/>
                      </a:pPr>
                      <a:r>
                        <a:rPr lang="en-US" sz="1250" dirty="0">
                          <a:solidFill>
                            <a:srgbClr val="15181D"/>
                          </a:solidFill>
                        </a:rPr>
                        <a:t>CLI flags, dump flags, no output on error</a:t>
                      </a:r>
                      <a:endParaRPr lang="en-US" sz="1250" dirty="0"/>
                    </a:p>
                  </a:txBody>
                  <a:tcPr marL="91440" marR="91440" marT="64008" marB="64008" anchor="ctr">
                    <a:lnL w="0" cap="flat" cmpd="sng" algn="ctr">
                      <a:noFill/>
                    </a:lnL>
                    <a:lnR w="0" cap="flat" cmpd="sng" algn="ctr">
                      <a:noFill/>
                    </a:lnR>
                    <a:lnT w="0" cap="flat" cmpd="sng" algn="ctr">
                      <a:noFill/>
                    </a:lnT>
                    <a:lnB w="9525" cap="flat" cmpd="sng" algn="ctr">
                      <a:solidFill>
                        <a:srgbClr val="DADDE2"/>
                      </a:solidFill>
                      <a:prstDash val="solid"/>
                      <a:round/>
                      <a:headEnd type="none" w="med" len="med"/>
                      <a:tailEnd type="none" w="med" len="med"/>
                    </a:lnB>
                  </a:tcPr>
                </a:tc>
                <a:tc>
                  <a:txBody>
                    <a:bodyPr/>
                    <a:lstStyle/>
                    <a:p>
                      <a:pPr indent="0" marL="0">
                        <a:buNone/>
                      </a:pPr>
                      <a:r>
                        <a:rPr lang="en-US" sz="1200" dirty="0">
                          <a:solidFill>
                            <a:srgbClr val="15181D"/>
                          </a:solidFill>
                          <a:latin typeface="Consolas" pitchFamily="34" charset="0"/>
                          <a:ea typeface="Consolas" pitchFamily="34" charset="-122"/>
                          <a:cs typeface="Consolas" pitchFamily="34" charset="-120"/>
                        </a:rPr>
                        <a:t>FR-C1, C3, S4</a:t>
                      </a:r>
                      <a:endParaRPr lang="en-US" sz="1200" dirty="0">
                        <a:latin typeface="Consolas" charset="0"/>
                        <a:ea typeface="Consolas" charset="0"/>
                        <a:cs typeface="Consolas" charset="0"/>
                      </a:endParaRPr>
                    </a:p>
                  </a:txBody>
                  <a:tcPr marL="91440" marR="91440" marT="64008" marB="64008" anchor="ctr">
                    <a:lnL w="0" cap="flat" cmpd="sng" algn="ctr">
                      <a:noFill/>
                    </a:lnL>
                    <a:lnR w="0" cap="flat" cmpd="sng" algn="ctr">
                      <a:noFill/>
                    </a:lnR>
                    <a:lnT w="0" cap="flat" cmpd="sng" algn="ctr">
                      <a:noFill/>
                    </a:lnT>
                    <a:lnB w="9525" cap="flat" cmpd="sng" algn="ctr">
                      <a:solidFill>
                        <a:srgbClr val="DADDE2"/>
                      </a:solidFill>
                      <a:prstDash val="solid"/>
                      <a:round/>
                      <a:headEnd type="none" w="med" len="med"/>
                      <a:tailEnd type="none" w="med" len="med"/>
                    </a:lnB>
                  </a:tcPr>
                </a:tc>
                <a:tc>
                  <a:txBody>
                    <a:bodyPr/>
                    <a:lstStyle/>
                    <a:p>
                      <a:pPr indent="0" marL="0">
                        <a:buNone/>
                      </a:pPr>
                      <a:r>
                        <a:rPr lang="en-US" sz="1250" b="1" dirty="0">
                          <a:solidFill>
                            <a:srgbClr val="9A6700"/>
                          </a:solidFill>
                        </a:rPr>
                        <a:t>partial</a:t>
                      </a:r>
                      <a:endParaRPr lang="en-US" sz="1250" dirty="0"/>
                    </a:p>
                  </a:txBody>
                  <a:tcPr marL="91440" marR="91440" marT="64008" marB="64008" anchor="ctr">
                    <a:lnL w="0" cap="flat" cmpd="sng" algn="ctr">
                      <a:noFill/>
                    </a:lnL>
                    <a:lnR w="0" cap="flat" cmpd="sng" algn="ctr">
                      <a:noFill/>
                    </a:lnR>
                    <a:lnT w="0" cap="flat" cmpd="sng" algn="ctr">
                      <a:noFill/>
                    </a:lnT>
                    <a:lnB w="9525" cap="flat" cmpd="sng" algn="ctr">
                      <a:solidFill>
                        <a:srgbClr val="DADDE2"/>
                      </a:solidFill>
                      <a:prstDash val="solid"/>
                      <a:round/>
                      <a:headEnd type="none" w="med" len="med"/>
                      <a:tailEnd type="none" w="med" len="med"/>
                    </a:lnB>
                  </a:tcPr>
                </a:tc>
              </a:tr>
              <a:tr h="329184">
                <a:tc>
                  <a:txBody>
                    <a:bodyPr/>
                    <a:lstStyle/>
                    <a:p>
                      <a:pPr indent="0" marL="0">
                        <a:buNone/>
                      </a:pPr>
                      <a:r>
                        <a:rPr lang="en-US" sz="1250" dirty="0">
                          <a:solidFill>
                            <a:srgbClr val="15181D"/>
                          </a:solidFill>
                        </a:rPr>
                        <a:t>Non-functional: no generators, deterministic, fast, testable</a:t>
                      </a:r>
                      <a:endParaRPr lang="en-US" sz="1250" dirty="0"/>
                    </a:p>
                  </a:txBody>
                  <a:tcPr marL="91440" marR="91440" marT="64008" marB="64008" anchor="ctr">
                    <a:lnL w="0" cap="flat" cmpd="sng" algn="ctr">
                      <a:noFill/>
                    </a:lnL>
                    <a:lnR w="0" cap="flat" cmpd="sng" algn="ctr">
                      <a:noFill/>
                    </a:lnR>
                    <a:lnT w="0" cap="flat" cmpd="sng" algn="ctr">
                      <a:noFill/>
                    </a:lnT>
                    <a:lnB w="9525" cap="flat" cmpd="sng" algn="ctr">
                      <a:solidFill>
                        <a:srgbClr val="DADDE2"/>
                      </a:solidFill>
                      <a:prstDash val="solid"/>
                      <a:round/>
                      <a:headEnd type="none" w="med" len="med"/>
                      <a:tailEnd type="none" w="med" len="med"/>
                    </a:lnB>
                  </a:tcPr>
                </a:tc>
                <a:tc>
                  <a:txBody>
                    <a:bodyPr/>
                    <a:lstStyle/>
                    <a:p>
                      <a:pPr indent="0" marL="0">
                        <a:buNone/>
                      </a:pPr>
                      <a:r>
                        <a:rPr lang="en-US" sz="1200" dirty="0">
                          <a:solidFill>
                            <a:srgbClr val="15181D"/>
                          </a:solidFill>
                          <a:latin typeface="Consolas" pitchFamily="34" charset="0"/>
                          <a:ea typeface="Consolas" pitchFamily="34" charset="-122"/>
                          <a:cs typeface="Consolas" pitchFamily="34" charset="-120"/>
                        </a:rPr>
                        <a:t>NFR-1, 2, 3, 6</a:t>
                      </a:r>
                      <a:endParaRPr lang="en-US" sz="1200" dirty="0">
                        <a:latin typeface="Consolas" charset="0"/>
                        <a:ea typeface="Consolas" charset="0"/>
                        <a:cs typeface="Consolas" charset="0"/>
                      </a:endParaRPr>
                    </a:p>
                  </a:txBody>
                  <a:tcPr marL="91440" marR="91440" marT="64008" marB="64008" anchor="ctr">
                    <a:lnL w="0" cap="flat" cmpd="sng" algn="ctr">
                      <a:noFill/>
                    </a:lnL>
                    <a:lnR w="0" cap="flat" cmpd="sng" algn="ctr">
                      <a:noFill/>
                    </a:lnR>
                    <a:lnT w="0" cap="flat" cmpd="sng" algn="ctr">
                      <a:noFill/>
                    </a:lnT>
                    <a:lnB w="9525" cap="flat" cmpd="sng" algn="ctr">
                      <a:solidFill>
                        <a:srgbClr val="DADDE2"/>
                      </a:solidFill>
                      <a:prstDash val="solid"/>
                      <a:round/>
                      <a:headEnd type="none" w="med" len="med"/>
                      <a:tailEnd type="none" w="med" len="med"/>
                    </a:lnB>
                  </a:tcPr>
                </a:tc>
                <a:tc>
                  <a:txBody>
                    <a:bodyPr/>
                    <a:lstStyle/>
                    <a:p>
                      <a:pPr indent="0" marL="0">
                        <a:buNone/>
                      </a:pPr>
                      <a:r>
                        <a:rPr lang="en-US" sz="1250" b="1" dirty="0">
                          <a:solidFill>
                            <a:srgbClr val="1F7A4D"/>
                          </a:solidFill>
                        </a:rPr>
                        <a:t>holds</a:t>
                      </a:r>
                      <a:endParaRPr lang="en-US" sz="1250" dirty="0"/>
                    </a:p>
                  </a:txBody>
                  <a:tcPr marL="91440" marR="91440" marT="64008" marB="64008" anchor="ctr">
                    <a:lnL w="0" cap="flat" cmpd="sng" algn="ctr">
                      <a:noFill/>
                    </a:lnL>
                    <a:lnR w="0" cap="flat" cmpd="sng" algn="ctr">
                      <a:noFill/>
                    </a:lnR>
                    <a:lnT w="0" cap="flat" cmpd="sng" algn="ctr">
                      <a:noFill/>
                    </a:lnT>
                    <a:lnB w="9525" cap="flat" cmpd="sng" algn="ctr">
                      <a:solidFill>
                        <a:srgbClr val="DADDE2"/>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138160" y="25603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9AA1AC"/>
                </a:solidFill>
                <a:latin typeface="Consolas"/>
                <a:ea typeface="Consolas"/>
                <a:cs typeface="Consolas"/>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5486400" cy="228600"/>
          </a:xfrm>
          <a:prstGeom prst="rect">
            <a:avLst/>
          </a:prstGeom>
          <a:noFill/>
          <a:ln/>
        </p:spPr>
        <p:txBody>
          <a:bodyPr wrap="square" lIns="0" tIns="0" rIns="0" bIns="0" rtlCol="0"/>
          <a:lstStyle/>
          <a:p>
            <a:pPr indent="0" marL="0">
              <a:buNone/>
            </a:pPr>
            <a:r>
              <a:rPr lang="en-US" sz="1000" dirty="0">
                <a:solidFill>
                  <a:schemeClr val="accent5"/>
                </a:solidFill>
                <a:latin typeface="Consolas" pitchFamily="34" charset="0"/>
                <a:ea typeface="Consolas" pitchFamily="34" charset="-122"/>
                <a:cs typeface="Consolas" pitchFamily="34" charset="-120"/>
              </a:rPr>
              <a:t>tether / plan</a:t>
            </a:r>
            <a:endParaRPr lang="en-US" sz="1000" dirty="0"/>
          </a:p>
        </p:txBody>
      </p:sp>
      <p:sp>
        <p:nvSpPr>
          <p:cNvPr id="3" name="Text 0"/>
          <p:cNvSpPr/>
          <p:nvPr>
            <p:ph idx="101" type="title" hasCustomPrompt="1"/>
          </p:nvPr>
        </p:nvSpPr>
        <p:spPr>
          <a:xfrm>
            <a:off x="548640" y="502920"/>
            <a:ext cx="8046720" cy="640080"/>
          </a:xfrm>
          <a:prstGeom prst="rect">
            <a:avLst/>
          </a:prstGeom>
          <a:noFill/>
          <a:ln/>
        </p:spPr>
        <p:txBody>
          <a:bodyPr wrap="square" lIns="0" tIns="0" rIns="0" bIns="0" rtlCol="0" anchor="t"/>
          <a:lstStyle/>
          <a:p>
            <a:pPr algn="l" indent="0" marL="0">
              <a:buNone/>
            </a:pPr>
            <a:r>
              <a:rPr lang="en-US" sz="2800" b="1" dirty="0">
                <a:solidFill>
                  <a:schemeClr val="tx1"/>
                </a:solidFill>
              </a:rPr>
              <a:t>Plan for the remaining 75%</a:t>
            </a:r>
            <a:endParaRPr lang="en-US" sz="28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8046720" cy="914400"/>
        </p:xfrm>
        <a:graphic>
          <a:graphicData uri="http://schemas.openxmlformats.org/drawingml/2006/table">
            <a:tbl>
              <a:tblPr/>
              <a:tblGrid>
                <a:gridCol w="822960"/>
                <a:gridCol w="4206240"/>
                <a:gridCol w="3017520"/>
              </a:tblGrid>
              <a:tr h="438912">
                <a:tc>
                  <a:txBody>
                    <a:bodyPr/>
                    <a:lstStyle/>
                    <a:p>
                      <a:pPr indent="0" marL="0">
                        <a:buNone/>
                      </a:pPr>
                      <a:r>
                        <a:rPr lang="en-US" sz="1100" b="1" dirty="0">
                          <a:solidFill>
                            <a:srgbClr val="4A5260"/>
                          </a:solidFill>
                        </a:rPr>
                        <a:t>Week</a:t>
                      </a:r>
                      <a:endParaRPr lang="en-US" sz="1100" dirty="0"/>
                    </a:p>
                  </a:txBody>
                  <a:tcPr marL="91440" marR="91440" marT="64008" marB="64008" anchor="ctr">
                    <a:lnL w="0" cap="flat" cmpd="sng" algn="ctr">
                      <a:noFill/>
                    </a:lnL>
                    <a:lnR w="0" cap="flat" cmpd="sng" algn="ctr">
                      <a:noFill/>
                    </a:lnR>
                    <a:lnT w="0" cap="flat" cmpd="sng" algn="ctr">
                      <a:noFill/>
                    </a:lnT>
                    <a:lnB w="12700" cap="flat" cmpd="sng" algn="ctr">
                      <a:solidFill>
                        <a:srgbClr val="15181D"/>
                      </a:solidFill>
                      <a:prstDash val="solid"/>
                      <a:round/>
                      <a:headEnd type="none" w="med" len="med"/>
                      <a:tailEnd type="none" w="med" len="med"/>
                    </a:lnB>
                  </a:tcPr>
                </a:tc>
                <a:tc>
                  <a:txBody>
                    <a:bodyPr/>
                    <a:lstStyle/>
                    <a:p>
                      <a:pPr indent="0" marL="0">
                        <a:buNone/>
                      </a:pPr>
                      <a:r>
                        <a:rPr lang="en-US" sz="1100" b="1" dirty="0">
                          <a:solidFill>
                            <a:srgbClr val="4A5260"/>
                          </a:solidFill>
                        </a:rPr>
                        <a:t>Deliverable</a:t>
                      </a:r>
                      <a:endParaRPr lang="en-US" sz="1100" dirty="0"/>
                    </a:p>
                  </a:txBody>
                  <a:tcPr marL="91440" marR="91440" marT="64008" marB="64008" anchor="ctr">
                    <a:lnL w="0" cap="flat" cmpd="sng" algn="ctr">
                      <a:noFill/>
                    </a:lnL>
                    <a:lnR w="0" cap="flat" cmpd="sng" algn="ctr">
                      <a:noFill/>
                    </a:lnR>
                    <a:lnT w="0" cap="flat" cmpd="sng" algn="ctr">
                      <a:noFill/>
                    </a:lnT>
                    <a:lnB w="12700" cap="flat" cmpd="sng" algn="ctr">
                      <a:solidFill>
                        <a:srgbClr val="15181D"/>
                      </a:solidFill>
                      <a:prstDash val="solid"/>
                      <a:round/>
                      <a:headEnd type="none" w="med" len="med"/>
                      <a:tailEnd type="none" w="med" len="med"/>
                    </a:lnB>
                  </a:tcPr>
                </a:tc>
                <a:tc>
                  <a:txBody>
                    <a:bodyPr/>
                    <a:lstStyle/>
                    <a:p>
                      <a:pPr indent="0" marL="0">
                        <a:buNone/>
                      </a:pPr>
                      <a:r>
                        <a:rPr lang="en-US" sz="1100" b="1" dirty="0">
                          <a:solidFill>
                            <a:srgbClr val="4A5260"/>
                          </a:solidFill>
                        </a:rPr>
                        <a:t>Exit check</a:t>
                      </a:r>
                      <a:endParaRPr lang="en-US" sz="1100" dirty="0"/>
                    </a:p>
                  </a:txBody>
                  <a:tcPr marL="91440" marR="91440" marT="64008" marB="64008" anchor="ctr">
                    <a:lnL w="0" cap="flat" cmpd="sng" algn="ctr">
                      <a:noFill/>
                    </a:lnL>
                    <a:lnR w="0" cap="flat" cmpd="sng" algn="ctr">
                      <a:noFill/>
                    </a:lnR>
                    <a:lnT w="0" cap="flat" cmpd="sng" algn="ctr">
                      <a:noFill/>
                    </a:lnT>
                    <a:lnB w="12700" cap="flat" cmpd="sng" algn="ctr">
                      <a:solidFill>
                        <a:srgbClr val="15181D"/>
                      </a:solidFill>
                      <a:prstDash val="solid"/>
                      <a:round/>
                      <a:headEnd type="none" w="med" len="med"/>
                      <a:tailEnd type="none" w="med" len="med"/>
                    </a:lnB>
                  </a:tcPr>
                </a:tc>
              </a:tr>
              <a:tr h="438912">
                <a:tc>
                  <a:txBody>
                    <a:bodyPr/>
                    <a:lstStyle/>
                    <a:p>
                      <a:pPr indent="0" marL="0">
                        <a:buNone/>
                      </a:pPr>
                      <a:r>
                        <a:rPr lang="en-US" sz="1300" b="1" dirty="0">
                          <a:solidFill>
                            <a:srgbClr val="15181D"/>
                          </a:solidFill>
                          <a:latin typeface="Consolas" pitchFamily="34" charset="0"/>
                          <a:ea typeface="Consolas" pitchFamily="34" charset="-122"/>
                          <a:cs typeface="Consolas" pitchFamily="34" charset="-120"/>
                        </a:rPr>
                        <a:t>M3</a:t>
                      </a:r>
                      <a:endParaRPr lang="en-US" sz="1300" dirty="0">
                        <a:latin typeface="Consolas" charset="0"/>
                        <a:ea typeface="Consolas" charset="0"/>
                        <a:cs typeface="Consolas" charset="0"/>
                      </a:endParaRPr>
                    </a:p>
                  </a:txBody>
                  <a:tcPr marL="91440" marR="91440" marT="64008" marB="64008" anchor="ctr">
                    <a:lnL w="0" cap="flat" cmpd="sng" algn="ctr">
                      <a:noFill/>
                    </a:lnL>
                    <a:lnR w="0" cap="flat" cmpd="sng" algn="ctr">
                      <a:noFill/>
                    </a:lnR>
                    <a:lnT w="0" cap="flat" cmpd="sng" algn="ctr">
                      <a:noFill/>
                    </a:lnT>
                    <a:lnB w="9525" cap="flat" cmpd="sng" algn="ctr">
                      <a:solidFill>
                        <a:srgbClr val="DADDE2"/>
                      </a:solidFill>
                      <a:prstDash val="solid"/>
                      <a:round/>
                      <a:headEnd type="none" w="med" len="med"/>
                      <a:tailEnd type="none" w="med" len="med"/>
                    </a:lnB>
                    <a:solidFill>
                      <a:srgbClr val="FDF0D2"/>
                    </a:solidFill>
                  </a:tcPr>
                </a:tc>
                <a:tc>
                  <a:txBody>
                    <a:bodyPr/>
                    <a:lstStyle/>
                    <a:p>
                      <a:pPr indent="0" marL="0">
                        <a:buNone/>
                      </a:pPr>
                      <a:r>
                        <a:rPr lang="en-US" sz="1300" dirty="0">
                          <a:solidFill>
                            <a:srgbClr val="15181D"/>
                          </a:solidFill>
                        </a:rPr>
                        <a:t>Symbol table, type checker, missing-return analysis</a:t>
                      </a:r>
                      <a:endParaRPr lang="en-US" sz="1300" dirty="0"/>
                    </a:p>
                  </a:txBody>
                  <a:tcPr marL="91440" marR="91440" marT="64008" marB="64008" anchor="ctr">
                    <a:lnL w="0" cap="flat" cmpd="sng" algn="ctr">
                      <a:noFill/>
                    </a:lnL>
                    <a:lnR w="0" cap="flat" cmpd="sng" algn="ctr">
                      <a:noFill/>
                    </a:lnR>
                    <a:lnT w="0" cap="flat" cmpd="sng" algn="ctr">
                      <a:noFill/>
                    </a:lnT>
                    <a:lnB w="9525" cap="flat" cmpd="sng" algn="ctr">
                      <a:solidFill>
                        <a:srgbClr val="DADDE2"/>
                      </a:solidFill>
                      <a:prstDash val="solid"/>
                      <a:round/>
                      <a:headEnd type="none" w="med" len="med"/>
                      <a:tailEnd type="none" w="med" len="med"/>
                    </a:lnB>
                    <a:solidFill>
                      <a:srgbClr val="FDF0D2"/>
                    </a:solidFill>
                  </a:tcPr>
                </a:tc>
                <a:tc>
                  <a:txBody>
                    <a:bodyPr/>
                    <a:lstStyle/>
                    <a:p>
                      <a:pPr indent="0" marL="0">
                        <a:buNone/>
                      </a:pPr>
                      <a:r>
                        <a:rPr lang="en-US" sz="1300" dirty="0">
                          <a:solidFill>
                            <a:srgbClr val="15181D"/>
                          </a:solidFill>
                        </a:rPr>
                        <a:t>AC-4: five semantic errors in one run</a:t>
                      </a:r>
                      <a:endParaRPr lang="en-US" sz="1300" dirty="0"/>
                    </a:p>
                  </a:txBody>
                  <a:tcPr marL="91440" marR="91440" marT="64008" marB="64008" anchor="ctr">
                    <a:lnL w="0" cap="flat" cmpd="sng" algn="ctr">
                      <a:noFill/>
                    </a:lnL>
                    <a:lnR w="0" cap="flat" cmpd="sng" algn="ctr">
                      <a:noFill/>
                    </a:lnR>
                    <a:lnT w="0" cap="flat" cmpd="sng" algn="ctr">
                      <a:noFill/>
                    </a:lnT>
                    <a:lnB w="9525" cap="flat" cmpd="sng" algn="ctr">
                      <a:solidFill>
                        <a:srgbClr val="DADDE2"/>
                      </a:solidFill>
                      <a:prstDash val="solid"/>
                      <a:round/>
                      <a:headEnd type="none" w="med" len="med"/>
                      <a:tailEnd type="none" w="med" len="med"/>
                    </a:lnB>
                    <a:solidFill>
                      <a:srgbClr val="FDF0D2"/>
                    </a:solidFill>
                  </a:tcPr>
                </a:tc>
              </a:tr>
              <a:tr h="438912">
                <a:tc>
                  <a:txBody>
                    <a:bodyPr/>
                    <a:lstStyle/>
                    <a:p>
                      <a:pPr indent="0" marL="0">
                        <a:buNone/>
                      </a:pPr>
                      <a:r>
                        <a:rPr lang="en-US" sz="1300" dirty="0">
                          <a:solidFill>
                            <a:srgbClr val="15181D"/>
                          </a:solidFill>
                          <a:latin typeface="Consolas" pitchFamily="34" charset="0"/>
                          <a:ea typeface="Consolas" pitchFamily="34" charset="-122"/>
                          <a:cs typeface="Consolas" pitchFamily="34" charset="-120"/>
                        </a:rPr>
                        <a:t>M4</a:t>
                      </a:r>
                      <a:endParaRPr lang="en-US" sz="1300" dirty="0">
                        <a:latin typeface="Consolas" charset="0"/>
                        <a:ea typeface="Consolas" charset="0"/>
                        <a:cs typeface="Consolas" charset="0"/>
                      </a:endParaRPr>
                    </a:p>
                  </a:txBody>
                  <a:tcPr marL="91440" marR="91440" marT="64008" marB="64008" anchor="ctr">
                    <a:lnL w="0" cap="flat" cmpd="sng" algn="ctr">
                      <a:noFill/>
                    </a:lnL>
                    <a:lnR w="0" cap="flat" cmpd="sng" algn="ctr">
                      <a:noFill/>
                    </a:lnR>
                    <a:lnT w="0" cap="flat" cmpd="sng" algn="ctr">
                      <a:noFill/>
                    </a:lnT>
                    <a:lnB w="9525" cap="flat" cmpd="sng" algn="ctr">
                      <a:solidFill>
                        <a:srgbClr val="DADDE2"/>
                      </a:solidFill>
                      <a:prstDash val="solid"/>
                      <a:round/>
                      <a:headEnd type="none" w="med" len="med"/>
                      <a:tailEnd type="none" w="med" len="med"/>
                    </a:lnB>
                  </a:tcPr>
                </a:tc>
                <a:tc>
                  <a:txBody>
                    <a:bodyPr/>
                    <a:lstStyle/>
                    <a:p>
                      <a:pPr indent="0" marL="0">
                        <a:buNone/>
                      </a:pPr>
                      <a:r>
                        <a:rPr lang="en-US" sz="1300" dirty="0">
                          <a:solidFill>
                            <a:srgbClr val="15181D"/>
                          </a:solidFill>
                        </a:rPr>
                        <a:t>Lowering (for → while, &amp;&amp; / ||), naive JS emitter</a:t>
                      </a:r>
                      <a:endParaRPr lang="en-US" sz="1300" dirty="0"/>
                    </a:p>
                  </a:txBody>
                  <a:tcPr marL="91440" marR="91440" marT="64008" marB="64008" anchor="ctr">
                    <a:lnL w="0" cap="flat" cmpd="sng" algn="ctr">
                      <a:noFill/>
                    </a:lnL>
                    <a:lnR w="0" cap="flat" cmpd="sng" algn="ctr">
                      <a:noFill/>
                    </a:lnR>
                    <a:lnT w="0" cap="flat" cmpd="sng" algn="ctr">
                      <a:noFill/>
                    </a:lnT>
                    <a:lnB w="9525" cap="flat" cmpd="sng" algn="ctr">
                      <a:solidFill>
                        <a:srgbClr val="DADDE2"/>
                      </a:solidFill>
                      <a:prstDash val="solid"/>
                      <a:round/>
                      <a:headEnd type="none" w="med" len="med"/>
                      <a:tailEnd type="none" w="med" len="med"/>
                    </a:lnB>
                  </a:tcPr>
                </a:tc>
                <a:tc>
                  <a:txBody>
                    <a:bodyPr/>
                    <a:lstStyle/>
                    <a:p>
                      <a:pPr indent="0" marL="0">
                        <a:buNone/>
                      </a:pPr>
                      <a:r>
                        <a:rPr lang="en-US" sz="1300" dirty="0">
                          <a:solidFill>
                            <a:srgbClr val="15181D"/>
                          </a:solidFill>
                        </a:rPr>
                        <a:t>AC-1: benchmarks print correct output</a:t>
                      </a:r>
                      <a:endParaRPr lang="en-US" sz="1300" dirty="0"/>
                    </a:p>
                  </a:txBody>
                  <a:tcPr marL="91440" marR="91440" marT="64008" marB="64008" anchor="ctr">
                    <a:lnL w="0" cap="flat" cmpd="sng" algn="ctr">
                      <a:noFill/>
                    </a:lnL>
                    <a:lnR w="0" cap="flat" cmpd="sng" algn="ctr">
                      <a:noFill/>
                    </a:lnR>
                    <a:lnT w="0" cap="flat" cmpd="sng" algn="ctr">
                      <a:noFill/>
                    </a:lnT>
                    <a:lnB w="9525" cap="flat" cmpd="sng" algn="ctr">
                      <a:solidFill>
                        <a:srgbClr val="DADDE2"/>
                      </a:solidFill>
                      <a:prstDash val="solid"/>
                      <a:round/>
                      <a:headEnd type="none" w="med" len="med"/>
                      <a:tailEnd type="none" w="med" len="med"/>
                    </a:lnB>
                  </a:tcPr>
                </a:tc>
              </a:tr>
              <a:tr h="438912">
                <a:tc>
                  <a:txBody>
                    <a:bodyPr/>
                    <a:lstStyle/>
                    <a:p>
                      <a:pPr indent="0" marL="0">
                        <a:buNone/>
                      </a:pPr>
                      <a:r>
                        <a:rPr lang="en-US" sz="1300" dirty="0">
                          <a:solidFill>
                            <a:srgbClr val="15181D"/>
                          </a:solidFill>
                          <a:latin typeface="Consolas" pitchFamily="34" charset="0"/>
                          <a:ea typeface="Consolas" pitchFamily="34" charset="-122"/>
                          <a:cs typeface="Consolas" pitchFamily="34" charset="-120"/>
                        </a:rPr>
                        <a:t>M5</a:t>
                      </a:r>
                      <a:endParaRPr lang="en-US" sz="1300" dirty="0">
                        <a:latin typeface="Consolas" charset="0"/>
                        <a:ea typeface="Consolas" charset="0"/>
                        <a:cs typeface="Consolas" charset="0"/>
                      </a:endParaRPr>
                    </a:p>
                  </a:txBody>
                  <a:tcPr marL="91440" marR="91440" marT="64008" marB="64008" anchor="ctr">
                    <a:lnL w="0" cap="flat" cmpd="sng" algn="ctr">
                      <a:noFill/>
                    </a:lnL>
                    <a:lnR w="0" cap="flat" cmpd="sng" algn="ctr">
                      <a:noFill/>
                    </a:lnR>
                    <a:lnT w="0" cap="flat" cmpd="sng" algn="ctr">
                      <a:noFill/>
                    </a:lnT>
                    <a:lnB w="9525" cap="flat" cmpd="sng" algn="ctr">
                      <a:solidFill>
                        <a:srgbClr val="DADDE2"/>
                      </a:solidFill>
                      <a:prstDash val="solid"/>
                      <a:round/>
                      <a:headEnd type="none" w="med" len="med"/>
                      <a:tailEnd type="none" w="med" len="med"/>
                    </a:lnB>
                  </a:tcPr>
                </a:tc>
                <a:tc>
                  <a:txBody>
                    <a:bodyPr/>
                    <a:lstStyle/>
                    <a:p>
                      <a:pPr indent="0" marL="0">
                        <a:buNone/>
                      </a:pPr>
                      <a:r>
                        <a:rPr lang="en-US" sz="1300" dirty="0">
                          <a:solidFill>
                            <a:srgbClr val="15181D"/>
                          </a:solidFill>
                        </a:rPr>
                        <a:t>Base64 VLQ encoder, mapping table</a:t>
                      </a:r>
                      <a:endParaRPr lang="en-US" sz="1300" dirty="0"/>
                    </a:p>
                  </a:txBody>
                  <a:tcPr marL="91440" marR="91440" marT="64008" marB="64008" anchor="ctr">
                    <a:lnL w="0" cap="flat" cmpd="sng" algn="ctr">
                      <a:noFill/>
                    </a:lnL>
                    <a:lnR w="0" cap="flat" cmpd="sng" algn="ctr">
                      <a:noFill/>
                    </a:lnR>
                    <a:lnT w="0" cap="flat" cmpd="sng" algn="ctr">
                      <a:noFill/>
                    </a:lnT>
                    <a:lnB w="9525" cap="flat" cmpd="sng" algn="ctr">
                      <a:solidFill>
                        <a:srgbClr val="DADDE2"/>
                      </a:solidFill>
                      <a:prstDash val="solid"/>
                      <a:round/>
                      <a:headEnd type="none" w="med" len="med"/>
                      <a:tailEnd type="none" w="med" len="med"/>
                    </a:lnB>
                  </a:tcPr>
                </a:tc>
                <a:tc>
                  <a:txBody>
                    <a:bodyPr/>
                    <a:lstStyle/>
                    <a:p>
                      <a:pPr indent="0" marL="0">
                        <a:buNone/>
                      </a:pPr>
                      <a:r>
                        <a:rPr lang="en-US" sz="1300" dirty="0">
                          <a:solidFill>
                            <a:srgbClr val="15181D"/>
                          </a:solidFill>
                        </a:rPr>
                        <a:t>Encoder passes published vectors</a:t>
                      </a:r>
                      <a:endParaRPr lang="en-US" sz="1300" dirty="0"/>
                    </a:p>
                  </a:txBody>
                  <a:tcPr marL="91440" marR="91440" marT="64008" marB="64008" anchor="ctr">
                    <a:lnL w="0" cap="flat" cmpd="sng" algn="ctr">
                      <a:noFill/>
                    </a:lnL>
                    <a:lnR w="0" cap="flat" cmpd="sng" algn="ctr">
                      <a:noFill/>
                    </a:lnR>
                    <a:lnT w="0" cap="flat" cmpd="sng" algn="ctr">
                      <a:noFill/>
                    </a:lnT>
                    <a:lnB w="9525" cap="flat" cmpd="sng" algn="ctr">
                      <a:solidFill>
                        <a:srgbClr val="DADDE2"/>
                      </a:solidFill>
                      <a:prstDash val="solid"/>
                      <a:round/>
                      <a:headEnd type="none" w="med" len="med"/>
                      <a:tailEnd type="none" w="med" len="med"/>
                    </a:lnB>
                  </a:tcPr>
                </a:tc>
              </a:tr>
              <a:tr h="438912">
                <a:tc>
                  <a:txBody>
                    <a:bodyPr/>
                    <a:lstStyle/>
                    <a:p>
                      <a:pPr indent="0" marL="0">
                        <a:buNone/>
                      </a:pPr>
                      <a:r>
                        <a:rPr lang="en-US" sz="1300" dirty="0">
                          <a:solidFill>
                            <a:srgbClr val="15181D"/>
                          </a:solidFill>
                          <a:latin typeface="Consolas" pitchFamily="34" charset="0"/>
                          <a:ea typeface="Consolas" pitchFamily="34" charset="-122"/>
                          <a:cs typeface="Consolas" pitchFamily="34" charset="-120"/>
                        </a:rPr>
                        <a:t>M6</a:t>
                      </a:r>
                      <a:endParaRPr lang="en-US" sz="1300" dirty="0">
                        <a:latin typeface="Consolas" charset="0"/>
                        <a:ea typeface="Consolas" charset="0"/>
                        <a:cs typeface="Consolas" charset="0"/>
                      </a:endParaRPr>
                    </a:p>
                  </a:txBody>
                  <a:tcPr marL="91440" marR="91440" marT="64008" marB="64008" anchor="ctr">
                    <a:lnL w="0" cap="flat" cmpd="sng" algn="ctr">
                      <a:noFill/>
                    </a:lnL>
                    <a:lnR w="0" cap="flat" cmpd="sng" algn="ctr">
                      <a:noFill/>
                    </a:lnR>
                    <a:lnT w="0" cap="flat" cmpd="sng" algn="ctr">
                      <a:noFill/>
                    </a:lnT>
                    <a:lnB w="9525" cap="flat" cmpd="sng" algn="ctr">
                      <a:solidFill>
                        <a:srgbClr val="DADDE2"/>
                      </a:solidFill>
                      <a:prstDash val="solid"/>
                      <a:round/>
                      <a:headEnd type="none" w="med" len="med"/>
                      <a:tailEnd type="none" w="med" len="med"/>
                    </a:lnB>
                  </a:tcPr>
                </a:tc>
                <a:tc>
                  <a:txBody>
                    <a:bodyPr/>
                    <a:lstStyle/>
                    <a:p>
                      <a:pPr indent="0" marL="0">
                        <a:buNone/>
                      </a:pPr>
                      <a:r>
                        <a:rPr lang="en-US" sz="1300" dirty="0">
                          <a:solidFill>
                            <a:srgbClr val="15181D"/>
                          </a:solidFill>
                        </a:rPr>
                        <a:t>.js.map writer, independent-decoder check</a:t>
                      </a:r>
                      <a:endParaRPr lang="en-US" sz="1300" dirty="0"/>
                    </a:p>
                  </a:txBody>
                  <a:tcPr marL="91440" marR="91440" marT="64008" marB="64008" anchor="ctr">
                    <a:lnL w="0" cap="flat" cmpd="sng" algn="ctr">
                      <a:noFill/>
                    </a:lnL>
                    <a:lnR w="0" cap="flat" cmpd="sng" algn="ctr">
                      <a:noFill/>
                    </a:lnR>
                    <a:lnT w="0" cap="flat" cmpd="sng" algn="ctr">
                      <a:noFill/>
                    </a:lnT>
                    <a:lnB w="9525" cap="flat" cmpd="sng" algn="ctr">
                      <a:solidFill>
                        <a:srgbClr val="DADDE2"/>
                      </a:solidFill>
                      <a:prstDash val="solid"/>
                      <a:round/>
                      <a:headEnd type="none" w="med" len="med"/>
                      <a:tailEnd type="none" w="med" len="med"/>
                    </a:lnB>
                  </a:tcPr>
                </a:tc>
                <a:tc>
                  <a:txBody>
                    <a:bodyPr/>
                    <a:lstStyle/>
                    <a:p>
                      <a:pPr indent="0" marL="0">
                        <a:buNone/>
                      </a:pPr>
                      <a:r>
                        <a:rPr lang="en-US" sz="1300" dirty="0">
                          <a:solidFill>
                            <a:srgbClr val="15181D"/>
                          </a:solidFill>
                        </a:rPr>
                        <a:t>AC-3: 100% round trip</a:t>
                      </a:r>
                      <a:endParaRPr lang="en-US" sz="1300" dirty="0"/>
                    </a:p>
                  </a:txBody>
                  <a:tcPr marL="91440" marR="91440" marT="64008" marB="64008" anchor="ctr">
                    <a:lnL w="0" cap="flat" cmpd="sng" algn="ctr">
                      <a:noFill/>
                    </a:lnL>
                    <a:lnR w="0" cap="flat" cmpd="sng" algn="ctr">
                      <a:noFill/>
                    </a:lnR>
                    <a:lnT w="0" cap="flat" cmpd="sng" algn="ctr">
                      <a:noFill/>
                    </a:lnT>
                    <a:lnB w="9525" cap="flat" cmpd="sng" algn="ctr">
                      <a:solidFill>
                        <a:srgbClr val="DADDE2"/>
                      </a:solidFill>
                      <a:prstDash val="solid"/>
                      <a:round/>
                      <a:headEnd type="none" w="med" len="med"/>
                      <a:tailEnd type="none" w="med" len="med"/>
                    </a:lnB>
                  </a:tcPr>
                </a:tc>
              </a:tr>
              <a:tr h="438912">
                <a:tc>
                  <a:txBody>
                    <a:bodyPr/>
                    <a:lstStyle/>
                    <a:p>
                      <a:pPr indent="0" marL="0">
                        <a:buNone/>
                      </a:pPr>
                      <a:r>
                        <a:rPr lang="en-US" sz="1300" dirty="0">
                          <a:solidFill>
                            <a:srgbClr val="15181D"/>
                          </a:solidFill>
                          <a:latin typeface="Consolas" pitchFamily="34" charset="0"/>
                          <a:ea typeface="Consolas" pitchFamily="34" charset="-122"/>
                          <a:cs typeface="Consolas" pitchFamily="34" charset="-120"/>
                        </a:rPr>
                        <a:t>M7</a:t>
                      </a:r>
                      <a:endParaRPr lang="en-US" sz="1300" dirty="0">
                        <a:latin typeface="Consolas" charset="0"/>
                        <a:ea typeface="Consolas" charset="0"/>
                        <a:cs typeface="Consolas" charset="0"/>
                      </a:endParaRPr>
                    </a:p>
                  </a:txBody>
                  <a:tcPr marL="91440" marR="91440" marT="64008" marB="64008" anchor="ctr">
                    <a:lnL w="0" cap="flat" cmpd="sng" algn="ctr">
                      <a:noFill/>
                    </a:lnL>
                    <a:lnR w="0" cap="flat" cmpd="sng" algn="ctr">
                      <a:noFill/>
                    </a:lnR>
                    <a:lnT w="0" cap="flat" cmpd="sng" algn="ctr">
                      <a:noFill/>
                    </a:lnT>
                    <a:lnB w="9525" cap="flat" cmpd="sng" algn="ctr">
                      <a:solidFill>
                        <a:srgbClr val="DADDE2"/>
                      </a:solidFill>
                      <a:prstDash val="solid"/>
                      <a:round/>
                      <a:headEnd type="none" w="med" len="med"/>
                      <a:tailEnd type="none" w="med" len="med"/>
                    </a:lnB>
                  </a:tcPr>
                </a:tc>
                <a:tc>
                  <a:txBody>
                    <a:bodyPr/>
                    <a:lstStyle/>
                    <a:p>
                      <a:pPr indent="0" marL="0">
                        <a:buNone/>
                      </a:pPr>
                      <a:r>
                        <a:rPr lang="en-US" sz="1300" dirty="0">
                          <a:solidFill>
                            <a:srgbClr val="15181D"/>
                          </a:solidFill>
                        </a:rPr>
                        <a:t>Breakpoints and stack traces in Chrome DevTools</a:t>
                      </a:r>
                      <a:endParaRPr lang="en-US" sz="1300" dirty="0"/>
                    </a:p>
                  </a:txBody>
                  <a:tcPr marL="91440" marR="91440" marT="64008" marB="64008" anchor="ctr">
                    <a:lnL w="0" cap="flat" cmpd="sng" algn="ctr">
                      <a:noFill/>
                    </a:lnL>
                    <a:lnR w="0" cap="flat" cmpd="sng" algn="ctr">
                      <a:noFill/>
                    </a:lnR>
                    <a:lnT w="0" cap="flat" cmpd="sng" algn="ctr">
                      <a:noFill/>
                    </a:lnT>
                    <a:lnB w="9525" cap="flat" cmpd="sng" algn="ctr">
                      <a:solidFill>
                        <a:srgbClr val="DADDE2"/>
                      </a:solidFill>
                      <a:prstDash val="solid"/>
                      <a:round/>
                      <a:headEnd type="none" w="med" len="med"/>
                      <a:tailEnd type="none" w="med" len="med"/>
                    </a:lnB>
                  </a:tcPr>
                </a:tc>
                <a:tc>
                  <a:txBody>
                    <a:bodyPr/>
                    <a:lstStyle/>
                    <a:p>
                      <a:pPr indent="0" marL="0">
                        <a:buNone/>
                      </a:pPr>
                      <a:r>
                        <a:rPr lang="en-US" sz="1300" dirty="0">
                          <a:solidFill>
                            <a:srgbClr val="15181D"/>
                          </a:solidFill>
                        </a:rPr>
                        <a:t>AC-2, AC-5: screenshots</a:t>
                      </a:r>
                      <a:endParaRPr lang="en-US" sz="1300" dirty="0"/>
                    </a:p>
                  </a:txBody>
                  <a:tcPr marL="91440" marR="91440" marT="64008" marB="64008" anchor="ctr">
                    <a:lnL w="0" cap="flat" cmpd="sng" algn="ctr">
                      <a:noFill/>
                    </a:lnL>
                    <a:lnR w="0" cap="flat" cmpd="sng" algn="ctr">
                      <a:noFill/>
                    </a:lnR>
                    <a:lnT w="0" cap="flat" cmpd="sng" algn="ctr">
                      <a:noFill/>
                    </a:lnT>
                    <a:lnB w="9525" cap="flat" cmpd="sng" algn="ctr">
                      <a:solidFill>
                        <a:srgbClr val="DADDE2"/>
                      </a:solidFill>
                      <a:prstDash val="solid"/>
                      <a:round/>
                      <a:headEnd type="none" w="med" len="med"/>
                      <a:tailEnd type="none" w="med" len="med"/>
                    </a:lnB>
                  </a:tcPr>
                </a:tc>
              </a:tr>
              <a:tr h="438912">
                <a:tc>
                  <a:txBody>
                    <a:bodyPr/>
                    <a:lstStyle/>
                    <a:p>
                      <a:pPr indent="0" marL="0">
                        <a:buNone/>
                      </a:pPr>
                      <a:r>
                        <a:rPr lang="en-US" sz="1300" dirty="0">
                          <a:solidFill>
                            <a:srgbClr val="15181D"/>
                          </a:solidFill>
                          <a:latin typeface="Consolas" pitchFamily="34" charset="0"/>
                          <a:ea typeface="Consolas" pitchFamily="34" charset="-122"/>
                          <a:cs typeface="Consolas" pitchFamily="34" charset="-120"/>
                        </a:rPr>
                        <a:t>M8</a:t>
                      </a:r>
                      <a:endParaRPr lang="en-US" sz="1300" dirty="0">
                        <a:latin typeface="Consolas" charset="0"/>
                        <a:ea typeface="Consolas" charset="0"/>
                        <a:cs typeface="Consolas" charset="0"/>
                      </a:endParaRPr>
                    </a:p>
                  </a:txBody>
                  <a:tcPr marL="91440" marR="91440" marT="64008" marB="64008" anchor="ctr">
                    <a:lnL w="0" cap="flat" cmpd="sng" algn="ctr">
                      <a:noFill/>
                    </a:lnL>
                    <a:lnR w="0" cap="flat" cmpd="sng" algn="ctr">
                      <a:noFill/>
                    </a:lnR>
                    <a:lnT w="0" cap="flat" cmpd="sng" algn="ctr">
                      <a:noFill/>
                    </a:lnT>
                    <a:lnB w="9525" cap="flat" cmpd="sng" algn="ctr">
                      <a:solidFill>
                        <a:srgbClr val="DADDE2"/>
                      </a:solidFill>
                      <a:prstDash val="solid"/>
                      <a:round/>
                      <a:headEnd type="none" w="med" len="med"/>
                      <a:tailEnd type="none" w="med" len="med"/>
                    </a:lnB>
                  </a:tcPr>
                </a:tc>
                <a:tc>
                  <a:txBody>
                    <a:bodyPr/>
                    <a:lstStyle/>
                    <a:p>
                      <a:pPr indent="0" marL="0">
                        <a:buNone/>
                      </a:pPr>
                      <a:r>
                        <a:rPr lang="en-US" sz="1300" dirty="0">
                          <a:solidFill>
                            <a:srgbClr val="15181D"/>
                          </a:solidFill>
                        </a:rPr>
                        <a:t>-O1 folding and dead-code removal, --map-report</a:t>
                      </a:r>
                      <a:endParaRPr lang="en-US" sz="1300" dirty="0"/>
                    </a:p>
                  </a:txBody>
                  <a:tcPr marL="91440" marR="91440" marT="64008" marB="64008" anchor="ctr">
                    <a:lnL w="0" cap="flat" cmpd="sng" algn="ctr">
                      <a:noFill/>
                    </a:lnL>
                    <a:lnR w="0" cap="flat" cmpd="sng" algn="ctr">
                      <a:noFill/>
                    </a:lnR>
                    <a:lnT w="0" cap="flat" cmpd="sng" algn="ctr">
                      <a:noFill/>
                    </a:lnT>
                    <a:lnB w="9525" cap="flat" cmpd="sng" algn="ctr">
                      <a:solidFill>
                        <a:srgbClr val="DADDE2"/>
                      </a:solidFill>
                      <a:prstDash val="solid"/>
                      <a:round/>
                      <a:headEnd type="none" w="med" len="med"/>
                      <a:tailEnd type="none" w="med" len="med"/>
                    </a:lnB>
                  </a:tcPr>
                </a:tc>
                <a:tc>
                  <a:txBody>
                    <a:bodyPr/>
                    <a:lstStyle/>
                    <a:p>
                      <a:pPr indent="0" marL="0">
                        <a:buNone/>
                      </a:pPr>
                      <a:r>
                        <a:rPr lang="en-US" sz="1300" dirty="0">
                          <a:solidFill>
                            <a:srgbClr val="15181D"/>
                          </a:solidFill>
                        </a:rPr>
                        <a:t>AC-6: fidelity figures recorded</a:t>
                      </a:r>
                      <a:endParaRPr lang="en-US" sz="1300" dirty="0"/>
                    </a:p>
                  </a:txBody>
                  <a:tcPr marL="91440" marR="91440" marT="64008" marB="64008" anchor="ctr">
                    <a:lnL w="0" cap="flat" cmpd="sng" algn="ctr">
                      <a:noFill/>
                    </a:lnL>
                    <a:lnR w="0" cap="flat" cmpd="sng" algn="ctr">
                      <a:noFill/>
                    </a:lnR>
                    <a:lnT w="0" cap="flat" cmpd="sng" algn="ctr">
                      <a:noFill/>
                    </a:lnT>
                    <a:lnB w="9525" cap="flat" cmpd="sng" algn="ctr">
                      <a:solidFill>
                        <a:srgbClr val="DADDE2"/>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138160" y="25603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9AA1AC"/>
                </a:solidFill>
                <a:latin typeface="Consolas"/>
                <a:ea typeface="Consolas"/>
                <a:cs typeface="Consolas"/>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5486400" cy="228600"/>
          </a:xfrm>
          <a:prstGeom prst="rect">
            <a:avLst/>
          </a:prstGeom>
          <a:noFill/>
          <a:ln/>
        </p:spPr>
        <p:txBody>
          <a:bodyPr wrap="square" lIns="0" tIns="0" rIns="0" bIns="0" rtlCol="0"/>
          <a:lstStyle/>
          <a:p>
            <a:pPr indent="0" marL="0">
              <a:buNone/>
            </a:pPr>
            <a:r>
              <a:rPr lang="en-US" sz="1000" dirty="0">
                <a:solidFill>
                  <a:schemeClr val="accent5"/>
                </a:solidFill>
                <a:latin typeface="Consolas" pitchFamily="34" charset="0"/>
                <a:ea typeface="Consolas" pitchFamily="34" charset="-122"/>
                <a:cs typeface="Consolas" pitchFamily="34" charset="-120"/>
              </a:rPr>
              <a:t>tether / 05-demo</a:t>
            </a:r>
            <a:endParaRPr lang="en-US" sz="1000" dirty="0"/>
          </a:p>
        </p:txBody>
      </p:sp>
      <p:sp>
        <p:nvSpPr>
          <p:cNvPr id="3" name="Text 0"/>
          <p:cNvSpPr/>
          <p:nvPr>
            <p:ph idx="101" type="title" hasCustomPrompt="1"/>
          </p:nvPr>
        </p:nvSpPr>
        <p:spPr>
          <a:xfrm>
            <a:off x="548640" y="502920"/>
            <a:ext cx="8046720" cy="640080"/>
          </a:xfrm>
          <a:prstGeom prst="rect">
            <a:avLst/>
          </a:prstGeom>
          <a:noFill/>
          <a:ln/>
        </p:spPr>
        <p:txBody>
          <a:bodyPr wrap="square" lIns="0" tIns="0" rIns="0" bIns="0" rtlCol="0" anchor="t"/>
          <a:lstStyle/>
          <a:p>
            <a:pPr algn="l" indent="0" marL="0">
              <a:buNone/>
            </a:pPr>
            <a:r>
              <a:rPr lang="en-US" sz="2800" b="1" dirty="0">
                <a:solidFill>
                  <a:schemeClr val="tx1"/>
                </a:solidFill>
              </a:rPr>
              <a:t>Live demo</a:t>
            </a:r>
            <a:endParaRPr lang="en-US" sz="2800" dirty="0"/>
          </a:p>
        </p:txBody>
      </p:sp>
      <p:sp>
        <p:nvSpPr>
          <p:cNvPr id="4" name="code"/>
          <p:cNvSpPr/>
          <p:nvPr/>
        </p:nvSpPr>
        <p:spPr>
          <a:xfrm>
            <a:off x="548640" y="1280160"/>
            <a:ext cx="8046720" cy="2788920"/>
          </a:xfrm>
          <a:prstGeom prst="rect">
            <a:avLst/>
          </a:prstGeom>
          <a:solidFill>
            <a:schemeClr val="tx1"/>
          </a:solidFill>
          <a:ln/>
        </p:spPr>
      </p:sp>
      <p:sp>
        <p:nvSpPr>
          <p:cNvPr id="5" name="Text 3"/>
          <p:cNvSpPr txBox="1"/>
          <p:nvPr/>
        </p:nvSpPr>
        <p:spPr>
          <a:xfrm>
            <a:off x="731520" y="1426464"/>
            <a:ext cx="7680960" cy="2496312"/>
          </a:xfrm>
          <a:prstGeom prst="rect">
            <a:avLst/>
          </a:prstGeom>
          <a:noFill/>
          <a:ln/>
        </p:spPr>
        <p:txBody>
          <a:bodyPr wrap="square" lIns="0" tIns="0" rIns="0" bIns="0" rtlCol="0" anchor="t"/>
          <a:lstStyle/>
          <a:p>
            <a:pPr indent="0" marL="0">
              <a:lnSpc>
                <a:spcPct val="105000"/>
              </a:lnSpc>
              <a:buNone/>
            </a:pPr>
            <a:r>
              <a:rPr lang="en-US" sz="1300" dirty="0">
                <a:solidFill>
                  <a:srgbClr val="8B93A1"/>
                </a:solidFill>
                <a:latin typeface="Consolas" pitchFamily="34" charset="0"/>
                <a:ea typeface="Consolas" pitchFamily="34" charset="-122"/>
                <a:cs typeface="Consolas" pitchFamily="34" charset="-120"/>
              </a:rPr>
              <a:t># 1  all tests pass</a:t>
            </a:r>
            <a:endParaRPr lang="en-US" sz="1300" dirty="0"/>
          </a:p>
          <a:p>
            <a:pPr indent="0" marL="0">
              <a:lnSpc>
                <a:spcPct val="105000"/>
              </a:lnSpc>
              <a:buNone/>
            </a:pPr>
            <a:r>
              <a:rPr lang="en-US" sz="1300" dirty="0">
                <a:solidFill>
                  <a:srgbClr val="E4E7EC"/>
                </a:solidFill>
                <a:latin typeface="Consolas" pitchFamily="34" charset="0"/>
                <a:ea typeface="Consolas" pitchFamily="34" charset="-122"/>
                <a:cs typeface="Consolas" pitchFamily="34" charset="-120"/>
              </a:rPr>
              <a:t>$ npm test</a:t>
            </a:r>
            <a:endParaRPr lang="en-US" sz="1300" dirty="0"/>
          </a:p>
          <a:p>
            <a:pPr indent="0" marL="0">
              <a:lnSpc>
                <a:spcPct val="105000"/>
              </a:lnSpc>
              <a:buNone/>
            </a:pPr>
            <a:endParaRPr lang="en-US" sz="1300" dirty="0"/>
          </a:p>
          <a:p>
            <a:pPr indent="0" marL="0">
              <a:lnSpc>
                <a:spcPct val="105000"/>
              </a:lnSpc>
              <a:buNone/>
            </a:pPr>
            <a:r>
              <a:rPr lang="en-US" sz="1300" dirty="0">
                <a:solidFill>
                  <a:srgbClr val="8B93A1"/>
                </a:solidFill>
                <a:latin typeface="Consolas" pitchFamily="34" charset="0"/>
                <a:ea typeface="Consolas" pitchFamily="34" charset="-122"/>
                <a:cs typeface="Consolas" pitchFamily="34" charset="-120"/>
              </a:rPr>
              <a:t># 2  tokens and syntax tree, with spans</a:t>
            </a:r>
            <a:endParaRPr lang="en-US" sz="1300" dirty="0"/>
          </a:p>
          <a:p>
            <a:pPr indent="0" marL="0">
              <a:lnSpc>
                <a:spcPct val="105000"/>
              </a:lnSpc>
              <a:buNone/>
            </a:pPr>
            <a:r>
              <a:rPr lang="en-US" sz="1300" dirty="0">
                <a:solidFill>
                  <a:srgbClr val="E4E7EC"/>
                </a:solidFill>
                <a:latin typeface="Consolas" pitchFamily="34" charset="0"/>
                <a:ea typeface="Consolas" pitchFamily="34" charset="-122"/>
                <a:cs typeface="Consolas" pitchFamily="34" charset="-120"/>
              </a:rPr>
              <a:t>$ node bin/tether.js build examples/fib.tth --dump-ast</a:t>
            </a:r>
            <a:endParaRPr lang="en-US" sz="1300" dirty="0"/>
          </a:p>
          <a:p>
            <a:pPr indent="0" marL="0">
              <a:lnSpc>
                <a:spcPct val="105000"/>
              </a:lnSpc>
              <a:buNone/>
            </a:pPr>
            <a:endParaRPr lang="en-US" sz="1300" dirty="0"/>
          </a:p>
          <a:p>
            <a:pPr indent="0" marL="0">
              <a:lnSpc>
                <a:spcPct val="105000"/>
              </a:lnSpc>
              <a:buNone/>
            </a:pPr>
            <a:r>
              <a:rPr lang="en-US" sz="1300" dirty="0">
                <a:solidFill>
                  <a:srgbClr val="8B93A1"/>
                </a:solidFill>
                <a:latin typeface="Consolas" pitchFamily="34" charset="0"/>
                <a:ea typeface="Consolas" pitchFamily="34" charset="-122"/>
                <a:cs typeface="Consolas" pitchFamily="34" charset="-120"/>
              </a:rPr>
              <a:t># 3  seven syntax errors in one run</a:t>
            </a:r>
            <a:endParaRPr lang="en-US" sz="1300" dirty="0"/>
          </a:p>
          <a:p>
            <a:pPr indent="0" marL="0">
              <a:lnSpc>
                <a:spcPct val="105000"/>
              </a:lnSpc>
              <a:buNone/>
            </a:pPr>
            <a:r>
              <a:rPr lang="en-US" sz="1300" dirty="0">
                <a:solidFill>
                  <a:srgbClr val="E4E7EC"/>
                </a:solidFill>
                <a:latin typeface="Consolas" pitchFamily="34" charset="0"/>
                <a:ea typeface="Consolas" pitchFamily="34" charset="-122"/>
                <a:cs typeface="Consolas" pitchFamily="34" charset="-120"/>
              </a:rPr>
              <a:t>$ node bin/tether.js build test/fixtures/syntax-errors.tth</a:t>
            </a:r>
            <a:endParaRPr lang="en-US" sz="1300" dirty="0"/>
          </a:p>
          <a:p>
            <a:pPr indent="0" marL="0">
              <a:lnSpc>
                <a:spcPct val="105000"/>
              </a:lnSpc>
              <a:buNone/>
            </a:pPr>
            <a:endParaRPr lang="en-US" sz="1300" dirty="0"/>
          </a:p>
          <a:p>
            <a:pPr indent="0" marL="0">
              <a:lnSpc>
                <a:spcPct val="105000"/>
              </a:lnSpc>
              <a:buNone/>
            </a:pPr>
            <a:r>
              <a:rPr lang="en-US" sz="1300" dirty="0">
                <a:solidFill>
                  <a:srgbClr val="8B93A1"/>
                </a:solidFill>
                <a:latin typeface="Consolas" pitchFamily="34" charset="0"/>
                <a:ea typeface="Consolas" pitchFamily="34" charset="-122"/>
                <a:cs typeface="Consolas" pitchFamily="34" charset="-120"/>
              </a:rPr>
              <a:t># 4  the playground: edit live, hover to see spans</a:t>
            </a:r>
            <a:endParaRPr lang="en-US" sz="1300" dirty="0"/>
          </a:p>
          <a:p>
            <a:pPr indent="0" marL="0">
              <a:lnSpc>
                <a:spcPct val="105000"/>
              </a:lnSpc>
              <a:buNone/>
            </a:pPr>
            <a:r>
              <a:rPr lang="en-US" sz="1300" dirty="0">
                <a:solidFill>
                  <a:srgbClr val="E4E7EC"/>
                </a:solidFill>
                <a:latin typeface="Consolas" pitchFamily="34" charset="0"/>
                <a:ea typeface="Consolas" pitchFamily="34" charset="-122"/>
                <a:cs typeface="Consolas" pitchFamily="34" charset="-120"/>
              </a:rPr>
              <a:t>$ npm run playground</a:t>
            </a:r>
            <a:pPr indent="0" marL="0">
              <a:lnSpc>
                <a:spcPct val="105000"/>
              </a:lnSpc>
              <a:buNone/>
            </a:pPr>
            <a:r>
              <a:rPr lang="en-US" sz="1300" dirty="0">
                <a:solidFill>
                  <a:srgbClr val="F5B82E"/>
                </a:solidFill>
                <a:latin typeface="Consolas" pitchFamily="34" charset="0"/>
                <a:ea typeface="Consolas" pitchFamily="34" charset="-122"/>
                <a:cs typeface="Consolas" pitchFamily="34" charset="-120"/>
              </a:rPr>
              <a:t>        → localhost:5173/playground/#fib</a:t>
            </a:r>
            <a:endParaRPr lang="en-US" sz="1300" dirty="0"/>
          </a:p>
        </p:txBody>
      </p:sp>
      <p:sp>
        <p:nvSpPr>
          <p:cNvPr id="25" name="Slide Number Placeholder 0"/>
          <p:cNvSpPr>
            <a:spLocks noGrp="1"/>
          </p:cNvSpPr>
          <p:nvPr>
            <p:ph type="sldNum" sz="quarter" idx="4294967295"/>
          </p:nvPr>
        </p:nvSpPr>
        <p:spPr>
          <a:xfrm>
            <a:off x="8138160" y="25603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9AA1AC"/>
                </a:solidFill>
                <a:latin typeface="Consolas"/>
                <a:ea typeface="Consolas"/>
                <a:cs typeface="Consolas"/>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5486400" cy="228600"/>
          </a:xfrm>
          <a:prstGeom prst="rect">
            <a:avLst/>
          </a:prstGeom>
          <a:noFill/>
          <a:ln/>
        </p:spPr>
        <p:txBody>
          <a:bodyPr wrap="square" lIns="0" tIns="0" rIns="0" bIns="0" rtlCol="0"/>
          <a:lstStyle/>
          <a:p>
            <a:pPr indent="0" marL="0">
              <a:buNone/>
            </a:pPr>
            <a:r>
              <a:rPr lang="en-US" sz="1000" dirty="0">
                <a:solidFill>
                  <a:schemeClr val="accent5"/>
                </a:solidFill>
                <a:latin typeface="Consolas" pitchFamily="34" charset="0"/>
                <a:ea typeface="Consolas" pitchFamily="34" charset="-122"/>
                <a:cs typeface="Consolas" pitchFamily="34" charset="-120"/>
              </a:rPr>
              <a:t>tether / references</a:t>
            </a:r>
            <a:endParaRPr lang="en-US" sz="1000" dirty="0"/>
          </a:p>
        </p:txBody>
      </p:sp>
      <p:sp>
        <p:nvSpPr>
          <p:cNvPr id="3" name="Text 0"/>
          <p:cNvSpPr/>
          <p:nvPr>
            <p:ph idx="101" type="title" hasCustomPrompt="1"/>
          </p:nvPr>
        </p:nvSpPr>
        <p:spPr>
          <a:xfrm>
            <a:off x="548640" y="502920"/>
            <a:ext cx="8046720" cy="640080"/>
          </a:xfrm>
          <a:prstGeom prst="rect">
            <a:avLst/>
          </a:prstGeom>
          <a:noFill/>
          <a:ln/>
        </p:spPr>
        <p:txBody>
          <a:bodyPr wrap="square" lIns="0" tIns="0" rIns="0" bIns="0" rtlCol="0" anchor="t"/>
          <a:lstStyle/>
          <a:p>
            <a:pPr algn="l" indent="0" marL="0">
              <a:buNone/>
            </a:pPr>
            <a:r>
              <a:rPr lang="en-US" sz="2800" b="1" dirty="0">
                <a:solidFill>
                  <a:schemeClr val="tx1"/>
                </a:solidFill>
              </a:rPr>
              <a:t>References</a:t>
            </a:r>
            <a:endParaRPr lang="en-US" sz="2800" dirty="0"/>
          </a:p>
        </p:txBody>
      </p:sp>
      <p:sp>
        <p:nvSpPr>
          <p:cNvPr id="4" name="Text 2"/>
          <p:cNvSpPr txBox="1"/>
          <p:nvPr/>
        </p:nvSpPr>
        <p:spPr>
          <a:xfrm>
            <a:off x="548640" y="1280160"/>
            <a:ext cx="8046720" cy="3291840"/>
          </a:xfrm>
          <a:prstGeom prst="rect">
            <a:avLst/>
          </a:prstGeom>
          <a:noFill/>
          <a:ln/>
        </p:spPr>
        <p:txBody>
          <a:bodyPr wrap="square" lIns="0" tIns="0" rIns="0" bIns="0" rtlCol="0" anchor="t"/>
          <a:lstStyle/>
          <a:p>
            <a:pPr indent="0" marL="0">
              <a:spcAft>
                <a:spcPts val="500"/>
              </a:spcAft>
              <a:buNone/>
            </a:pPr>
            <a:r>
              <a:rPr lang="en-US" sz="1150" dirty="0">
                <a:solidFill>
                  <a:srgbClr val="9AA1AC"/>
                </a:solidFill>
                <a:latin typeface="Consolas" pitchFamily="34" charset="0"/>
                <a:ea typeface="Consolas" pitchFamily="34" charset="-122"/>
                <a:cs typeface="Consolas" pitchFamily="34" charset="-120"/>
              </a:rPr>
              <a:t>[1]  </a:t>
            </a:r>
            <a:pPr indent="0" marL="0">
              <a:spcAft>
                <a:spcPts val="500"/>
              </a:spcAft>
              <a:buNone/>
            </a:pPr>
            <a:r>
              <a:rPr lang="en-US" sz="1150" dirty="0">
                <a:solidFill>
                  <a:schemeClr val="tx1"/>
                </a:solidFill>
              </a:rPr>
              <a:t>A. V. Aho, M. S. Lam, R. Sethi, J. D. Ullman. Compilers: Principles, Techniques, and Tools, 2nd ed. Addison-Wesley, 2006.</a:t>
            </a:r>
            <a:endParaRPr lang="en-US" sz="1150" dirty="0"/>
          </a:p>
          <a:p>
            <a:pPr indent="0" marL="0">
              <a:spcAft>
                <a:spcPts val="500"/>
              </a:spcAft>
              <a:buNone/>
            </a:pPr>
            <a:r>
              <a:rPr lang="en-US" sz="1150" dirty="0">
                <a:solidFill>
                  <a:srgbClr val="9AA1AC"/>
                </a:solidFill>
                <a:latin typeface="Consolas" pitchFamily="34" charset="0"/>
                <a:ea typeface="Consolas" pitchFamily="34" charset="-122"/>
                <a:cs typeface="Consolas" pitchFamily="34" charset="-120"/>
              </a:rPr>
              <a:t>[2]  </a:t>
            </a:r>
            <a:pPr indent="0" marL="0">
              <a:spcAft>
                <a:spcPts val="500"/>
              </a:spcAft>
              <a:buNone/>
            </a:pPr>
            <a:r>
              <a:rPr lang="en-US" sz="1150" dirty="0">
                <a:solidFill>
                  <a:schemeClr val="tx1"/>
                </a:solidFill>
              </a:rPr>
              <a:t>V. R. Pratt. “Top Down Operator Precedence.” Proc. 1st ACM Symposium on Principles of Programming Languages (POPL), 1973.</a:t>
            </a:r>
            <a:endParaRPr lang="en-US" sz="1150" dirty="0"/>
          </a:p>
          <a:p>
            <a:pPr indent="0" marL="0">
              <a:spcAft>
                <a:spcPts val="500"/>
              </a:spcAft>
              <a:buNone/>
            </a:pPr>
            <a:r>
              <a:rPr lang="en-US" sz="1150" dirty="0">
                <a:solidFill>
                  <a:srgbClr val="9AA1AC"/>
                </a:solidFill>
                <a:latin typeface="Consolas" pitchFamily="34" charset="0"/>
                <a:ea typeface="Consolas" pitchFamily="34" charset="-122"/>
                <a:cs typeface="Consolas" pitchFamily="34" charset="-120"/>
              </a:rPr>
              <a:t>[3]  </a:t>
            </a:r>
            <a:pPr indent="0" marL="0">
              <a:spcAft>
                <a:spcPts val="500"/>
              </a:spcAft>
              <a:buNone/>
            </a:pPr>
            <a:r>
              <a:rPr lang="en-US" sz="1150" dirty="0">
                <a:solidFill>
                  <a:schemeClr val="tx1"/>
                </a:solidFill>
              </a:rPr>
              <a:t>K. Clarke. “The Top-Down Parsing of Expressions.” Tech. report, Queen Mary College, University of London, 1986.</a:t>
            </a:r>
            <a:endParaRPr lang="en-US" sz="1150" dirty="0"/>
          </a:p>
          <a:p>
            <a:pPr indent="0" marL="0">
              <a:spcAft>
                <a:spcPts val="500"/>
              </a:spcAft>
              <a:buNone/>
            </a:pPr>
            <a:r>
              <a:rPr lang="en-US" sz="1150" dirty="0">
                <a:solidFill>
                  <a:srgbClr val="9AA1AC"/>
                </a:solidFill>
                <a:latin typeface="Consolas" pitchFamily="34" charset="0"/>
                <a:ea typeface="Consolas" pitchFamily="34" charset="-122"/>
                <a:cs typeface="Consolas" pitchFamily="34" charset="-120"/>
              </a:rPr>
              <a:t>[4]  </a:t>
            </a:r>
            <a:pPr indent="0" marL="0">
              <a:spcAft>
                <a:spcPts val="500"/>
              </a:spcAft>
              <a:buNone/>
            </a:pPr>
            <a:r>
              <a:rPr lang="en-US" sz="1150" dirty="0">
                <a:solidFill>
                  <a:schemeClr val="tx1"/>
                </a:solidFill>
              </a:rPr>
              <a:t>T. S. Norvell. “Parsing Expressions by Recursive Descent.” Memorial University of Newfoundland, 1999.</a:t>
            </a:r>
            <a:endParaRPr lang="en-US" sz="1150" dirty="0"/>
          </a:p>
          <a:p>
            <a:pPr indent="0" marL="0">
              <a:spcAft>
                <a:spcPts val="500"/>
              </a:spcAft>
              <a:buNone/>
            </a:pPr>
            <a:r>
              <a:rPr lang="en-US" sz="1150" dirty="0">
                <a:solidFill>
                  <a:srgbClr val="9AA1AC"/>
                </a:solidFill>
                <a:latin typeface="Consolas" pitchFamily="34" charset="0"/>
                <a:ea typeface="Consolas" pitchFamily="34" charset="-122"/>
                <a:cs typeface="Consolas" pitchFamily="34" charset="-120"/>
              </a:rPr>
              <a:t>[5]  </a:t>
            </a:r>
            <a:pPr indent="0" marL="0">
              <a:spcAft>
                <a:spcPts val="500"/>
              </a:spcAft>
              <a:buNone/>
            </a:pPr>
            <a:r>
              <a:rPr lang="en-US" sz="1150" dirty="0">
                <a:solidFill>
                  <a:schemeClr val="tx1"/>
                </a:solidFill>
              </a:rPr>
              <a:t>R. Nystrom. Crafting Interpreters. Genever Benning, 2021.</a:t>
            </a:r>
            <a:endParaRPr lang="en-US" sz="1150" dirty="0"/>
          </a:p>
          <a:p>
            <a:pPr indent="0" marL="0">
              <a:spcAft>
                <a:spcPts val="500"/>
              </a:spcAft>
              <a:buNone/>
            </a:pPr>
            <a:r>
              <a:rPr lang="en-US" sz="1150" dirty="0">
                <a:solidFill>
                  <a:srgbClr val="9AA1AC"/>
                </a:solidFill>
                <a:latin typeface="Consolas" pitchFamily="34" charset="0"/>
                <a:ea typeface="Consolas" pitchFamily="34" charset="-122"/>
                <a:cs typeface="Consolas" pitchFamily="34" charset="-120"/>
              </a:rPr>
              <a:t>[6]  </a:t>
            </a:r>
            <a:pPr indent="0" marL="0">
              <a:spcAft>
                <a:spcPts val="500"/>
              </a:spcAft>
              <a:buNone/>
            </a:pPr>
            <a:r>
              <a:rPr lang="en-US" sz="1150" dirty="0">
                <a:solidFill>
                  <a:schemeClr val="tx1"/>
                </a:solidFill>
              </a:rPr>
              <a:t>Ecma International. ECMA-426: Source Map Format Specification, 1st ed., December 2024.</a:t>
            </a:r>
            <a:endParaRPr lang="en-US" sz="1150" dirty="0"/>
          </a:p>
          <a:p>
            <a:pPr indent="0" marL="0">
              <a:spcAft>
                <a:spcPts val="500"/>
              </a:spcAft>
              <a:buNone/>
            </a:pPr>
            <a:r>
              <a:rPr lang="en-US" sz="1150" dirty="0">
                <a:solidFill>
                  <a:srgbClr val="9AA1AC"/>
                </a:solidFill>
                <a:latin typeface="Consolas" pitchFamily="34" charset="0"/>
                <a:ea typeface="Consolas" pitchFamily="34" charset="-122"/>
                <a:cs typeface="Consolas" pitchFamily="34" charset="-120"/>
              </a:rPr>
              <a:t>[7]  </a:t>
            </a:r>
            <a:pPr indent="0" marL="0">
              <a:spcAft>
                <a:spcPts val="500"/>
              </a:spcAft>
              <a:buNone/>
            </a:pPr>
            <a:r>
              <a:rPr lang="en-US" sz="1150" dirty="0">
                <a:solidFill>
                  <a:schemeClr val="tx1"/>
                </a:solidFill>
              </a:rPr>
              <a:t>J. Hennessy. “Symbolic Debugging of Optimized Code.” ACM TOPLAS 4(3):323–344, 1982.</a:t>
            </a:r>
            <a:endParaRPr lang="en-US" sz="1150" dirty="0"/>
          </a:p>
          <a:p>
            <a:pPr indent="0" marL="0">
              <a:spcAft>
                <a:spcPts val="500"/>
              </a:spcAft>
              <a:buNone/>
            </a:pPr>
            <a:r>
              <a:rPr lang="en-US" sz="1150" dirty="0">
                <a:solidFill>
                  <a:srgbClr val="9AA1AC"/>
                </a:solidFill>
                <a:latin typeface="Consolas" pitchFamily="34" charset="0"/>
                <a:ea typeface="Consolas" pitchFamily="34" charset="-122"/>
                <a:cs typeface="Consolas" pitchFamily="34" charset="-120"/>
              </a:rPr>
              <a:t>[8]  </a:t>
            </a:r>
            <a:pPr indent="0" marL="0">
              <a:spcAft>
                <a:spcPts val="500"/>
              </a:spcAft>
              <a:buNone/>
            </a:pPr>
            <a:r>
              <a:rPr lang="en-US" sz="1150" dirty="0">
                <a:solidFill>
                  <a:schemeClr val="tx1"/>
                </a:solidFill>
              </a:rPr>
              <a:t>Y. Li, S. Ding, Q. Zhang, D. Italiano. “Debug Information Validation for Optimized Code.” PLDI 2020.</a:t>
            </a:r>
            <a:endParaRPr lang="en-US" sz="1150" dirty="0"/>
          </a:p>
          <a:p>
            <a:pPr indent="0" marL="0">
              <a:spcAft>
                <a:spcPts val="500"/>
              </a:spcAft>
              <a:buNone/>
            </a:pPr>
            <a:r>
              <a:rPr lang="en-US" sz="1150" dirty="0">
                <a:solidFill>
                  <a:srgbClr val="9AA1AC"/>
                </a:solidFill>
                <a:latin typeface="Consolas" pitchFamily="34" charset="0"/>
                <a:ea typeface="Consolas" pitchFamily="34" charset="-122"/>
                <a:cs typeface="Consolas" pitchFamily="34" charset="-120"/>
              </a:rPr>
              <a:t>[9]  </a:t>
            </a:r>
            <a:pPr indent="0" marL="0">
              <a:spcAft>
                <a:spcPts val="500"/>
              </a:spcAft>
              <a:buNone/>
            </a:pPr>
            <a:r>
              <a:rPr lang="en-US" sz="1150" dirty="0">
                <a:solidFill>
                  <a:schemeClr val="tx1"/>
                </a:solidFill>
              </a:rPr>
              <a:t>C. Assaiante, D. C. D’Elia, G. A. Di Luna, L. Querzoni. “Where Did My Variable Go? Poking Holes in Incomplete Debug Information.” ASPLOS 2023.</a:t>
            </a:r>
            <a:endParaRPr lang="en-US" sz="1150" dirty="0"/>
          </a:p>
        </p:txBody>
      </p:sp>
      <p:sp>
        <p:nvSpPr>
          <p:cNvPr id="25" name="Slide Number Placeholder 0"/>
          <p:cNvSpPr>
            <a:spLocks noGrp="1"/>
          </p:cNvSpPr>
          <p:nvPr>
            <p:ph type="sldNum" sz="quarter" idx="4294967295"/>
          </p:nvPr>
        </p:nvSpPr>
        <p:spPr>
          <a:xfrm>
            <a:off x="8138160" y="256032"/>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9AA1AC"/>
                </a:solidFill>
                <a:latin typeface="Consolas"/>
                <a:ea typeface="Consolas"/>
                <a:cs typeface="Consolas"/>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5486400" cy="228600"/>
          </a:xfrm>
          <a:prstGeom prst="rect">
            <a:avLst/>
          </a:prstGeom>
          <a:noFill/>
          <a:ln/>
        </p:spPr>
        <p:txBody>
          <a:bodyPr wrap="square" lIns="0" tIns="0" rIns="0" bIns="0" rtlCol="0"/>
          <a:lstStyle/>
          <a:p>
            <a:pPr indent="0" marL="0">
              <a:buNone/>
            </a:pPr>
            <a:r>
              <a:rPr lang="en-US" sz="1000" dirty="0">
                <a:solidFill>
                  <a:schemeClr val="accent5"/>
                </a:solidFill>
                <a:latin typeface="Consolas" pitchFamily="34" charset="0"/>
                <a:ea typeface="Consolas" pitchFamily="34" charset="-122"/>
                <a:cs typeface="Consolas" pitchFamily="34" charset="-120"/>
              </a:rPr>
              <a:t>tether / questions</a:t>
            </a:r>
            <a:endParaRPr lang="en-US" sz="1000" dirty="0"/>
          </a:p>
        </p:txBody>
      </p:sp>
      <p:sp>
        <p:nvSpPr>
          <p:cNvPr id="3" name="Text 0"/>
          <p:cNvSpPr/>
          <p:nvPr>
            <p:ph idx="101" type="title" hasCustomPrompt="1"/>
          </p:nvPr>
        </p:nvSpPr>
        <p:spPr>
          <a:xfrm>
            <a:off x="548640" y="960120"/>
            <a:ext cx="8046720" cy="914400"/>
          </a:xfrm>
          <a:prstGeom prst="rect">
            <a:avLst/>
          </a:prstGeom>
          <a:noFill/>
          <a:ln/>
        </p:spPr>
        <p:txBody>
          <a:bodyPr wrap="square" lIns="0" tIns="0" rIns="0" bIns="0" rtlCol="0" anchor="t"/>
          <a:lstStyle/>
          <a:p>
            <a:pPr algn="l" indent="0" marL="0">
              <a:buNone/>
            </a:pPr>
            <a:r>
              <a:rPr lang="en-US" sz="6000" b="1" dirty="0">
                <a:solidFill>
                  <a:schemeClr val="bg1"/>
                </a:solidFill>
              </a:rPr>
              <a:t>Questions?</a:t>
            </a:r>
            <a:endParaRPr lang="en-US" sz="6000" dirty="0"/>
          </a:p>
        </p:txBody>
      </p:sp>
      <p:sp>
        <p:nvSpPr>
          <p:cNvPr id="4" name="Text 0"/>
          <p:cNvSpPr/>
          <p:nvPr>
            <p:ph idx="102" type="body" hasCustomPrompt="1"/>
          </p:nvPr>
        </p:nvSpPr>
        <p:spPr>
          <a:xfrm>
            <a:off x="548640" y="1920240"/>
            <a:ext cx="8046720" cy="457200"/>
          </a:xfrm>
          <a:prstGeom prst="rect">
            <a:avLst/>
          </a:prstGeom>
          <a:noFill/>
          <a:ln/>
        </p:spPr>
        <p:txBody>
          <a:bodyPr wrap="square" lIns="0" tIns="0" rIns="0" bIns="0" rtlCol="0" anchor="t"/>
          <a:lstStyle/>
          <a:p>
            <a:pPr algn="l" indent="0" marL="0">
              <a:buNone/>
            </a:pPr>
            <a:r>
              <a:rPr lang="en-US" sz="2000" dirty="0">
                <a:solidFill>
                  <a:srgbClr val="C9CED6"/>
                </a:solidFill>
              </a:rPr>
              <a:t>Antra  ·  24BDS0066</a:t>
            </a:r>
            <a:endParaRPr lang="en-US" sz="2000" dirty="0"/>
          </a:p>
        </p:txBody>
      </p:sp>
      <p:sp>
        <p:nvSpPr>
          <p:cNvPr id="5" name="span"/>
          <p:cNvSpPr/>
          <p:nvPr/>
        </p:nvSpPr>
        <p:spPr>
          <a:xfrm>
            <a:off x="1289304" y="3008376"/>
            <a:ext cx="1410462" cy="310896"/>
          </a:xfrm>
          <a:prstGeom prst="rect">
            <a:avLst/>
          </a:prstGeom>
          <a:solidFill>
            <a:schemeClr val="accent1"/>
          </a:solidFill>
          <a:ln/>
        </p:spPr>
      </p:sp>
      <p:sp>
        <p:nvSpPr>
          <p:cNvPr id="6" name="Text 4"/>
          <p:cNvSpPr txBox="1"/>
          <p:nvPr/>
        </p:nvSpPr>
        <p:spPr>
          <a:xfrm>
            <a:off x="548640" y="3017520"/>
            <a:ext cx="5486400" cy="310896"/>
          </a:xfrm>
          <a:prstGeom prst="rect">
            <a:avLst/>
          </a:prstGeom>
          <a:noFill/>
          <a:ln/>
        </p:spPr>
        <p:txBody>
          <a:bodyPr wrap="square" lIns="0" tIns="0" rIns="0" bIns="0" rtlCol="0" anchor="t"/>
          <a:lstStyle/>
          <a:p>
            <a:pPr indent="0" marL="0">
              <a:buNone/>
            </a:pPr>
            <a:r>
              <a:rPr lang="en-US" sz="1800" dirty="0">
                <a:solidFill>
                  <a:srgbClr val="FFFFFF"/>
                </a:solidFill>
                <a:latin typeface="Consolas" pitchFamily="34" charset="0"/>
                <a:ea typeface="Consolas" pitchFamily="34" charset="-122"/>
                <a:cs typeface="Consolas" pitchFamily="34" charset="-120"/>
              </a:rPr>
              <a:t>print(</a:t>
            </a:r>
            <a:pPr indent="0" marL="0">
              <a:buNone/>
            </a:pPr>
            <a:r>
              <a:rPr lang="en-US" sz="1800" dirty="0">
                <a:solidFill>
                  <a:srgbClr val="15181D"/>
                </a:solidFill>
                <a:latin typeface="Consolas" pitchFamily="34" charset="0"/>
                <a:ea typeface="Consolas" pitchFamily="34" charset="-122"/>
                <a:cs typeface="Consolas" pitchFamily="34" charset="-120"/>
              </a:rPr>
              <a:t>"thank you"</a:t>
            </a:r>
            <a:pPr indent="0" marL="0">
              <a:buNone/>
            </a:pPr>
            <a:r>
              <a:rPr lang="en-US" sz="1800" dirty="0">
                <a:solidFill>
                  <a:srgbClr val="FFFFFF"/>
                </a:solidFill>
                <a:latin typeface="Consolas" pitchFamily="34" charset="0"/>
                <a:ea typeface="Consolas" pitchFamily="34" charset="-122"/>
                <a:cs typeface="Consolas" pitchFamily="34" charset="-120"/>
              </a:rPr>
              <a:t>);</a:t>
            </a:r>
            <a:endParaRPr lang="en-US" sz="1800" dirty="0"/>
          </a:p>
        </p:txBody>
      </p:sp>
      <p:sp>
        <p:nvSpPr>
          <p:cNvPr id="7" name="Text 5"/>
          <p:cNvSpPr txBox="1"/>
          <p:nvPr/>
        </p:nvSpPr>
        <p:spPr>
          <a:xfrm>
            <a:off x="1303020" y="2724912"/>
            <a:ext cx="914400" cy="201168"/>
          </a:xfrm>
          <a:prstGeom prst="rect">
            <a:avLst/>
          </a:prstGeom>
          <a:noFill/>
          <a:ln/>
        </p:spPr>
        <p:txBody>
          <a:bodyPr wrap="square" lIns="0" tIns="0" rIns="0" bIns="0" rtlCol="0" anchor="t"/>
          <a:lstStyle/>
          <a:p>
            <a:pPr indent="0" marL="0">
              <a:buNone/>
            </a:pPr>
            <a:r>
              <a:rPr lang="en-US" sz="1100" dirty="0">
                <a:solidFill>
                  <a:schemeClr val="accent1"/>
                </a:solidFill>
                <a:latin typeface="Consolas" pitchFamily="34" charset="0"/>
                <a:ea typeface="Consolas" pitchFamily="34" charset="-122"/>
                <a:cs typeface="Consolas" pitchFamily="34" charset="-120"/>
              </a:rPr>
              <a:t>1:7+11</a:t>
            </a:r>
            <a:endParaRPr lang="en-US" sz="1100" dirty="0"/>
          </a:p>
        </p:txBody>
      </p:sp>
      <p:sp>
        <p:nvSpPr>
          <p:cNvPr id="8" name="Text 6"/>
          <p:cNvSpPr txBox="1"/>
          <p:nvPr/>
        </p:nvSpPr>
        <p:spPr>
          <a:xfrm>
            <a:off x="548640" y="4069080"/>
            <a:ext cx="6400800" cy="548640"/>
          </a:xfrm>
          <a:prstGeom prst="rect">
            <a:avLst/>
          </a:prstGeom>
          <a:noFill/>
          <a:ln/>
        </p:spPr>
        <p:txBody>
          <a:bodyPr wrap="square" lIns="0" tIns="0" rIns="0" bIns="0" rtlCol="0" anchor="t"/>
          <a:lstStyle/>
          <a:p>
            <a:pPr indent="0" marL="0">
              <a:buNone/>
            </a:pPr>
            <a:r>
              <a:rPr lang="en-US" sz="1200" dirty="0">
                <a:solidFill>
                  <a:srgbClr val="8B93A1"/>
                </a:solidFill>
              </a:rPr>
              <a:t>Report  </a:t>
            </a:r>
            <a:pPr indent="0" marL="0">
              <a:buNone/>
            </a:pPr>
            <a:r>
              <a:rPr lang="en-US" sz="1200" dirty="0">
                <a:solidFill>
                  <a:srgbClr val="D5D9DF"/>
                </a:solidFill>
                <a:latin typeface="Consolas" pitchFamily="34" charset="0"/>
                <a:ea typeface="Consolas" pitchFamily="34" charset="-122"/>
                <a:cs typeface="Consolas" pitchFamily="34" charset="-120"/>
              </a:rPr>
              <a:t>docs/Tether-Review1.pdf</a:t>
            </a:r>
            <a:endParaRPr lang="en-US" sz="1200" dirty="0"/>
          </a:p>
          <a:p>
            <a:pPr indent="0" marL="0">
              <a:buNone/>
            </a:pPr>
            <a:r>
              <a:rPr lang="en-US" sz="1200" dirty="0">
                <a:solidFill>
                  <a:srgbClr val="8B93A1"/>
                </a:solidFill>
              </a:rPr>
              <a:t>Demo    </a:t>
            </a:r>
            <a:pPr indent="0" marL="0">
              <a:buNone/>
            </a:pPr>
            <a:r>
              <a:rPr lang="en-US" sz="1200" dirty="0">
                <a:solidFill>
                  <a:srgbClr val="D5D9DF"/>
                </a:solidFill>
                <a:latin typeface="Consolas" pitchFamily="34" charset="0"/>
                <a:ea typeface="Consolas" pitchFamily="34" charset="-122"/>
                <a:cs typeface="Consolas" pitchFamily="34" charset="-120"/>
              </a:rPr>
              <a:t>REVIEW-DEMO.md</a:t>
            </a:r>
            <a:endParaRPr lang="en-US" sz="1200" dirty="0"/>
          </a:p>
        </p:txBody>
      </p:sp>
    </p:spTree>
  </p:cSld>
  <p:clrMapOvr>
    <a:masterClrMapping/>
  </p:clrMapOvr>
</p:sld>
</file>

<file path=ppt/theme/theme1.xml><?xml version="1.0" encoding="utf-8"?>
<a:theme xmlns:a="http://schemas.openxmlformats.org/drawingml/2006/main" name="Tether Spans">
  <a:themeElements>
    <a:clrScheme name="Tether Spans">
      <a:dk1>
        <a:srgbClr val="15181D"/>
      </a:dk1>
      <a:lt1>
        <a:srgbClr val="FFFFFF"/>
      </a:lt1>
      <a:dk2>
        <a:srgbClr val="4A5260"/>
      </a:dk2>
      <a:lt2>
        <a:srgbClr val="F3F4F6"/>
      </a:lt2>
      <a:accent1>
        <a:srgbClr val="F5B82E"/>
      </a:accent1>
      <a:accent2>
        <a:srgbClr val="1F4E79"/>
      </a:accent2>
      <a:accent3>
        <a:srgbClr val="1F7A4D"/>
      </a:accent3>
      <a:accent4>
        <a:srgbClr val="B83227"/>
      </a:accent4>
      <a:accent5>
        <a:srgbClr val="9AA1AC"/>
      </a:accent5>
      <a:accent6>
        <a:srgbClr val="5B4B8A"/>
      </a:accent6>
      <a:hlink>
        <a:srgbClr val="1F4E79"/>
      </a:hlink>
      <a:folHlink>
        <a:srgbClr val="5B4B8A"/>
      </a:folHlink>
    </a:clrScheme>
    <a:fontScheme name="Tether Span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Tether — Review 1</dc:title>
  <dc:subject>Compiler Design project review</dc:subject>
  <dc:creator>Antra (24BDS0066)</dc:creator>
  <cp:lastModifiedBy>Antra (24BDS0066)</cp:lastModifiedBy>
  <cp:revision>1</cp:revision>
  <dcterms:created xsi:type="dcterms:W3CDTF">2026-10-09T07:42:54Z</dcterms:created>
  <dcterms:modified xsi:type="dcterms:W3CDTF">2026-10-09T07:42:54Z</dcterms:modified>
</cp:coreProperties>
</file>